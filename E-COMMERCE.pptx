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7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D80D-8C7A-CF89-295F-0511951C9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419725"/>
            <a:ext cx="8144134" cy="3687054"/>
          </a:xfrm>
        </p:spPr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intelligence(AI)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Uncovering Customer Behavior &amp; Business Drivers</a:t>
            </a:r>
            <a:br>
              <a:rPr lang="en-US" dirty="0"/>
            </a:br>
            <a:r>
              <a:rPr lang="en-US" sz="3200" i="1" dirty="0"/>
              <a:t>E-commerce Data.csv</a:t>
            </a:r>
            <a:br>
              <a:rPr lang="en-US" dirty="0"/>
            </a:br>
            <a:r>
              <a:rPr lang="en-US" sz="2000" i="1" dirty="0"/>
              <a:t>R Coding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998DD-9B94-E226-0A30-573E6C112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2044236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00/05/2026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And Modeling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Prof Dr. Muriithi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90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E7D7-BA34-A767-480B-E7C92BD4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64E83-084A-5F99-530B-9621F03A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3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1CAD-6F69-FBAC-2296-FE8A519F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Project Objectives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33D5-8288-B3AB-1236-F75D6C34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93692"/>
            <a:ext cx="11062500" cy="46169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600" dirty="0"/>
              <a:t>To Clean and preprocess e-commerce data for analysis. </a:t>
            </a:r>
          </a:p>
          <a:p>
            <a:r>
              <a:rPr lang="en-US" sz="3600" dirty="0"/>
              <a:t>To Explore sales trends and customer purchasing patterns. </a:t>
            </a:r>
          </a:p>
          <a:p>
            <a:r>
              <a:rPr lang="en-US" sz="3600" dirty="0"/>
              <a:t>To Investigate how customer demographics influence purchasing behavior. </a:t>
            </a:r>
          </a:p>
          <a:p>
            <a:r>
              <a:rPr lang="en-US" sz="3600" dirty="0"/>
              <a:t>To Examine the impact of product categories, discounts, and promotions on sales </a:t>
            </a:r>
          </a:p>
          <a:p>
            <a:r>
              <a:rPr lang="en-US" sz="3600" dirty="0"/>
              <a:t>performance. </a:t>
            </a:r>
          </a:p>
          <a:p>
            <a:r>
              <a:rPr lang="en-US" sz="3600" dirty="0"/>
              <a:t>To Analyze customer spending patterns and purchase frequency. </a:t>
            </a:r>
          </a:p>
          <a:p>
            <a:r>
              <a:rPr lang="en-US" sz="3600" dirty="0"/>
              <a:t>To Compare sales performance across regions, cities, or online platforms. </a:t>
            </a:r>
          </a:p>
          <a:p>
            <a:r>
              <a:rPr lang="en-US" sz="3600" dirty="0"/>
              <a:t>To   Build predictive machine learning models for sales forecasting or customer purchase </a:t>
            </a:r>
          </a:p>
          <a:p>
            <a:r>
              <a:rPr lang="en-US" sz="3600" dirty="0"/>
              <a:t>prediction. </a:t>
            </a:r>
          </a:p>
          <a:p>
            <a:r>
              <a:rPr lang="en-US" sz="3600" dirty="0"/>
              <a:t>To  Evaluate model performance and identify the most important factors influencing sales </a:t>
            </a:r>
          </a:p>
          <a:p>
            <a:r>
              <a:rPr lang="en-US" sz="3600" dirty="0"/>
              <a:t>and customer behavior.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40811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1FDA-5849-EE2C-80F3-CAF825B1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Overview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75C60-4DF7-8008-AB9D-4828B7585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3222" y="2123892"/>
            <a:ext cx="6259078" cy="4391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41C20-33A2-62CD-3514-F9DE2DF36C27}"/>
              </a:ext>
            </a:extLst>
          </p:cNvPr>
          <p:cNvSpPr txBox="1"/>
          <p:nvPr/>
        </p:nvSpPr>
        <p:spPr>
          <a:xfrm>
            <a:off x="240693" y="2545049"/>
            <a:ext cx="52465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Dataset:</a:t>
            </a:r>
            <a:r>
              <a:rPr lang="en-US" dirty="0"/>
              <a:t> ecommerce_data.csv</a:t>
            </a:r>
          </a:p>
          <a:p>
            <a:endParaRPr lang="en-US" dirty="0"/>
          </a:p>
          <a:p>
            <a:r>
              <a:rPr lang="en-US" b="1" dirty="0"/>
              <a:t>Size:</a:t>
            </a:r>
            <a:r>
              <a:rPr lang="en-US" dirty="0"/>
              <a:t> 1000 orders, 14 original variables.</a:t>
            </a:r>
          </a:p>
          <a:p>
            <a:endParaRPr lang="en-US" dirty="0"/>
          </a:p>
          <a:p>
            <a:r>
              <a:rPr lang="en-US" b="1" dirty="0"/>
              <a:t>Data Types:</a:t>
            </a:r>
            <a:r>
              <a:rPr lang="en-US" dirty="0"/>
              <a:t> Mixed (numeric &amp; categorical).</a:t>
            </a:r>
          </a:p>
          <a:p>
            <a:endParaRPr lang="en-US" dirty="0"/>
          </a:p>
          <a:p>
            <a:r>
              <a:rPr lang="en-US" b="1" dirty="0"/>
              <a:t>Key Variables: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Customer Demographics (Age, Gender, Location)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Product (Category, Price, Quantity)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Transaction (Discount, Shipping Cost, Payment Method)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Outcome (Rating, Order Status).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30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F82D-1D31-A3D4-2AD1-9D46DA50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61" cy="1298759"/>
          </a:xfrm>
        </p:spPr>
        <p:txBody>
          <a:bodyPr>
            <a:noAutofit/>
          </a:bodyPr>
          <a:lstStyle/>
          <a:p>
            <a:pPr algn="ctr"/>
            <a:br>
              <a:rPr lang="en-US" sz="4000" b="1" dirty="0"/>
            </a:br>
            <a:r>
              <a:rPr lang="en-US" sz="4000" b="1" dirty="0"/>
              <a:t>Data Cleaning &amp; Feature Engineering</a:t>
            </a:r>
            <a:br>
              <a:rPr lang="en-US" sz="4000" b="1" dirty="0"/>
            </a:br>
            <a:br>
              <a:rPr lang="en-US" sz="4000" dirty="0"/>
            </a:br>
            <a:endParaRPr lang="en-US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43BE34-C597-B8E4-7CD4-F5D4947C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0590" y="2051986"/>
            <a:ext cx="5631724" cy="4588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18A569-C056-4A38-3F78-A42399B614E1}"/>
              </a:ext>
            </a:extLst>
          </p:cNvPr>
          <p:cNvSpPr txBox="1"/>
          <p:nvPr/>
        </p:nvSpPr>
        <p:spPr>
          <a:xfrm>
            <a:off x="0" y="2161100"/>
            <a:ext cx="652374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/>
              <a:t>Actions Taken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Standardized column names (janitor::</a:t>
            </a:r>
            <a:r>
              <a:rPr lang="en-US" sz="2000" dirty="0" err="1"/>
              <a:t>clean_names</a:t>
            </a:r>
            <a:r>
              <a:rPr lang="en-US" sz="2000" dirty="0"/>
              <a:t>()).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Removed duplicate records.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Imputed missing numeric values with the median.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Imputed missing categorical values with the mode.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New Features Created:9 added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/>
              <a:t>customer_segment</a:t>
            </a:r>
            <a:r>
              <a:rPr lang="en-US" sz="2000" dirty="0"/>
              <a:t> (Young, Adult, Senior)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/>
              <a:t>high_value_order</a:t>
            </a:r>
            <a:r>
              <a:rPr lang="en-US" sz="2000" dirty="0"/>
              <a:t> (Yes/No)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/>
              <a:t>discount_rate</a:t>
            </a:r>
            <a:r>
              <a:rPr lang="en-US" sz="2000" dirty="0"/>
              <a:t>, </a:t>
            </a:r>
            <a:r>
              <a:rPr lang="en-US" sz="2000" dirty="0" err="1"/>
              <a:t>net_revenue_est</a:t>
            </a:r>
            <a:r>
              <a:rPr lang="en-US" sz="2000" dirty="0"/>
              <a:t>, </a:t>
            </a:r>
            <a:r>
              <a:rPr lang="en-US" sz="2000" dirty="0" err="1"/>
              <a:t>order_month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7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1425-6FC5-D1C3-604E-F03E3E34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Customer Demographics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CD45-3575-16F9-20F2-B630F884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92" y="2188564"/>
            <a:ext cx="5201588" cy="466943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Age Distribution:</a:t>
            </a:r>
            <a:r>
              <a:rPr lang="en-US" dirty="0"/>
              <a:t> Customers are spread across all ages, with a slightly higher concentration between 30 and 60 years old.</a:t>
            </a:r>
          </a:p>
          <a:p>
            <a:r>
              <a:rPr lang="en-US" b="1" dirty="0"/>
              <a:t>Gender &amp; Spending:</a:t>
            </a:r>
            <a:r>
              <a:rPr lang="en-US" dirty="0"/>
              <a:t> While both genders have similar average purchase amounts, the boxplot shows higher variability in spending for the "Male" group.</a:t>
            </a:r>
          </a:p>
          <a:p>
            <a:r>
              <a:rPr lang="en-US" b="1" dirty="0"/>
              <a:t>Customer Segments:</a:t>
            </a:r>
            <a:endParaRPr lang="en-US" dirty="0"/>
          </a:p>
          <a:p>
            <a:pPr lvl="1"/>
            <a:r>
              <a:rPr lang="en-US" sz="2400" dirty="0"/>
              <a:t>The </a:t>
            </a:r>
            <a:r>
              <a:rPr lang="en-US" sz="2400" b="1" dirty="0"/>
              <a:t>Young</a:t>
            </a:r>
            <a:r>
              <a:rPr lang="en-US" sz="2400" dirty="0"/>
              <a:t> segment (under 30) has the highest average purchase at </a:t>
            </a:r>
            <a:r>
              <a:rPr lang="en-US" sz="2400" b="1" dirty="0"/>
              <a:t>$754</a:t>
            </a:r>
            <a:r>
              <a:rPr lang="en-US" sz="2400" dirty="0"/>
              <a:t>.</a:t>
            </a:r>
          </a:p>
          <a:p>
            <a:pPr lvl="1"/>
            <a:r>
              <a:rPr lang="en-US" sz="2400" b="1" dirty="0"/>
              <a:t>Adults</a:t>
            </a:r>
            <a:r>
              <a:rPr lang="en-US" sz="2400" dirty="0"/>
              <a:t> (30-50) purchase the highest average quantity (</a:t>
            </a:r>
            <a:r>
              <a:rPr lang="en-US" sz="2400" b="1" dirty="0"/>
              <a:t>3.06 items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US" b="1" dirty="0"/>
              <a:t>***</a:t>
            </a:r>
            <a:r>
              <a:rPr lang="en-US" dirty="0"/>
              <a:t> Younger customers spend more per order, while middle-aged adults buy in higher volume. This suggests different marketing strategies for each segment.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85F3C6-E613-F328-157A-424DD61FE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923" y="2188564"/>
            <a:ext cx="6773220" cy="440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8135-D448-D55E-00E8-58A03D6F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Product &amp; Category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7B17B-9B13-F6EF-DB60-49B9994C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33" y="2098622"/>
            <a:ext cx="5591331" cy="4759377"/>
          </a:xfrm>
        </p:spPr>
        <p:txBody>
          <a:bodyPr>
            <a:normAutofit fontScale="40000" lnSpcReduction="20000"/>
          </a:bodyPr>
          <a:lstStyle/>
          <a:p>
            <a:endParaRPr lang="en-US" b="1" dirty="0"/>
          </a:p>
          <a:p>
            <a:r>
              <a:rPr lang="en-US" sz="6000" b="1" dirty="0"/>
              <a:t>Top Categories by Sales:</a:t>
            </a:r>
            <a:endParaRPr lang="en-US" sz="6000" dirty="0"/>
          </a:p>
          <a:p>
            <a:pPr lvl="1"/>
            <a:r>
              <a:rPr lang="en-US" sz="6000" b="1" dirty="0"/>
              <a:t>Electronics</a:t>
            </a:r>
            <a:r>
              <a:rPr lang="en-US" sz="6000" dirty="0"/>
              <a:t> ($140,034)</a:t>
            </a:r>
          </a:p>
          <a:p>
            <a:pPr lvl="1"/>
            <a:r>
              <a:rPr lang="en-US" sz="6000" b="1" dirty="0"/>
              <a:t>Books</a:t>
            </a:r>
            <a:r>
              <a:rPr lang="en-US" sz="6000" dirty="0"/>
              <a:t> ($113,770)</a:t>
            </a:r>
          </a:p>
          <a:p>
            <a:pPr lvl="1"/>
            <a:r>
              <a:rPr lang="en-US" sz="6000" b="1" dirty="0"/>
              <a:t>Beauty</a:t>
            </a:r>
            <a:r>
              <a:rPr lang="en-US" sz="6000" dirty="0"/>
              <a:t> ($103,677)</a:t>
            </a:r>
          </a:p>
          <a:p>
            <a:r>
              <a:rPr lang="en-US" sz="6000" b="1" dirty="0"/>
              <a:t>Bottom Category:</a:t>
            </a:r>
            <a:r>
              <a:rPr lang="en-US" sz="6000" dirty="0"/>
              <a:t> </a:t>
            </a:r>
            <a:r>
              <a:rPr lang="en-US" sz="6000" b="1" dirty="0"/>
              <a:t>Groceries</a:t>
            </a:r>
            <a:r>
              <a:rPr lang="en-US" sz="6000" dirty="0"/>
              <a:t> ($91,029), despite having a mid-range average price.</a:t>
            </a:r>
          </a:p>
          <a:p>
            <a:r>
              <a:rPr lang="en-US" sz="6000" b="1" dirty="0"/>
              <a:t>Electronics &amp; Books</a:t>
            </a:r>
            <a:r>
              <a:rPr lang="en-US" sz="6000" dirty="0"/>
              <a:t> dominate total sales and should be key strategic focuses.</a:t>
            </a:r>
          </a:p>
          <a:p>
            <a:r>
              <a:rPr lang="en-US" sz="6000" b="1" dirty="0"/>
              <a:t>Notes:</a:t>
            </a:r>
            <a:r>
              <a:rPr lang="en-US" sz="6000" dirty="0"/>
              <a:t> Focus premium inventory and promotions on the top 3 categories. Investigate pricing strategy for the Groceries category.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ABD8A-8DC9-60B4-3ABF-F78CAA2CB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63" y="2098622"/>
            <a:ext cx="6290465" cy="46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3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C37D-038F-BEBA-7313-01006414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Regional Performance (Top 5)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305B-6592-9A6D-5D44-71FB24671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3" y="1993692"/>
            <a:ext cx="5096655" cy="46619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top 15 locations by sales show significant variation.</a:t>
            </a:r>
          </a:p>
          <a:p>
            <a:r>
              <a:rPr lang="en-US" b="1" dirty="0"/>
              <a:t>Key Locations:</a:t>
            </a:r>
            <a:r>
              <a:rPr lang="en-US" dirty="0"/>
              <a:t> Focus on the highest-grossing regions for targeted campaigns and logistics optimization.</a:t>
            </a:r>
          </a:p>
          <a:p>
            <a:r>
              <a:rPr lang="en-US" i="1" dirty="0"/>
              <a:t>The specific top locations (e.g., Port Jessica, </a:t>
            </a:r>
            <a:r>
              <a:rPr lang="en-US" i="1" dirty="0" err="1"/>
              <a:t>Reillyhaven</a:t>
            </a:r>
            <a:r>
              <a:rPr lang="en-US" i="1" dirty="0"/>
              <a:t>) would be listed here.</a:t>
            </a:r>
            <a:endParaRPr lang="en-US" dirty="0"/>
          </a:p>
          <a:p>
            <a:r>
              <a:rPr lang="en-US" b="1" dirty="0"/>
              <a:t>Notes:</a:t>
            </a:r>
            <a:r>
              <a:rPr lang="en-US" dirty="0"/>
              <a:t> Regional sales are not uniform. Top-performing locations may be candidates for loyalty programs or regional fulfillment centers.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8D270-2AFF-E27C-56AA-62BC3118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390" y="1993692"/>
            <a:ext cx="6574376" cy="46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47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0AB07-D0DA-CF5A-C5C4-1BD2D8EE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Customer Purchase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635DC-75D3-3D2E-8E8B-5FF2AFFAB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963710"/>
            <a:ext cx="5276537" cy="48942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Purchase Frequency:</a:t>
            </a:r>
            <a:r>
              <a:rPr lang="en-US" dirty="0"/>
              <a:t> Every single customer in the dataset has made </a:t>
            </a:r>
            <a:r>
              <a:rPr lang="en-US" b="1" dirty="0"/>
              <a:t>only one purchase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Min Frequency: 1</a:t>
            </a:r>
          </a:p>
          <a:p>
            <a:pPr lvl="1"/>
            <a:r>
              <a:rPr lang="en-US" dirty="0"/>
              <a:t>Max Frequency: 1</a:t>
            </a:r>
          </a:p>
          <a:p>
            <a:r>
              <a:rPr lang="en-US" b="1" dirty="0"/>
              <a:t>High-Value Orders:</a:t>
            </a:r>
            <a:endParaRPr lang="en-US" dirty="0"/>
          </a:p>
          <a:p>
            <a:pPr lvl="1"/>
            <a:r>
              <a:rPr lang="en-US" dirty="0"/>
              <a:t>The </a:t>
            </a:r>
            <a:r>
              <a:rPr lang="en-US" b="1" dirty="0"/>
              <a:t>Young</a:t>
            </a:r>
            <a:r>
              <a:rPr lang="en-US" dirty="0"/>
              <a:t> segment has the highest proportion of high-value orders.</a:t>
            </a:r>
          </a:p>
          <a:p>
            <a:pPr lvl="1"/>
            <a:r>
              <a:rPr lang="en-US" dirty="0"/>
              <a:t>The </a:t>
            </a:r>
            <a:r>
              <a:rPr lang="en-US" b="1" dirty="0"/>
              <a:t>Senior</a:t>
            </a:r>
            <a:r>
              <a:rPr lang="en-US" dirty="0"/>
              <a:t> segment has the lowest proportion.</a:t>
            </a:r>
          </a:p>
          <a:p>
            <a:r>
              <a:rPr lang="en-US" b="1" dirty="0"/>
              <a:t>This indicates a critical area for improvement: customer retention.</a:t>
            </a:r>
            <a:endParaRPr lang="en-US" dirty="0"/>
          </a:p>
          <a:p>
            <a:r>
              <a:rPr lang="en-US" b="1" dirty="0"/>
              <a:t>Notes:</a:t>
            </a:r>
            <a:r>
              <a:rPr lang="en-US" dirty="0"/>
              <a:t> The lack of repeat purchases is a major business risk. A loyalty or re-engagement campaign is urgently needed, especially for the Senior segment.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93248-F635-CB43-2D63-35B7128E6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261" y="2191219"/>
            <a:ext cx="6255895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5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4565-2CB4-3BCB-B1AA-10CCF997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sz="4000" b="1" dirty="0"/>
              <a:t>Sales trends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FBB3-669E-CF8E-0C90-65BBBA511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281423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 Monthly sales show a slight </a:t>
            </a:r>
            <a:r>
              <a:rPr lang="en-US" b="1" dirty="0"/>
              <a:t>upward trend</a:t>
            </a:r>
            <a:r>
              <a:rPr lang="en-US" dirty="0"/>
              <a:t>, with peaks in certain months (e.g., Oct 2024, Feb 2025).</a:t>
            </a:r>
          </a:p>
          <a:p>
            <a:r>
              <a:rPr lang="en-US" b="1" dirty="0"/>
              <a:t>Forecast:</a:t>
            </a:r>
            <a:r>
              <a:rPr lang="en-US" dirty="0"/>
              <a:t> The ARIMA model forecasts a continuation of this positive trend for the next 3 months.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F563D-53FA-79BD-EDD2-B8AC1632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51" y="2259844"/>
            <a:ext cx="6439799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9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5FEA-F33B-3144-6E0F-47BD3D57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Discount Trends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525C-D28A-6166-180A-C11E4DC1D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2008682"/>
            <a:ext cx="6115987" cy="4849318"/>
          </a:xfrm>
        </p:spPr>
        <p:txBody>
          <a:bodyPr>
            <a:normAutofit/>
          </a:bodyPr>
          <a:lstStyle/>
          <a:p>
            <a:r>
              <a:rPr lang="en-US" sz="2800" b="1" dirty="0"/>
              <a:t>Discount Impact:</a:t>
            </a:r>
            <a:endParaRPr lang="en-US" sz="2800" dirty="0"/>
          </a:p>
          <a:p>
            <a:pPr lvl="1"/>
            <a:r>
              <a:rPr lang="en-US" sz="2400" dirty="0"/>
              <a:t>Orders with "Higher Discounts" average </a:t>
            </a:r>
            <a:r>
              <a:rPr lang="en-US" sz="2400" b="1" dirty="0"/>
              <a:t>$948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Orders with "Lower Discounts" average only </a:t>
            </a:r>
            <a:r>
              <a:rPr lang="en-US" sz="2400" b="1" dirty="0"/>
              <a:t>$528</a:t>
            </a:r>
            <a:r>
              <a:rPr lang="en-US" sz="2400" dirty="0"/>
              <a:t>.</a:t>
            </a:r>
          </a:p>
          <a:p>
            <a:pPr lvl="1"/>
            <a:r>
              <a:rPr lang="en-US" sz="2400" b="1" dirty="0"/>
              <a:t>Discounts are strongly correlated with higher purchase amounts.</a:t>
            </a:r>
            <a:endParaRPr lang="en-US" sz="2400" dirty="0"/>
          </a:p>
          <a:p>
            <a:r>
              <a:rPr lang="en-US" sz="2800" b="1" dirty="0"/>
              <a:t>Notes:</a:t>
            </a:r>
            <a:r>
              <a:rPr lang="en-US" sz="2800" dirty="0"/>
              <a:t> Discounts are an effective lever for increasing basket size. Consider strategic, targeted discount campaigns.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DAFF6-E3D3-6EC6-6200-BD98007D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908" y="2184986"/>
            <a:ext cx="5795930" cy="436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8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CB22-59D9-C7A1-00B9-6811A371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Payment Method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79BB-07D7-8EFC-9B6F-3568F51E5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1993692"/>
            <a:ext cx="6415790" cy="4864307"/>
          </a:xfrm>
        </p:spPr>
        <p:txBody>
          <a:bodyPr>
            <a:normAutofit/>
          </a:bodyPr>
          <a:lstStyle/>
          <a:p>
            <a:r>
              <a:rPr lang="en-US" b="1" dirty="0"/>
              <a:t>Payment Method Performance:</a:t>
            </a:r>
            <a:endParaRPr lang="en-US" dirty="0"/>
          </a:p>
          <a:p>
            <a:pPr lvl="1"/>
            <a:r>
              <a:rPr lang="en-US" b="1" dirty="0"/>
              <a:t>M-Pesa</a:t>
            </a:r>
            <a:r>
              <a:rPr lang="en-US" dirty="0"/>
              <a:t> generates the most total sales ($152,205).</a:t>
            </a:r>
          </a:p>
          <a:p>
            <a:pPr lvl="1"/>
            <a:r>
              <a:rPr lang="en-US" b="1" dirty="0"/>
              <a:t>Credit Card</a:t>
            </a:r>
            <a:r>
              <a:rPr lang="en-US" dirty="0"/>
              <a:t> and </a:t>
            </a:r>
            <a:r>
              <a:rPr lang="en-US" b="1" dirty="0"/>
              <a:t>PayPal</a:t>
            </a:r>
            <a:r>
              <a:rPr lang="en-US" dirty="0"/>
              <a:t> are also strong performers.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BC294-F89D-E422-5790-7215390E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722" y="2158584"/>
            <a:ext cx="5566346" cy="452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36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45BE-6CE4-89F0-3BE4-E437F775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sz="4000" b="1" dirty="0"/>
              <a:t>Order Status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5FF53-69BD-493E-10D9-078BA9042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23" y="2095744"/>
            <a:ext cx="4930223" cy="4315427"/>
          </a:xfrm>
        </p:spPr>
        <p:txBody>
          <a:bodyPr>
            <a:normAutofit/>
          </a:bodyPr>
          <a:lstStyle/>
          <a:p>
            <a:r>
              <a:rPr lang="en-US" b="1" dirty="0"/>
              <a:t>Order Status Distribution:</a:t>
            </a:r>
            <a:endParaRPr lang="en-US" dirty="0"/>
          </a:p>
          <a:p>
            <a:pPr lvl="1"/>
            <a:r>
              <a:rPr lang="en-US" dirty="0"/>
              <a:t>The distribution is relatively even, but </a:t>
            </a:r>
            <a:r>
              <a:rPr lang="en-US" b="1" dirty="0"/>
              <a:t>'Canceled' (26.2%)</a:t>
            </a:r>
            <a:r>
              <a:rPr lang="en-US" dirty="0"/>
              <a:t> and </a:t>
            </a:r>
            <a:r>
              <a:rPr lang="en-US" b="1" dirty="0"/>
              <a:t>'Returned' (24.9%)</a:t>
            </a:r>
            <a:r>
              <a:rPr lang="en-US" dirty="0"/>
              <a:t> orders account for over half of all transactions.</a:t>
            </a:r>
          </a:p>
          <a:p>
            <a:pPr lvl="1"/>
            <a:r>
              <a:rPr lang="en-US" dirty="0"/>
              <a:t>This represents a massive operational and revenue loss.</a:t>
            </a:r>
          </a:p>
          <a:p>
            <a:r>
              <a:rPr lang="en-US" b="1" dirty="0"/>
              <a:t>Notes:</a:t>
            </a:r>
            <a:r>
              <a:rPr lang="en-US" dirty="0"/>
              <a:t> Investigate the root causes of the high cancellation and return rates. M-Pesa's popularity may indicate a regional payment preference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D56B5-3B0C-4A5C-2694-41A98DA5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620" y="2095745"/>
            <a:ext cx="6858957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37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83AF-A398-73AF-6145-0EC82957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- Customer Ratings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2E660-4945-DA4A-3416-A9246CEC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2038662"/>
            <a:ext cx="5321509" cy="4661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Customer Rating by Order Status:</a:t>
            </a:r>
            <a:endParaRPr lang="en-US" dirty="0"/>
          </a:p>
          <a:p>
            <a:pPr lvl="1"/>
            <a:r>
              <a:rPr lang="en-US" dirty="0"/>
              <a:t>'Completed' orders have the highest median rating (4.0).</a:t>
            </a:r>
          </a:p>
          <a:p>
            <a:pPr lvl="1"/>
            <a:r>
              <a:rPr lang="en-US" dirty="0"/>
              <a:t>'Canceled' orders have the lowest median rating (2.0).</a:t>
            </a:r>
          </a:p>
          <a:p>
            <a:pPr lvl="1"/>
            <a:r>
              <a:rPr lang="en-US" dirty="0"/>
              <a:t>'Returned' orders show a wide range of ratings, suggesting returns happen for reasons other than pure dissatisfaction (e.g., fit, change of mind).</a:t>
            </a:r>
          </a:p>
          <a:p>
            <a:r>
              <a:rPr lang="en-US" dirty="0"/>
              <a:t>This reinforces that a smooth fulfillment process is key to customer satisfaction.</a:t>
            </a:r>
          </a:p>
          <a:p>
            <a:r>
              <a:rPr lang="en-US" b="1" dirty="0"/>
              <a:t>Notes:</a:t>
            </a:r>
            <a:r>
              <a:rPr lang="en-US" dirty="0"/>
              <a:t> Ratings are a leading indicator of order completion. Proactive customer service could help convert pending orders and prevent returns/cancellations.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12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AEB0-6991-D4A8-2CB4-F0B3684C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Correlation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8E0E7-EB6B-1287-3862-7B3145E32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1948720"/>
            <a:ext cx="5531371" cy="51865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correlation matrix reveals key relationships.</a:t>
            </a:r>
          </a:p>
          <a:p>
            <a:r>
              <a:rPr lang="en-US" dirty="0" err="1"/>
              <a:t>purchase_amount</a:t>
            </a:r>
            <a:r>
              <a:rPr lang="en-US" b="1" dirty="0"/>
              <a:t> is most strongly correlated with:</a:t>
            </a:r>
            <a:endParaRPr lang="en-US" dirty="0"/>
          </a:p>
          <a:p>
            <a:pPr lvl="1"/>
            <a:r>
              <a:rPr lang="en-US" dirty="0" err="1"/>
              <a:t>product_price</a:t>
            </a:r>
            <a:r>
              <a:rPr lang="en-US" dirty="0"/>
              <a:t> (0.81)</a:t>
            </a:r>
          </a:p>
          <a:p>
            <a:pPr lvl="1"/>
            <a:r>
              <a:rPr lang="en-US" dirty="0" err="1"/>
              <a:t>net_revenue_est</a:t>
            </a:r>
            <a:r>
              <a:rPr lang="en-US" dirty="0"/>
              <a:t> (1.0 - derived)</a:t>
            </a:r>
          </a:p>
          <a:p>
            <a:pPr lvl="1"/>
            <a:r>
              <a:rPr lang="en-US" dirty="0"/>
              <a:t>discount (0.59)</a:t>
            </a:r>
          </a:p>
          <a:p>
            <a:pPr lvl="1"/>
            <a:r>
              <a:rPr lang="en-US" dirty="0"/>
              <a:t>quantity (0.47)</a:t>
            </a:r>
          </a:p>
          <a:p>
            <a:r>
              <a:rPr lang="en-US" dirty="0" err="1"/>
              <a:t>customer_rating</a:t>
            </a:r>
            <a:r>
              <a:rPr lang="en-US" dirty="0"/>
              <a:t> has a very weak positive correlation with </a:t>
            </a:r>
            <a:r>
              <a:rPr lang="en-US" dirty="0" err="1"/>
              <a:t>purchase_amount</a:t>
            </a:r>
            <a:r>
              <a:rPr lang="en-US" dirty="0"/>
              <a:t> (0.16).</a:t>
            </a:r>
          </a:p>
          <a:p>
            <a:r>
              <a:rPr lang="en-US" b="1" dirty="0"/>
              <a:t>(Visual: The "</a:t>
            </a:r>
            <a:r>
              <a:rPr lang="en-US" b="1" dirty="0" err="1"/>
              <a:t>corrplot</a:t>
            </a:r>
            <a:r>
              <a:rPr lang="en-US" b="1" dirty="0"/>
              <a:t>" heatmap from your report, with key correlations highlighted.)</a:t>
            </a:r>
            <a:endParaRPr lang="en-US" dirty="0"/>
          </a:p>
          <a:p>
            <a:r>
              <a:rPr lang="en-US" b="1" dirty="0"/>
              <a:t>Notes:</a:t>
            </a:r>
            <a:r>
              <a:rPr lang="en-US" dirty="0"/>
              <a:t> Price and discount are the primary drivers of total purchase value. Customer rating is not a reliable predictor of high spending.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9B339-0504-F381-D26E-16566A13A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302" y="2161871"/>
            <a:ext cx="6325007" cy="455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0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8732-7D75-767D-A5C2-2F76E48E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Predictive Modeling: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2103C-1FB6-87B0-4C5A-3F5297F92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98624"/>
            <a:ext cx="11266840" cy="47593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800" b="1" dirty="0"/>
              <a:t>Objective:</a:t>
            </a:r>
            <a:r>
              <a:rPr lang="en-US" sz="2800" dirty="0"/>
              <a:t> Predict </a:t>
            </a:r>
            <a:r>
              <a:rPr lang="en-US" sz="2800" dirty="0" err="1"/>
              <a:t>purchase_amount</a:t>
            </a:r>
            <a:r>
              <a:rPr lang="en-US" sz="2800" dirty="0"/>
              <a:t> based on other features.</a:t>
            </a:r>
            <a:br>
              <a:rPr lang="en-US" sz="2800" dirty="0"/>
            </a:br>
            <a:r>
              <a:rPr lang="en-US" sz="2800" b="1" dirty="0"/>
              <a:t>Techniques:</a:t>
            </a:r>
            <a:r>
              <a:rPr lang="en-US" sz="2800" dirty="0"/>
              <a:t> (e.g., Linear Regression, Random Forest)</a:t>
            </a:r>
            <a:br>
              <a:rPr lang="en-US" sz="2800" dirty="0"/>
            </a:br>
            <a:r>
              <a:rPr lang="en-US" sz="2800" b="1" dirty="0"/>
              <a:t>Evaluation Metrics:</a:t>
            </a:r>
            <a:r>
              <a:rPr lang="en-US" sz="2800" dirty="0"/>
              <a:t> (e.g., RMSE, R-squared)</a:t>
            </a:r>
          </a:p>
          <a:p>
            <a:r>
              <a:rPr lang="en-US" sz="2800" i="1" dirty="0"/>
              <a:t>(Since models were not built in the provided code, use this slide to explain the </a:t>
            </a:r>
            <a:r>
              <a:rPr lang="en-US" sz="2800" b="1" i="1" dirty="0"/>
              <a:t>plan</a:t>
            </a:r>
            <a:r>
              <a:rPr lang="en-US" sz="2800" i="1" dirty="0"/>
              <a:t> and which metrics would be used.)</a:t>
            </a:r>
            <a:endParaRPr lang="en-US" sz="2800" dirty="0"/>
          </a:p>
          <a:p>
            <a:r>
              <a:rPr lang="en-US" sz="2800" b="1" dirty="0"/>
              <a:t>Target Variable:</a:t>
            </a:r>
            <a:r>
              <a:rPr lang="en-US" sz="2800" dirty="0"/>
              <a:t> </a:t>
            </a:r>
            <a:r>
              <a:rPr lang="en-US" sz="2800" dirty="0" err="1"/>
              <a:t>purchase_amount</a:t>
            </a:r>
            <a:endParaRPr lang="en-US" sz="2800" dirty="0"/>
          </a:p>
          <a:p>
            <a:r>
              <a:rPr lang="en-US" sz="2800" b="1" dirty="0"/>
              <a:t>Key Features to Use:</a:t>
            </a:r>
            <a:r>
              <a:rPr lang="en-US" sz="2800" dirty="0"/>
              <a:t> </a:t>
            </a:r>
            <a:r>
              <a:rPr lang="en-US" sz="2800" dirty="0" err="1"/>
              <a:t>product_price</a:t>
            </a:r>
            <a:r>
              <a:rPr lang="en-US" sz="2800" dirty="0"/>
              <a:t>, quantity, discount, </a:t>
            </a:r>
            <a:r>
              <a:rPr lang="en-US" sz="2800" dirty="0" err="1"/>
              <a:t>customer_rating</a:t>
            </a:r>
            <a:r>
              <a:rPr lang="en-US" sz="2800" dirty="0"/>
              <a:t>, </a:t>
            </a:r>
            <a:r>
              <a:rPr lang="en-US" sz="2800" dirty="0" err="1"/>
              <a:t>product_category</a:t>
            </a:r>
            <a:r>
              <a:rPr lang="en-US" sz="2800" dirty="0"/>
              <a:t>, </a:t>
            </a:r>
            <a:r>
              <a:rPr lang="en-US" sz="2800" dirty="0" err="1"/>
              <a:t>payment_method</a:t>
            </a:r>
            <a:r>
              <a:rPr lang="en-US" sz="2800" dirty="0"/>
              <a:t>.</a:t>
            </a:r>
          </a:p>
          <a:p>
            <a:r>
              <a:rPr lang="en-US" sz="2800" b="1" dirty="0"/>
              <a:t>Success would be measured by:</a:t>
            </a:r>
            <a:r>
              <a:rPr lang="en-US" sz="2800" dirty="0"/>
              <a:t> A high R-squared (&gt;0.7) and low RMSE compared to the mean purchase amount.</a:t>
            </a:r>
          </a:p>
          <a:p>
            <a:r>
              <a:rPr lang="en-US" sz="4700" b="1" dirty="0"/>
              <a:t> regression </a:t>
            </a:r>
            <a:r>
              <a:rPr lang="en-US" sz="4400" b="1" dirty="0"/>
              <a:t>model workflow:</a:t>
            </a:r>
          </a:p>
          <a:p>
            <a:r>
              <a:rPr lang="en-US" sz="4400" b="1" dirty="0"/>
              <a:t> Data -&gt; Training -&gt; Model -&gt; Evaluation -&gt; Predictions.)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2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0AFF0-325D-9E21-67C2-CDC42C16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Predictive Modeling: Classification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5F236-6BB1-C45E-185C-37DBD6FDB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(Objective)</a:t>
            </a:r>
          </a:p>
          <a:p>
            <a:r>
              <a:rPr lang="en-US" b="1" dirty="0"/>
              <a:t>Objective:</a:t>
            </a:r>
            <a:r>
              <a:rPr lang="en-US" dirty="0"/>
              <a:t> Predict </a:t>
            </a:r>
            <a:r>
              <a:rPr lang="en-US" dirty="0" err="1"/>
              <a:t>order_status</a:t>
            </a:r>
            <a:r>
              <a:rPr lang="en-US" dirty="0"/>
              <a:t> (e.g., 'Completed' vs. 'Canceled/Returned').</a:t>
            </a:r>
            <a:br>
              <a:rPr lang="en-US" dirty="0"/>
            </a:br>
            <a:r>
              <a:rPr lang="en-US" b="1" dirty="0"/>
              <a:t>Techniques:</a:t>
            </a:r>
            <a:r>
              <a:rPr lang="en-US" dirty="0"/>
              <a:t> (e.g., Logistic Regression, Random Forest Classifier)</a:t>
            </a:r>
            <a:br>
              <a:rPr lang="en-US" dirty="0"/>
            </a:br>
            <a:r>
              <a:rPr lang="en-US" b="1" dirty="0"/>
              <a:t>Evaluation Metrics:</a:t>
            </a:r>
            <a:r>
              <a:rPr lang="en-US" dirty="0"/>
              <a:t> Accuracy, Precision, Recall, F1-Score.</a:t>
            </a:r>
          </a:p>
          <a:p>
            <a:r>
              <a:rPr lang="en-US" i="1" dirty="0"/>
              <a:t>(Since models were not built, use this slide to explain the </a:t>
            </a:r>
            <a:r>
              <a:rPr lang="en-US" b="1" i="1" dirty="0"/>
              <a:t>plan</a:t>
            </a:r>
            <a:r>
              <a:rPr lang="en-US" i="1" dirty="0"/>
              <a:t> for the classification task.)</a:t>
            </a:r>
            <a:endParaRPr lang="en-US" dirty="0"/>
          </a:p>
          <a:p>
            <a:r>
              <a:rPr lang="en-US" b="1" dirty="0"/>
              <a:t>Target Variable:</a:t>
            </a:r>
            <a:r>
              <a:rPr lang="en-US" dirty="0"/>
              <a:t> </a:t>
            </a:r>
            <a:r>
              <a:rPr lang="en-US" dirty="0" err="1"/>
              <a:t>order_status</a:t>
            </a:r>
            <a:r>
              <a:rPr lang="en-US" dirty="0"/>
              <a:t> (Binary: 1 = Completed, 0 = Not Completed).</a:t>
            </a:r>
          </a:p>
          <a:p>
            <a:r>
              <a:rPr lang="en-US" b="1" dirty="0"/>
              <a:t>Key Features to Use:</a:t>
            </a:r>
            <a:r>
              <a:rPr lang="en-US" dirty="0"/>
              <a:t> </a:t>
            </a:r>
            <a:r>
              <a:rPr lang="en-US" dirty="0" err="1"/>
              <a:t>customer_rating</a:t>
            </a:r>
            <a:r>
              <a:rPr lang="en-US" dirty="0"/>
              <a:t>, discount, </a:t>
            </a:r>
            <a:r>
              <a:rPr lang="en-US" dirty="0" err="1"/>
              <a:t>shipping_cost</a:t>
            </a:r>
            <a:r>
              <a:rPr lang="en-US" dirty="0"/>
              <a:t>, </a:t>
            </a:r>
            <a:r>
              <a:rPr lang="en-US" dirty="0" err="1"/>
              <a:t>payment_method</a:t>
            </a:r>
            <a:r>
              <a:rPr lang="en-US" dirty="0"/>
              <a:t>, </a:t>
            </a:r>
            <a:r>
              <a:rPr lang="en-US" dirty="0" err="1"/>
              <a:t>product_category</a:t>
            </a:r>
            <a:r>
              <a:rPr lang="en-US" dirty="0"/>
              <a:t>.</a:t>
            </a:r>
          </a:p>
          <a:p>
            <a:r>
              <a:rPr lang="en-US" b="1" dirty="0"/>
              <a:t>Success would be measured by:</a:t>
            </a:r>
            <a:r>
              <a:rPr lang="en-US" dirty="0"/>
              <a:t> High Precision (minimizing false positives) and Recall (minimizing false negatives) for 'Completed' orders.</a:t>
            </a:r>
          </a:p>
          <a:p>
            <a:r>
              <a:rPr lang="en-US" b="1" dirty="0"/>
              <a:t>(Visual: A simple confusion matrix showing the metrics: True Positive, False Positive, etc.)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436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EF70-D602-6A16-0DDC-8C431886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Conclusion of Findings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9746-E00B-1412-E8AC-D7DE59A1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53389"/>
            <a:ext cx="9613861" cy="3882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Customers:</a:t>
            </a:r>
            <a:r>
              <a:rPr lang="en-US" dirty="0"/>
              <a:t> The 'Young' segment is the most valuable.</a:t>
            </a:r>
          </a:p>
          <a:p>
            <a:pPr marL="0" indent="0">
              <a:buNone/>
            </a:pPr>
            <a:r>
              <a:rPr lang="en-US" dirty="0"/>
              <a:t>The complete lack of repeat purchases is a critical weakness.</a:t>
            </a:r>
          </a:p>
          <a:p>
            <a:r>
              <a:rPr lang="en-US" b="1" dirty="0"/>
              <a:t>Products:</a:t>
            </a:r>
            <a:r>
              <a:rPr lang="en-US" dirty="0"/>
              <a:t> Electronics and Books are the primary revenue drivers.</a:t>
            </a:r>
          </a:p>
          <a:p>
            <a:pPr marL="0" indent="0">
              <a:buNone/>
            </a:pPr>
            <a:r>
              <a:rPr lang="en-US" dirty="0"/>
              <a:t>Heavy discounts successfully increase basket size.</a:t>
            </a:r>
          </a:p>
          <a:p>
            <a:r>
              <a:rPr lang="en-US" b="1" dirty="0"/>
              <a:t>Operations:</a:t>
            </a:r>
            <a:r>
              <a:rPr lang="en-US" dirty="0"/>
              <a:t> M-Pesa is a key payment method. </a:t>
            </a:r>
          </a:p>
          <a:p>
            <a:pPr marL="0" indent="0">
              <a:buNone/>
            </a:pPr>
            <a:r>
              <a:rPr lang="en-US" dirty="0"/>
              <a:t>The 50% non-completion rate (Canceled/Returned) is a significant financial drain.</a:t>
            </a:r>
          </a:p>
          <a:p>
            <a:r>
              <a:rPr lang="en-US" b="1" dirty="0"/>
              <a:t>Predictive Potential:</a:t>
            </a:r>
            <a:r>
              <a:rPr lang="en-US" dirty="0"/>
              <a:t> The data can be used to predict high-value customers and identify orders at risk of cancellation, though models were not implemented in this analysis.</a:t>
            </a:r>
          </a:p>
          <a:p>
            <a:r>
              <a:rPr lang="en-US" b="1" dirty="0"/>
              <a:t>(Visual: A slide with 3-4 key summary bullet points, each pulling a top finding.)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81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987F-5DAD-9240-4C2D-8DA423F1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/>
              <a:t>Recommendations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1D90-8776-3A60-FEC5-4BD20DDC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Implement a Customer Loyalty Program:</a:t>
            </a:r>
            <a:r>
              <a:rPr lang="en-US" dirty="0"/>
              <a:t> Target the 'Young' and 'Adult' segments with a points-based system to drive repeat purchases.</a:t>
            </a:r>
          </a:p>
          <a:p>
            <a:r>
              <a:rPr lang="en-US" b="1" dirty="0"/>
              <a:t>Optimize Discount Strategy:</a:t>
            </a:r>
            <a:r>
              <a:rPr lang="en-US" dirty="0"/>
              <a:t> Use targeted higher discounts on low-selling Electronics and Books to clear inventory and boost revenue.</a:t>
            </a:r>
          </a:p>
          <a:p>
            <a:r>
              <a:rPr lang="en-US" b="1" dirty="0"/>
              <a:t>Investigate Order Fulfillment:</a:t>
            </a:r>
            <a:r>
              <a:rPr lang="en-US" dirty="0"/>
              <a:t> Audit the cancellation/return process. High ratings for returned items suggest issues might be operational (e.g., shipping damage, wrong item).</a:t>
            </a:r>
          </a:p>
          <a:p>
            <a:r>
              <a:rPr lang="en-US" b="1" dirty="0"/>
              <a:t>Prioritize M-Pesa:</a:t>
            </a:r>
            <a:r>
              <a:rPr lang="en-US" dirty="0"/>
              <a:t> Ensure the checkout process for M-Pesa is seamless and promote it as a preferred payment method.</a:t>
            </a:r>
          </a:p>
          <a:p>
            <a:r>
              <a:rPr lang="en-US" b="1" dirty="0"/>
              <a:t>(Visual: An icon for each recommendation (e.g., a gift box for loyalty, a price tag for discounts, a magnifying glass for investigation, a credit card for payments).)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7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DD54-3062-1458-7679-C5821E32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Future Work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4744-C722-81E0-C1AA-DE185759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01515"/>
            <a:ext cx="11078542" cy="4427621"/>
          </a:xfrm>
        </p:spPr>
        <p:txBody>
          <a:bodyPr>
            <a:normAutofit/>
          </a:bodyPr>
          <a:lstStyle/>
          <a:p>
            <a:r>
              <a:rPr lang="en-US" sz="2000" b="1" dirty="0"/>
              <a:t>Build &amp; Deploy Models:</a:t>
            </a:r>
            <a:endParaRPr lang="en-US" sz="2000" dirty="0"/>
          </a:p>
          <a:p>
            <a:pPr lvl="1"/>
            <a:r>
              <a:rPr lang="en-US" dirty="0"/>
              <a:t>Develop a </a:t>
            </a:r>
            <a:r>
              <a:rPr lang="en-US" b="1" dirty="0"/>
              <a:t>Regression model</a:t>
            </a:r>
            <a:r>
              <a:rPr lang="en-US" dirty="0"/>
              <a:t> (e.g., </a:t>
            </a:r>
            <a:r>
              <a:rPr lang="en-US" dirty="0" err="1"/>
              <a:t>XGBoost</a:t>
            </a:r>
            <a:r>
              <a:rPr lang="en-US" dirty="0"/>
              <a:t>) to predict purchase amount for real-time upselling.</a:t>
            </a:r>
          </a:p>
          <a:p>
            <a:pPr lvl="1"/>
            <a:r>
              <a:rPr lang="en-US" dirty="0"/>
              <a:t>Develop a </a:t>
            </a:r>
            <a:r>
              <a:rPr lang="en-US" b="1" dirty="0"/>
              <a:t>Classification model</a:t>
            </a:r>
            <a:r>
              <a:rPr lang="en-US" dirty="0"/>
              <a:t> to flag high-risk orders for proactive customer service intervention before they are canceled.</a:t>
            </a:r>
          </a:p>
          <a:p>
            <a:r>
              <a:rPr lang="en-US" sz="2000" b="1" dirty="0"/>
              <a:t>Collect More Data:</a:t>
            </a:r>
            <a:r>
              <a:rPr lang="en-US" sz="2000" dirty="0"/>
              <a:t> Integrate marketing data (email open rates, ad clicks) to build a more robust 360-degree customer view.</a:t>
            </a:r>
          </a:p>
          <a:p>
            <a:r>
              <a:rPr lang="en-US" sz="2000" b="1" dirty="0"/>
              <a:t>A/B Testing:</a:t>
            </a:r>
            <a:r>
              <a:rPr lang="en-US" sz="2000" dirty="0"/>
              <a:t> Test the recommendations (e.g., discount levels, loyalty program mechanics) to measure their true impact.</a:t>
            </a:r>
          </a:p>
          <a:p>
            <a:r>
              <a:rPr lang="en-US" sz="2000" b="1" dirty="0"/>
              <a:t>(Visual: A simple road map graphic with "Short-term" and "Long-term" goals.)</a:t>
            </a:r>
            <a:endParaRPr lang="en-US" sz="2000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7377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{27E8B8D9-51B8-43FA-AE37-7CF478FCAF91}TF6e1c0bd6-43b7-4cba-aa12-42a644606054c9b78bf9-d218b69a002d</Template>
  <TotalTime>126</TotalTime>
  <Words>1681</Words>
  <Application>Microsoft Office PowerPoint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Tahoma</vt:lpstr>
      <vt:lpstr>Times New Roman</vt:lpstr>
      <vt:lpstr>Trebuchet MS</vt:lpstr>
      <vt:lpstr>Wingdings</vt:lpstr>
      <vt:lpstr>Berlin</vt:lpstr>
      <vt:lpstr>   Artificial intelligence(AI) Uncovering Customer Behavior &amp; Business Drivers E-commerce Data.csv R Coding </vt:lpstr>
      <vt:lpstr>Executive Summary</vt:lpstr>
      <vt:lpstr>Project Objectives  </vt:lpstr>
      <vt:lpstr>Data Overview </vt:lpstr>
      <vt:lpstr> Data Cleaning &amp; Feature Engineering  </vt:lpstr>
      <vt:lpstr>Customer Demographics </vt:lpstr>
      <vt:lpstr>Product &amp; Category Performance</vt:lpstr>
      <vt:lpstr>Regional Performance (Top 5) </vt:lpstr>
      <vt:lpstr>Customer Purchase Behavior</vt:lpstr>
      <vt:lpstr> Sales trends </vt:lpstr>
      <vt:lpstr>Discount Trends </vt:lpstr>
      <vt:lpstr>Payment Method </vt:lpstr>
      <vt:lpstr> Order Status</vt:lpstr>
      <vt:lpstr>- Customer Ratings</vt:lpstr>
      <vt:lpstr>Correlation Analysis </vt:lpstr>
      <vt:lpstr>Predictive Modeling: Regression</vt:lpstr>
      <vt:lpstr>Predictive Modeling: Classification</vt:lpstr>
      <vt:lpstr>Conclusion of Findings</vt:lpstr>
      <vt:lpstr>Recommendations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AlchymedSolutions Leren</dc:creator>
  <cp:lastModifiedBy>AlchymedSolutions Leren</cp:lastModifiedBy>
  <cp:revision>2</cp:revision>
  <dcterms:created xsi:type="dcterms:W3CDTF">2026-05-18T21:56:36Z</dcterms:created>
  <dcterms:modified xsi:type="dcterms:W3CDTF">2026-05-19T10:38:22Z</dcterms:modified>
</cp:coreProperties>
</file>