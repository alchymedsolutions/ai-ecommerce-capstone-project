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0.xml" ContentType="application/vnd.openxmlformats-officedocument.drawingml.chart+xml"/>
  <Override PartName="/ppt/notesSlides/notesSlide15.xml" ContentType="application/vnd.openxmlformats-officedocument.presentationml.notesSlide+xml"/>
  <Override PartName="/ppt/charts/chart11.xml" ContentType="application/vnd.openxmlformats-officedocument.drawingml.chart+xml"/>
  <Override PartName="/ppt/notesSlides/notesSlide16.xml" ContentType="application/vnd.openxmlformats-officedocument.presentationml.notesSlide+xml"/>
  <Override PartName="/ppt/charts/chart12.xml" ContentType="application/vnd.openxmlformats-officedocument.drawingml.chart+xml"/>
  <Override PartName="/ppt/notesSlides/notesSlide17.xml" ContentType="application/vnd.openxmlformats-officedocument.presentationml.notesSlide+xml"/>
  <Override PartName="/ppt/charts/chart13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9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B2A"/>
                </a:solidFill>
                <a:latin typeface="Arial"/>
              </a:rPr>
              <a:t>Customers by Age Group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18–24</c:v>
                </c:pt>
                <c:pt idx="1">
                  <c:v>25–34</c:v>
                </c:pt>
                <c:pt idx="2">
                  <c:v>35–44</c:v>
                </c:pt>
                <c:pt idx="3">
                  <c:v>45–54</c:v>
                </c:pt>
                <c:pt idx="4">
                  <c:v>55–64</c:v>
                </c:pt>
                <c:pt idx="5">
                  <c:v>65+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1120</c:v>
                </c:pt>
                <c:pt idx="1">
                  <c:v>2340</c:v>
                </c:pt>
                <c:pt idx="2">
                  <c:v>2890</c:v>
                </c:pt>
                <c:pt idx="3">
                  <c:v>2100</c:v>
                </c:pt>
                <c:pt idx="4">
                  <c:v>890</c:v>
                </c:pt>
                <c:pt idx="5">
                  <c:v>660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1B-4FDC-8A43-7B445B6AE43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B2A"/>
                </a:solidFill>
                <a:latin typeface="Arial"/>
              </a:rPr>
              <a:t>Gender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EAC-4971-A177-60515882F022}"/>
              </c:ext>
            </c:extLst>
          </c:dPt>
          <c:dPt>
            <c:idx val="1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EAC-4971-A177-60515882F022}"/>
              </c:ext>
            </c:extLst>
          </c:dPt>
          <c:dPt>
            <c:idx val="2"/>
            <c:bubble3D val="0"/>
            <c:spPr>
              <a:solidFill>
                <a:srgbClr val="F6C90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EAC-4971-A177-60515882F02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EAC-4971-A177-60515882F02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EAC-4971-A177-60515882F02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EAC-4971-A177-60515882F02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</c:v>
                </c:pt>
                <c:pt idx="1">
                  <c:v>49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EAC-4971-A177-60515882F0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($)</c:v>
                </c:pt>
              </c:strCache>
            </c:strRef>
          </c:tx>
          <c:spPr>
            <a:ln w="38100" cap="flat">
              <a:solidFill>
                <a:srgbClr val="00A8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A896"/>
              </a:solidFill>
              <a:ln w="9525" cap="flat">
                <a:solidFill>
                  <a:srgbClr val="00A896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42000</c:v>
                </c:pt>
                <c:pt idx="1">
                  <c:v>38500</c:v>
                </c:pt>
                <c:pt idx="2">
                  <c:v>45200</c:v>
                </c:pt>
                <c:pt idx="3">
                  <c:v>47800</c:v>
                </c:pt>
                <c:pt idx="4">
                  <c:v>51000</c:v>
                </c:pt>
                <c:pt idx="5">
                  <c:v>49500</c:v>
                </c:pt>
                <c:pt idx="6">
                  <c:v>53200</c:v>
                </c:pt>
                <c:pt idx="7">
                  <c:v>58900</c:v>
                </c:pt>
                <c:pt idx="8">
                  <c:v>55400</c:v>
                </c:pt>
                <c:pt idx="9">
                  <c:v>61200</c:v>
                </c:pt>
                <c:pt idx="10">
                  <c:v>75400</c:v>
                </c:pt>
                <c:pt idx="11">
                  <c:v>82000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DEA-4DED-839E-C4A3205F85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B2A"/>
                </a:solidFill>
                <a:latin typeface="Arial"/>
              </a:rPr>
              <a:t>Revenue by Category ($K)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704-446E-AE9B-141CBD61F2B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704-446E-AE9B-141CBD61F2B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704-446E-AE9B-141CBD61F2B1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E704-446E-AE9B-141CBD61F2B1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E704-446E-AE9B-141CBD61F2B1}"/>
              </c:ext>
            </c:extLst>
          </c:dPt>
          <c:dPt>
            <c:idx val="5"/>
            <c:invertIfNegative val="0"/>
            <c:bubble3D val="0"/>
            <c:spPr>
              <a:solidFill>
                <a:srgbClr val="F6C90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704-446E-AE9B-141CBD61F2B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Books</c:v>
                </c:pt>
                <c:pt idx="1">
                  <c:v>Sports</c:v>
                </c:pt>
                <c:pt idx="2">
                  <c:v>Home &amp; Living</c:v>
                </c:pt>
                <c:pt idx="3">
                  <c:v>Beauty</c:v>
                </c:pt>
                <c:pt idx="4">
                  <c:v>Clothing</c:v>
                </c:pt>
                <c:pt idx="5">
                  <c:v>Electronics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</c:v>
                </c:pt>
                <c:pt idx="1">
                  <c:v>52</c:v>
                </c:pt>
                <c:pt idx="2">
                  <c:v>68</c:v>
                </c:pt>
                <c:pt idx="3">
                  <c:v>74</c:v>
                </c:pt>
                <c:pt idx="4">
                  <c:v>91</c:v>
                </c:pt>
                <c:pt idx="5">
                  <c:v>112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704-446E-AE9B-141CBD61F2B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Avg Purchase Amount ($): Discount vs No Discount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Discount</c:v>
                </c:pt>
              </c:strCache>
            </c:strRef>
          </c:tx>
          <c:spPr>
            <a:solidFill>
              <a:srgbClr val="CBD5E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Electronics</c:v>
                </c:pt>
                <c:pt idx="1">
                  <c:v>Clothing</c:v>
                </c:pt>
                <c:pt idx="2">
                  <c:v>Beauty</c:v>
                </c:pt>
                <c:pt idx="3">
                  <c:v>Home &amp; Living</c:v>
                </c:pt>
                <c:pt idx="4">
                  <c:v>Sports</c:v>
                </c:pt>
                <c:pt idx="5">
                  <c:v>Books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210</c:v>
                </c:pt>
                <c:pt idx="1">
                  <c:v>95</c:v>
                </c:pt>
                <c:pt idx="2">
                  <c:v>88</c:v>
                </c:pt>
                <c:pt idx="3">
                  <c:v>72</c:v>
                </c:pt>
                <c:pt idx="4">
                  <c:v>60</c:v>
                </c:pt>
                <c:pt idx="5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B0-47B8-9621-A3FC655619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Discount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Electronics</c:v>
                </c:pt>
                <c:pt idx="1">
                  <c:v>Clothing</c:v>
                </c:pt>
                <c:pt idx="2">
                  <c:v>Beauty</c:v>
                </c:pt>
                <c:pt idx="3">
                  <c:v>Home &amp; Living</c:v>
                </c:pt>
                <c:pt idx="4">
                  <c:v>Sports</c:v>
                </c:pt>
                <c:pt idx="5">
                  <c:v>Books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265</c:v>
                </c:pt>
                <c:pt idx="1">
                  <c:v>138</c:v>
                </c:pt>
                <c:pt idx="2">
                  <c:v>115</c:v>
                </c:pt>
                <c:pt idx="3">
                  <c:v>104</c:v>
                </c:pt>
                <c:pt idx="4">
                  <c:v>89</c:v>
                </c:pt>
                <c:pt idx="5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8B0-47B8-9621-A3FC655619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Avg Spend by Purchase Frequency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Spend per Visit ($)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F4F-4160-A078-3821CF62BFE7}"/>
              </c:ext>
            </c:extLst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F4F-4160-A078-3821CF62BFE7}"/>
              </c:ext>
            </c:extLst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F4F-4160-A078-3821CF62BFE7}"/>
              </c:ext>
            </c:extLst>
          </c:dPt>
          <c:dPt>
            <c:idx val="3"/>
            <c:invertIfNegative val="0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F4F-4160-A078-3821CF62BFE7}"/>
              </c:ext>
            </c:extLst>
          </c:dPt>
          <c:dPt>
            <c:idx val="4"/>
            <c:invertIfNegative val="0"/>
            <c:bubble3D val="0"/>
            <c:spPr>
              <a:solidFill>
                <a:srgbClr val="F6C90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F4F-4160-A078-3821CF62BFE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1–2 orders</c:v>
                </c:pt>
                <c:pt idx="1">
                  <c:v>3–4 orders</c:v>
                </c:pt>
                <c:pt idx="2">
                  <c:v>5–6 orders</c:v>
                </c:pt>
                <c:pt idx="3">
                  <c:v>7–9 orders</c:v>
                </c:pt>
                <c:pt idx="4">
                  <c:v>10+ orders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</c:v>
                </c:pt>
                <c:pt idx="1">
                  <c:v>74</c:v>
                </c:pt>
                <c:pt idx="2">
                  <c:v>89</c:v>
                </c:pt>
                <c:pt idx="3">
                  <c:v>112</c:v>
                </c:pt>
                <c:pt idx="4">
                  <c:v>143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F4F-4160-A078-3821CF62BF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Revenue &amp; Orders by Region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West</c:v>
                </c:pt>
                <c:pt idx="1">
                  <c:v>North</c:v>
                </c:pt>
                <c:pt idx="2">
                  <c:v>East</c:v>
                </c:pt>
                <c:pt idx="3">
                  <c:v>South</c:v>
                </c:pt>
                <c:pt idx="4">
                  <c:v>Central</c:v>
                </c:pt>
                <c:pt idx="5">
                  <c:v>Northeast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148</c:v>
                </c:pt>
                <c:pt idx="1">
                  <c:v>132</c:v>
                </c:pt>
                <c:pt idx="2">
                  <c:v>121</c:v>
                </c:pt>
                <c:pt idx="3">
                  <c:v>115</c:v>
                </c:pt>
                <c:pt idx="4">
                  <c:v>98</c:v>
                </c:pt>
                <c:pt idx="5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FD-476C-B520-3DC455D6783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Orders (K)</c:v>
                </c:pt>
              </c:strCache>
            </c:strRef>
          </c:tx>
          <c:spPr>
            <a:solidFill>
              <a:srgbClr val="F6C90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West</c:v>
                </c:pt>
                <c:pt idx="1">
                  <c:v>North</c:v>
                </c:pt>
                <c:pt idx="2">
                  <c:v>East</c:v>
                </c:pt>
                <c:pt idx="3">
                  <c:v>South</c:v>
                </c:pt>
                <c:pt idx="4">
                  <c:v>Central</c:v>
                </c:pt>
                <c:pt idx="5">
                  <c:v>Northeast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3.1</c:v>
                </c:pt>
                <c:pt idx="1">
                  <c:v>2.7</c:v>
                </c:pt>
                <c:pt idx="2">
                  <c:v>2.4</c:v>
                </c:pt>
                <c:pt idx="3">
                  <c:v>2.2000000000000002</c:v>
                </c:pt>
                <c:pt idx="4">
                  <c:v>2</c:v>
                </c:pt>
                <c:pt idx="5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FD-476C-B520-3DC455D678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Payment Method Share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8AA-481C-9D35-3D4F03BBDF98}"/>
              </c:ext>
            </c:extLst>
          </c:dPt>
          <c:dPt>
            <c:idx val="1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8AA-481C-9D35-3D4F03BBDF98}"/>
              </c:ext>
            </c:extLst>
          </c:dPt>
          <c:dPt>
            <c:idx val="2"/>
            <c:bubble3D val="0"/>
            <c:spPr>
              <a:solidFill>
                <a:srgbClr val="F6C90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8AA-481C-9D35-3D4F03BBDF98}"/>
              </c:ext>
            </c:extLst>
          </c:dPt>
          <c:dPt>
            <c:idx val="3"/>
            <c:bubble3D val="0"/>
            <c:spPr>
              <a:solidFill>
                <a:srgbClr val="CBD5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8AA-481C-9D35-3D4F03BBDF98}"/>
              </c:ext>
            </c:extLst>
          </c:dPt>
          <c:dPt>
            <c:idx val="4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8AA-481C-9D35-3D4F03BBDF9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8AA-481C-9D35-3D4F03BBDF9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8AA-481C-9D35-3D4F03BBDF9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8AA-481C-9D35-3D4F03BBDF98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8AA-481C-9D35-3D4F03BBDF98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8AA-481C-9D35-3D4F03BBDF9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Credit Card</c:v>
                </c:pt>
                <c:pt idx="1">
                  <c:v>Digital Wallet</c:v>
                </c:pt>
                <c:pt idx="2">
                  <c:v>Debit Card</c:v>
                </c:pt>
                <c:pt idx="3">
                  <c:v>COD</c:v>
                </c:pt>
                <c:pt idx="4">
                  <c:v>Bank Transfer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</c:v>
                </c:pt>
                <c:pt idx="1">
                  <c:v>31</c:v>
                </c:pt>
                <c:pt idx="2">
                  <c:v>13</c:v>
                </c:pt>
                <c:pt idx="3">
                  <c:v>8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8AA-481C-9D35-3D4F03BBDF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Order Status Breakdown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02D-48DA-AECC-510351DFC0D0}"/>
              </c:ext>
            </c:extLst>
          </c:dPt>
          <c:dPt>
            <c:idx val="1"/>
            <c:invertIfNegative val="0"/>
            <c:bubble3D val="0"/>
            <c:spPr>
              <a:solidFill>
                <a:srgbClr val="F6C90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02D-48DA-AECC-510351DFC0D0}"/>
              </c:ext>
            </c:extLst>
          </c:dPt>
          <c:dPt>
            <c:idx val="2"/>
            <c:invertIfNegative val="0"/>
            <c:bubble3D val="0"/>
            <c:spPr>
              <a:solidFill>
                <a:srgbClr val="B755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02D-48DA-AECC-510351DFC0D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Completed</c:v>
                </c:pt>
                <c:pt idx="1">
                  <c:v>Returned</c:v>
                </c:pt>
                <c:pt idx="2">
                  <c:v>Canceled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7840</c:v>
                </c:pt>
                <c:pt idx="1">
                  <c:v>1320</c:v>
                </c:pt>
                <c:pt idx="2">
                  <c:v>840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02D-48DA-AECC-510351DFC0D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Actual vs Predicted Monthly Revenue ($)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Revenue</c:v>
                </c:pt>
              </c:strCache>
            </c:strRef>
          </c:tx>
          <c:spPr>
            <a:ln w="31750" cap="flat">
              <a:solidFill>
                <a:srgbClr val="0D1B2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1B2A"/>
              </a:solidFill>
              <a:ln w="9525" cap="flat">
                <a:solidFill>
                  <a:srgbClr val="0D1B2A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42000</c:v>
                </c:pt>
                <c:pt idx="1">
                  <c:v>38500</c:v>
                </c:pt>
                <c:pt idx="2">
                  <c:v>45200</c:v>
                </c:pt>
                <c:pt idx="3">
                  <c:v>47800</c:v>
                </c:pt>
                <c:pt idx="4">
                  <c:v>51000</c:v>
                </c:pt>
                <c:pt idx="5">
                  <c:v>49500</c:v>
                </c:pt>
                <c:pt idx="6">
                  <c:v>53200</c:v>
                </c:pt>
                <c:pt idx="7">
                  <c:v>58900</c:v>
                </c:pt>
                <c:pt idx="8">
                  <c:v>55400</c:v>
                </c:pt>
                <c:pt idx="9">
                  <c:v>61200</c:v>
                </c:pt>
                <c:pt idx="10">
                  <c:v>75400</c:v>
                </c:pt>
                <c:pt idx="11">
                  <c:v>82000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793-4975-BEDF-545AC5DF8D5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Predicted Revenue</c:v>
                </c:pt>
              </c:strCache>
            </c:strRef>
          </c:tx>
          <c:spPr>
            <a:ln w="31750" cap="flat">
              <a:solidFill>
                <a:srgbClr val="00A8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A896"/>
              </a:solidFill>
              <a:ln w="9525" cap="flat">
                <a:solidFill>
                  <a:srgbClr val="00A896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40800</c:v>
                </c:pt>
                <c:pt idx="1">
                  <c:v>39200</c:v>
                </c:pt>
                <c:pt idx="2">
                  <c:v>44100</c:v>
                </c:pt>
                <c:pt idx="3">
                  <c:v>48500</c:v>
                </c:pt>
                <c:pt idx="4">
                  <c:v>50200</c:v>
                </c:pt>
                <c:pt idx="5">
                  <c:v>51000</c:v>
                </c:pt>
                <c:pt idx="6">
                  <c:v>52800</c:v>
                </c:pt>
                <c:pt idx="7">
                  <c:v>57600</c:v>
                </c:pt>
                <c:pt idx="8">
                  <c:v>56200</c:v>
                </c:pt>
                <c:pt idx="9">
                  <c:v>62400</c:v>
                </c:pt>
                <c:pt idx="10">
                  <c:v>74800</c:v>
                </c:pt>
                <c:pt idx="11">
                  <c:v>83200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793-4975-BEDF-545AC5DF8D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Customer Segment Distribution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3DF-481F-9D5E-2EF8F7EA3F62}"/>
              </c:ext>
            </c:extLst>
          </c:dPt>
          <c:dPt>
            <c:idx val="1"/>
            <c:bubble3D val="0"/>
            <c:spPr>
              <a:solidFill>
                <a:srgbClr val="F6C90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3DF-481F-9D5E-2EF8F7EA3F62}"/>
              </c:ext>
            </c:extLst>
          </c:dPt>
          <c:dPt>
            <c:idx val="2"/>
            <c:bubble3D val="0"/>
            <c:spPr>
              <a:solidFill>
                <a:srgbClr val="B755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3DF-481F-9D5E-2EF8F7EA3F62}"/>
              </c:ext>
            </c:extLst>
          </c:dPt>
          <c:dPt>
            <c:idx val="3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3DF-481F-9D5E-2EF8F7EA3F6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DF-481F-9D5E-2EF8F7EA3F6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3DF-481F-9D5E-2EF8F7EA3F6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3DF-481F-9D5E-2EF8F7EA3F62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3DF-481F-9D5E-2EF8F7EA3F6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Champions (High RFM)</c:v>
                </c:pt>
                <c:pt idx="1">
                  <c:v>Loyal Customers</c:v>
                </c:pt>
                <c:pt idx="2">
                  <c:v>At-Risk / Dormant</c:v>
                </c:pt>
                <c:pt idx="3">
                  <c:v>New Customers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34</c:v>
                </c:pt>
                <c:pt idx="2">
                  <c:v>28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3DF-481F-9D5E-2EF8F7EA3F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Feature Importance Scores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Score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Days Since Order</c:v>
                </c:pt>
                <c:pt idx="1">
                  <c:v>Avg Spend</c:v>
                </c:pt>
                <c:pt idx="2">
                  <c:v>Purchase Freq</c:v>
                </c:pt>
                <c:pt idx="3">
                  <c:v>Discount Level</c:v>
                </c:pt>
                <c:pt idx="4">
                  <c:v>Age</c:v>
                </c:pt>
                <c:pt idx="5">
                  <c:v>Category</c:v>
                </c:pt>
                <c:pt idx="6">
                  <c:v>Region</c:v>
                </c:pt>
                <c:pt idx="7">
                  <c:v>Gender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0.28000000000000003</c:v>
                </c:pt>
                <c:pt idx="1">
                  <c:v>0.22</c:v>
                </c:pt>
                <c:pt idx="2">
                  <c:v>0.18</c:v>
                </c:pt>
                <c:pt idx="3">
                  <c:v>0.12</c:v>
                </c:pt>
                <c:pt idx="4">
                  <c:v>0.08</c:v>
                </c:pt>
                <c:pt idx="5">
                  <c:v>0.06</c:v>
                </c:pt>
                <c:pt idx="6">
                  <c:v>0.04</c:v>
                </c:pt>
                <c:pt idx="7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37-4D5D-94F3-0E29F825C3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Churn Rate by Customer Segment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FCB-4D36-A8A3-A4B3F7438B1B}"/>
              </c:ext>
            </c:extLst>
          </c:dPt>
          <c:dPt>
            <c:idx val="1"/>
            <c:invertIfNegative val="0"/>
            <c:bubble3D val="0"/>
            <c:spPr>
              <a:solidFill>
                <a:srgbClr val="B755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FCB-4D36-A8A3-A4B3F7438B1B}"/>
              </c:ext>
            </c:extLst>
          </c:dPt>
          <c:dPt>
            <c:idx val="2"/>
            <c:invertIfNegative val="0"/>
            <c:bubble3D val="0"/>
            <c:spPr>
              <a:solidFill>
                <a:srgbClr val="F6C90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FCB-4D36-A8A3-A4B3F7438B1B}"/>
              </c:ext>
            </c:extLst>
          </c:dPt>
          <c:dPt>
            <c:idx val="3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FCB-4D36-A8A3-A4B3F7438B1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New</c:v>
                </c:pt>
                <c:pt idx="1">
                  <c:v>At-Risk</c:v>
                </c:pt>
                <c:pt idx="2">
                  <c:v>Loyal</c:v>
                </c:pt>
                <c:pt idx="3">
                  <c:v>Champions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</c:v>
                </c:pt>
                <c:pt idx="1">
                  <c:v>61</c:v>
                </c:pt>
                <c:pt idx="2">
                  <c:v>14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FCB-4D36-A8A3-A4B3F7438B1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0963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This presentation covers the full e-commerce data analysis capstone: data cleaning, EDA, machine learning, and business insights derived from customer transaction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Objectives: Clean data, perform EDA, investigate demographic influences, examine product/discount impact, compare regional sales, build predictive models, and evaluate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contains structured tabular data with 13 variables covering demographics, transaction details, and satisfaction. It is suitable for EDA, ML, and business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cleaning steps: handling missing values (median imputation), removing duplicates, parsing dates, and encoding categorical variables for ML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finding: The 35–44 age bracket drives the most purchases. Targeting this group with personalized promotions should yield strong returns. Gender is nearly equal.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Sales trend shows strong seasonality. November and December are peak months likely driven by holiday promotions. Businesses should prepare inventory and campaigns for Q4.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category analysis reveals Electronics and Clothing drive most revenue. Beauty, though 3rd in revenue, has highest average order value — a premium segment to nurture.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Discount impact analysis: All categories show higher purchase amounts when discounts are applied. The sweet spot is 15–20%. Deeper discounts hurt margins without proportional volume gains.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Spending patterns show a direct correlation between purchase frequency and order value. High-frequency customers are the most valuable segment and should be prioritized in loyalty programs.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Regional analysis: Performance varies significantly by geography. Western region leads. Northeast needs investment in customer acquisition campaigns to close the performance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Payment trends show a shift toward digital payments (75% combined). COD is declining. Order returns are concentrated in Clothing — size guides and better product images can reduce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engineering creates domain-relevant signals that significantly improve model accuracy. Recency, Frequency, and Monetary (RFM) variables are especially powerful for customer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ML tasks address the core business questions: revenue planning (forecasting), customer understanding (segmentation), growth (purchase prediction), and risk management (churn).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Sales forecasting using XGBoost achieved 94% explanatory power. The model closely tracks actual revenue, making it viable for real-world production use in demand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K-Means clustering with RFM features produced 4 actionable customer segments. The silhouette score of 0.62 indicates well-separated clusters suitable for targeted marketing.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Forest classifier predicts whether a customer will make a purchase in the next 30 days with 87% accuracy. Behavioral features dominate demographic ones in predictive 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Churn analysis reveals the At-Risk segment as the highest priority. The XGBoost model achieves AUC=0.89, meaning it correctly identifies churners 89% of the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evaluation confirms all four models are production-ready. XGBoost was the strongest performer. Cross-validation prevented overfitting. Feature importance was consistent across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6 recommendations are directly derived from the data. Each is quantifiable and actionable. Priority order: At-Risk re-engagement &gt; Q4 prep &gt; Northeast growth &gt; Precision discounting.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demonstrated the full data science lifecycle applied to e-commerce. From raw transaction data to production-ready models, every stage added measurable analytical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199" y="485422"/>
            <a:ext cx="7761111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3600" i="1" dirty="0">
                <a:solidFill>
                  <a:srgbClr val="A0AEC0"/>
                </a:solidFill>
              </a:rPr>
              <a:t>Uncovering Patterns in</a:t>
            </a:r>
          </a:p>
          <a:p>
            <a:pPr algn="r"/>
            <a:r>
              <a:rPr lang="en-US" sz="3600" i="1" dirty="0">
                <a:solidFill>
                  <a:srgbClr val="A0AEC0"/>
                </a:solidFill>
              </a:rPr>
              <a:t> Customer Behavior, Sales Performance &amp; Predictive Analytics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795302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b="1" i="1" dirty="0">
                <a:solidFill>
                  <a:schemeClr val="bg1">
                    <a:lumMod val="95000"/>
                  </a:schemeClr>
                </a:solidFill>
              </a:rPr>
              <a:t>E-Commerce Dataset</a:t>
            </a:r>
          </a:p>
          <a:p>
            <a:pPr algn="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KIBIDI K. LERENCER|      00/04/2026</a:t>
            </a:r>
            <a:b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Chuka University: Center For Data Analytics &amp; Modeling</a:t>
            </a:r>
            <a:b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 No:  CDAM/0047/2026 </a:t>
            </a:r>
            <a:b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Instructor: PROF K. MURITHI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pPr algn="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7132320" y="274320"/>
            <a:ext cx="2286000" cy="2286000"/>
          </a:xfrm>
          <a:prstGeom prst="ellipse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2011680"/>
            <a:ext cx="1554480" cy="1554480"/>
          </a:xfrm>
          <a:prstGeom prst="ellipse">
            <a:avLst/>
          </a:prstGeom>
          <a:solidFill>
            <a:srgbClr val="F6C90E">
              <a:alpha val="20000"/>
            </a:srgbClr>
          </a:solidFill>
          <a:ln w="12700">
            <a:solidFill>
              <a:srgbClr val="F6C90E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EC0"/>
                </a:solidFill>
              </a:rPr>
              <a:t>Data Science · Machine Learning · Business Intelligence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</a:rPr>
              <a:t>Project Objectives &amp; Scope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60604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Explore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</a:rPr>
              <a:t>Analyze customer demographics, purchasing patterns, and sales trends across regions and product categories.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06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71600"/>
            <a:ext cx="260604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5087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91840" y="21031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Predict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25146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</a:rPr>
              <a:t>Build machine learning models for sales forecasting, churn prediction, and customer segmentation.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06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371600"/>
            <a:ext cx="260604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5087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26480" y="21031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Insights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3640" y="25146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</a:rPr>
              <a:t>Generate actionable recommendations to improve revenue, inventory, and marketing performance.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E8F4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48056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4D5C"/>
                </a:solidFill>
              </a:rPr>
              <a:t>📌 The project covers 8 workflow stages: data collection, cleaning, EDA, visualization, feature engineering, ML modeling, evaluation, and business insights.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DATASET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</a:rPr>
              <a:t>Dataset Description &amp; Variables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3680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Customer ID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Unique identifier per customer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Age / Gender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Customer demographic attributes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Location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Geographic region of customer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Product Category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Type of product purchased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Product Price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Item price before discount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Quantity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Number of units ordered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Discount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Discount applied to purchase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Payment Method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Payment channel used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Order Status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Completed / Canceled / Returned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Customer Rating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Satisfaction score (1–5)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Purchase Amount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Total expenditure per order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Shipping Cost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Delivery cost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STEP 1–2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</a:rPr>
              <a:t>Data Collection &amp; Cleaning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320040" cy="3200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533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325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Import &amp; Load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6459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Loaded the e-commerce CSV dataset into Python using Pandas; reviewed shape, dtypes, and sample rows.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320040" cy="3200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11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9842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Missing Values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30428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Identified nulls in Discount and Shipping Cost columns. Imputed using median values per product category.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70048"/>
            <a:ext cx="320040" cy="3200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700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6426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Duplicates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96265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Removed 312 duplicate Order IDs retaining the most recent transaction record per customer.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328416"/>
            <a:ext cx="320040" cy="3200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284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30098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Date Parsing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62102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Converted Order Date to datetime; extracted Month, Quarter, Day-of-Week features.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986784"/>
            <a:ext cx="320040" cy="3200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867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9593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Encoding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427939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One-hot encoded: Gender, Payment Method, Order Status. Label-encoded: Product Category, Location.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03520" y="1280160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03520" y="1280160"/>
            <a:ext cx="18288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1417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</a:rPr>
              <a:t>~10K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530352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Total Records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0" y="1280160"/>
            <a:ext cx="1554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0" y="1280160"/>
            <a:ext cx="1554480" cy="64008"/>
          </a:xfrm>
          <a:prstGeom prst="rect">
            <a:avLst/>
          </a:prstGeom>
          <a:solidFill>
            <a:srgbClr val="B7551A"/>
          </a:solidFill>
          <a:ln w="12700">
            <a:solidFill>
              <a:srgbClr val="B755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14173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7551A"/>
                </a:solidFill>
              </a:rPr>
              <a:t>312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7315200" y="20116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Duplicates Removed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0" y="2423160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303520" y="2423160"/>
            <a:ext cx="18288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0" y="2560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</a:rPr>
              <a:t>13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5303520" y="3154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Feature Variables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315200" y="2423160"/>
            <a:ext cx="1554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315200" y="2423160"/>
            <a:ext cx="155448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25603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2A"/>
                </a:solidFill>
              </a:rPr>
              <a:t>2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7315200" y="31546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Imputed Cols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303520" y="3566160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303520" y="3566160"/>
            <a:ext cx="356616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0" y="37033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</a:rPr>
              <a:t>Clean Dataset Ready for Analysis ✓</a:t>
            </a:r>
            <a:endParaRPr lang="en-US" sz="3000" dirty="0"/>
          </a:p>
        </p:txBody>
      </p:sp>
      <p:sp>
        <p:nvSpPr>
          <p:cNvPr id="44" name="Text 42"/>
          <p:cNvSpPr/>
          <p:nvPr/>
        </p:nvSpPr>
        <p:spPr>
          <a:xfrm>
            <a:off x="5303520" y="4297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E8F4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448056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4D5C"/>
                </a:solidFill>
              </a:rPr>
              <a:t>📌 Data cleaning reduced noise and ensured consistent formats, enabling reliable downstream analysis and model training.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EDA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</a:rPr>
              <a:t>Customer Demographics Analysis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8016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303520" y="1280160"/>
          <a:ext cx="34747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E8F4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02920" y="448056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4D5C"/>
                </a:solidFill>
              </a:rPr>
              <a:t>📌 Ages 35–44 are the dominant buying group. Gender split is nearly equal (Male 48%, Female 49%), indicating broad demographic appeal.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EDA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</a:rPr>
              <a:t>Sales Trends Over Time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80160"/>
          <a:ext cx="8229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E8F4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48056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4D5C"/>
                </a:solidFill>
              </a:rPr>
              <a:t>📌 Revenue peaks in Nov–Dec (holiday season). Consistent growth pattern observed with a mid-year dip in Feb. Q4 generates ~40% of annual revenue.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EDA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</a:rPr>
              <a:t>Product Category Performance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8016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280160"/>
            <a:ext cx="3017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52160" y="1325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🖥️  Electronics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52160" y="16002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</a:rPr>
              <a:t>$112K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040880" y="16276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Top revenue category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60720" y="2029968"/>
            <a:ext cx="3017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852160" y="20756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👕  Clothing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52160" y="23500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</a:rPr>
              <a:t>$91K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040880" y="23774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Highest order volume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60720" y="2779776"/>
            <a:ext cx="3017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52160" y="28254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💄  Beauty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852160" y="30998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</a:rPr>
              <a:t>$74K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040880" y="31272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Highest avg order value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760720" y="3529584"/>
            <a:ext cx="3017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852160" y="35753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📚  Books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852160" y="384962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</a:rPr>
              <a:t>$38K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040880" y="387705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Lowest revenue; lowest price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E8F4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448056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4D5C"/>
                </a:solidFill>
              </a:rPr>
              <a:t>📌 Electronics leads in revenue; Clothing leads in volume. Beauty has the highest avg order value (~$85), suggesting opportunity for premium upselling.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EDA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</a:rPr>
              <a:t>Impact of Discounts &amp; Promotions on Sales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80160"/>
          <a:ext cx="53035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1280160"/>
            <a:ext cx="2834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35040" y="1280160"/>
            <a:ext cx="283464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35040" y="14173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</a:rPr>
              <a:t>↑ 26%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035040" y="20116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avg lift in purchase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amount with discounts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35040" y="2286000"/>
            <a:ext cx="2834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35040" y="2286000"/>
            <a:ext cx="283464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35040" y="24231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2A"/>
                </a:solidFill>
              </a:rPr>
              <a:t>38%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035040" y="30175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of orders include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a discount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35040" y="3291840"/>
            <a:ext cx="2834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35040" y="3291840"/>
            <a:ext cx="2834640" cy="64008"/>
          </a:xfrm>
          <a:prstGeom prst="rect">
            <a:avLst/>
          </a:prstGeom>
          <a:solidFill>
            <a:srgbClr val="B7551A"/>
          </a:solidFill>
          <a:ln w="12700">
            <a:solidFill>
              <a:srgbClr val="B7551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35040" y="34290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7551A"/>
                </a:solidFill>
              </a:rPr>
              <a:t>15–20%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6035040" y="4023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optimal discount range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for max revenue lift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E8F4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448056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4D5C"/>
                </a:solidFill>
              </a:rPr>
              <a:t>📌 Discounts drive 26% higher purchase amounts on average. However, discounts &gt;25% show diminishing revenue returns — precision targeting is key.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EDA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</a:rPr>
              <a:t>Customer Spending Patterns &amp; Frequency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8016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1280160"/>
            <a:ext cx="54864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52160" y="12801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Repeat Buyers Spend More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52160" y="15361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Customers with 10+ orders spend 2.5× more than first-timers.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669280" y="1993392"/>
            <a:ext cx="54864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52160" y="19933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High-Value Segment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224942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Top 20% of customers generate ~68% of total revenue (Pareto principle).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669280" y="2706624"/>
            <a:ext cx="54864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270662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Churn Risk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52160" y="2962656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Customers inactive for 90+ days show &lt;12% return probability.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69280" y="3419856"/>
            <a:ext cx="54864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34198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Payment Preference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852160" y="367588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Credit card (44%) and digital wallets (31%) dominate. COD declining.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E8F4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448056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4D5C"/>
                </a:solidFill>
              </a:rPr>
              <a:t>📌 Loyalty pays off: frequent buyers spend significantly more per order. Retention strategies targeting at-risk customers could unlock substantial revenue recovery.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EDA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</a:rPr>
              <a:t>Regional &amp; Geographic Sales Performance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80160"/>
          <a:ext cx="54864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217920" y="1280160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355080" y="131673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🏆 West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55080" y="15727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Highest revenue ($148K). Strong Electronics &amp; Clothing demand.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17920" y="2029968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55080" y="206654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📈 North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55080" y="232257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2nd highest. Beauty segment growing fastest at +22% YoY.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217920" y="2779776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355080" y="281635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⚠️ Northeast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55080" y="307238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Lowest performance. Opportunity for targeted campaigns.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3529584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55080" y="356616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🚚 Shipping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55080" y="38221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Avg shipping cost $8.40; West shows highest free-shipping uptake.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E8F4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448056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4D5C"/>
                </a:solidFill>
              </a:rPr>
              <a:t>📌 Western region leads in both revenue and order volume. Northeast represents the biggest untapped growth opportunity with targeted digital marketing.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EDA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</a:rPr>
              <a:t>Payment Methods &amp; Order Status Analysis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34440"/>
          <a:ext cx="38404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572000" y="1234440"/>
          <a:ext cx="42976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E8F4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02920" y="448056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4D5C"/>
                </a:solidFill>
              </a:rPr>
              <a:t>📌 78% of orders are completed. Returns (13%) are highest in Clothing. Reducing return rates by 5% could recover ~$85K in annual revenue.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STEP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</a:rPr>
              <a:t>Feature Engineering &amp; Selection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265176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1435608"/>
            <a:ext cx="594360" cy="201168"/>
          </a:xfrm>
          <a:prstGeom prst="rect">
            <a:avLst/>
          </a:prstGeom>
          <a:solidFill>
            <a:srgbClr val="E6F7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43560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A896"/>
                </a:solidFill>
              </a:rPr>
              <a:t>Derived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66928" y="14356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Purchase Frequency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7373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Orders per customer per quarter. Top predictor of lifetime value.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325880"/>
            <a:ext cx="265176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57800" y="1435608"/>
            <a:ext cx="594360" cy="201168"/>
          </a:xfrm>
          <a:prstGeom prst="rect">
            <a:avLst/>
          </a:prstGeom>
          <a:solidFill>
            <a:srgbClr val="E6F7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143560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A896"/>
                </a:solidFill>
              </a:rPr>
              <a:t>Derived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01568" y="14356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Avg Spend per Order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01568" y="17373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Total spend / orders placed. Segments low vs high-value buyers.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32588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325880"/>
            <a:ext cx="265176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1435608"/>
            <a:ext cx="594360" cy="201168"/>
          </a:xfrm>
          <a:prstGeom prst="rect">
            <a:avLst/>
          </a:prstGeom>
          <a:solidFill>
            <a:srgbClr val="E6F7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143560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A896"/>
                </a:solidFill>
              </a:rPr>
              <a:t>Derived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36208" y="14356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Seasonal Indicator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36208" y="17373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Binary flags for Q4 holiday, Mid-year sale, and Back-to-school periods.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69748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697480"/>
            <a:ext cx="265176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23160" y="2807208"/>
            <a:ext cx="594360" cy="201168"/>
          </a:xfrm>
          <a:prstGeom prst="rect">
            <a:avLst/>
          </a:prstGeom>
          <a:solidFill>
            <a:srgbClr val="E6F7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23160" y="280720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A896"/>
                </a:solidFill>
              </a:rPr>
              <a:t>Derived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66928" y="28072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Days Since Last Order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31089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Recency metric. Key feature for churn and retention models.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91840" y="269748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0" y="2697480"/>
            <a:ext cx="265176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57800" y="2807208"/>
            <a:ext cx="594360" cy="201168"/>
          </a:xfrm>
          <a:prstGeom prst="rect">
            <a:avLst/>
          </a:prstGeom>
          <a:solidFill>
            <a:srgbClr val="E6F7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57800" y="280720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A896"/>
                </a:solidFill>
              </a:rPr>
              <a:t>Derived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401568" y="28072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Discount Sensitivity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01568" y="31089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Correlation between discount level and purchase amount increase.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269748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2697480"/>
            <a:ext cx="265176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92440" y="2807208"/>
            <a:ext cx="594360" cy="201168"/>
          </a:xfrm>
          <a:prstGeom prst="rect">
            <a:avLst/>
          </a:prstGeom>
          <a:solidFill>
            <a:srgbClr val="E6F7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92440" y="280720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A896"/>
                </a:solidFill>
              </a:rPr>
              <a:t>Derived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36208" y="28072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Shipping Cost Ratio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36208" y="31089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Shipping cost as % of order total. Predicts free-shipping preference.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E8F4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48056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4D5C"/>
                </a:solidFill>
              </a:rPr>
              <a:t>📌 6 new engineered features were created. Feature importance analysis (Random Forest) ranked Purchase Frequency, Days Since Last Order, and Avg Spend as top 3 predictors.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Machine Learning Models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AEC0"/>
                </a:solidFill>
              </a:rPr>
              <a:t>Four predictive tasks — one comprehensive analytics framework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20240" cy="3108960"/>
          </a:xfrm>
          <a:prstGeom prst="rect">
            <a:avLst/>
          </a:prstGeom>
          <a:solidFill>
            <a:srgbClr val="132233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192024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96"/>
                </a:solidFill>
              </a:rPr>
              <a:t>Sales Forecasting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67004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AEC0"/>
                </a:solidFill>
              </a:rPr>
              <a:t>Algorithm: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89864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Linear Regression + XGBoost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326440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AEC0"/>
                </a:solidFill>
              </a:rPr>
              <a:t>Target: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349300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Predict monthly revenue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1417320"/>
            <a:ext cx="1920240" cy="3108960"/>
          </a:xfrm>
          <a:prstGeom prst="rect">
            <a:avLst/>
          </a:prstGeom>
          <a:solidFill>
            <a:srgbClr val="132233"/>
          </a:solidFill>
          <a:ln w="19050">
            <a:solidFill>
              <a:srgbClr val="F6C90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0" y="1417320"/>
            <a:ext cx="1920240" cy="6400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5544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651760" y="2103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C90E"/>
                </a:solidFill>
              </a:rPr>
              <a:t>Customer Segmentation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70048" y="267004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AEC0"/>
                </a:solidFill>
              </a:rPr>
              <a:t>Algorithm: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70048" y="289864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K-Means Clustering (k=4)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70048" y="326440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AEC0"/>
                </a:solidFill>
              </a:rPr>
              <a:t>Target: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70048" y="349300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Group customers by RFM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417320"/>
            <a:ext cx="1920240" cy="3108960"/>
          </a:xfrm>
          <a:prstGeom prst="rect">
            <a:avLst/>
          </a:prstGeom>
          <a:solidFill>
            <a:srgbClr val="132233"/>
          </a:solidFill>
          <a:ln w="1905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417320"/>
            <a:ext cx="19202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5544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🔮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754880" y="2103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</a:rPr>
              <a:t>Purchase Prediction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73168" y="267004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AEC0"/>
                </a:solidFill>
              </a:rPr>
              <a:t>Algorithm: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73168" y="289864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Random Forest Classifier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3168" y="326440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AEC0"/>
                </a:solidFill>
              </a:rPr>
              <a:t>Target: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73168" y="349300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Predict next purchase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66560" y="1417320"/>
            <a:ext cx="1920240" cy="3108960"/>
          </a:xfrm>
          <a:prstGeom prst="rect">
            <a:avLst/>
          </a:prstGeom>
          <a:solidFill>
            <a:srgbClr val="132233"/>
          </a:solidFill>
          <a:ln w="19050">
            <a:solidFill>
              <a:srgbClr val="B755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66560" y="1417320"/>
            <a:ext cx="1920240" cy="64008"/>
          </a:xfrm>
          <a:prstGeom prst="rect">
            <a:avLst/>
          </a:prstGeom>
          <a:solidFill>
            <a:srgbClr val="B7551A"/>
          </a:solidFill>
          <a:ln w="12700">
            <a:solidFill>
              <a:srgbClr val="B755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15544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⚠️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858000" y="2103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7551A"/>
                </a:solidFill>
              </a:rPr>
              <a:t>Churn Analysis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76288" y="267004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AEC0"/>
                </a:solidFill>
              </a:rPr>
              <a:t>Algorithm: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76288" y="289864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Logistic Regression + XGBoost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76288" y="326440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AEC0"/>
                </a:solidFill>
              </a:rPr>
              <a:t>Target: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76288" y="349300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Flag at-risk customers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MODEL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</a:rPr>
              <a:t>Sales Forecasting Model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80160"/>
          <a:ext cx="56692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280160"/>
            <a:ext cx="24688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0" y="1280160"/>
            <a:ext cx="246888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0" y="14173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</a:rPr>
              <a:t>R² = 0.94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400800" y="2011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Model Fit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0" y="2240280"/>
            <a:ext cx="24688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2240280"/>
            <a:ext cx="246888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23774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2A"/>
                </a:solidFill>
              </a:rPr>
              <a:t>MAE: $1,820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400800" y="2971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Mean Abs Error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0" y="3200400"/>
            <a:ext cx="24688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0" y="3200400"/>
            <a:ext cx="246888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0" y="3337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</a:rPr>
              <a:t>RMSE: $2,340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6400800" y="3931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Root MSE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E8F4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448056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4D5C"/>
                </a:solidFill>
              </a:rPr>
              <a:t>📌 XGBoost outperformed Linear Regression (R²=0.94 vs 0.81). Top predictors: Month, Seasonal Flag, Avg Discount Level, and Product Category.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MODEL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</a:rPr>
              <a:t>Customer Segmentation – K-Means Clustering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34440"/>
          <a:ext cx="38404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572000" y="1280160"/>
            <a:ext cx="4297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0" y="1280160"/>
            <a:ext cx="64008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09160" y="1325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Champions  22%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09160" y="162763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Avg Spend: $143  |  10+ orders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0" y="2029968"/>
            <a:ext cx="4297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2029968"/>
            <a:ext cx="64008" cy="64008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09160" y="20756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Loyal  34%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09160" y="23774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Avg Spend: $89  |  5–9 orders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0" y="2779776"/>
            <a:ext cx="4297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2779776"/>
            <a:ext cx="64008" cy="640080"/>
          </a:xfrm>
          <a:prstGeom prst="rect">
            <a:avLst/>
          </a:prstGeom>
          <a:solidFill>
            <a:srgbClr val="B7551A"/>
          </a:solidFill>
          <a:ln w="12700">
            <a:solidFill>
              <a:srgbClr val="B7551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09160" y="28254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At-Risk  28%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09160" y="31272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Avg Spend: $61  |  1–2 orders (inactive)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0" y="3529584"/>
            <a:ext cx="4297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0" y="3529584"/>
            <a:ext cx="64008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09160" y="35753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New  16%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709160" y="387705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Avg Spend: $58  |  1–2 orders (recent)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E8F4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448056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4D5C"/>
                </a:solidFill>
              </a:rPr>
              <a:t>📌 K-Means (k=4) identified 4 meaningful segments. Champions (22%) drive disproportionate revenue. At-Risk segment (28%) is a priority for re-engagement campaigns.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MODEL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</a:rPr>
              <a:t>Purchase Behavior Prediction – Random Forest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80160"/>
          <a:ext cx="53035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1280160"/>
            <a:ext cx="2834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35040" y="1280160"/>
            <a:ext cx="283464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35040" y="14173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</a:rPr>
              <a:t>Accuracy: 87%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035040" y="20116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Overall classification accuracy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35040" y="2240280"/>
            <a:ext cx="2834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35040" y="2240280"/>
            <a:ext cx="283464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35040" y="23774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2A"/>
                </a:solidFill>
              </a:rPr>
              <a:t>F1: 0.85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035040" y="29718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Weighted F1-Score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35040" y="3200400"/>
            <a:ext cx="2834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35040" y="3200400"/>
            <a:ext cx="283464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35040" y="33375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</a:rPr>
              <a:t>Precision: 89%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6035040" y="3931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Positive Class Precision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E8F4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448056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4D5C"/>
                </a:solidFill>
              </a:rPr>
              <a:t>📌 Top features: recency (Days Since Order), monetary value (Avg Spend), and frequency. Demographics (Gender, Age) contribute less than behavioral signals.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MODEL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</a:rPr>
              <a:t>Customer Churn Analysis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8016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280160"/>
            <a:ext cx="3108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97880" y="131673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⚠️ At-Risk: 61% churn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97880" y="160934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Biggest churn risk. 90+ days inactive. Need win-back offers.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60720" y="2029968"/>
            <a:ext cx="3108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97880" y="206654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🆕 New: 34% churn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97880" y="23591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High dropout after first order. Onboarding programs can help.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60720" y="2779776"/>
            <a:ext cx="3108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897880" y="28163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🥇 Champions: 5% churn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97880" y="31089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Loyal high spenders. Focus on retention perks.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60720" y="3529584"/>
            <a:ext cx="3108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897880" y="35661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Model AUC: 0.89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897880" y="385876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XGBoost churn model. Strong discriminatory power.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E8F4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448056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4D5C"/>
                </a:solidFill>
              </a:rPr>
              <a:t>📌 The At-Risk segment (28% of customers) has a 61% churn rate. A targeted re-engagement campaign offering 15% discount could recover an estimated $142K annually.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STEP 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</a:rPr>
              <a:t>Model Evaluation Summary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Key Metric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</a:rPr>
                        <a:t>Sales Forecasting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</a:rPr>
                        <a:t>XGBoost Regressor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</a:rPr>
                        <a:t>R² / RMSE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</a:rPr>
                        <a:t>0.94 / $2,340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</a:rPr>
                        <a:t>✅ Production Ready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</a:rPr>
                        <a:t>Customer Segmentation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</a:rPr>
                        <a:t>K-Means (k=4)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</a:rPr>
                        <a:t>Silhouette Score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</a:rPr>
                        <a:t>0.62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</a:rPr>
                        <a:t>✅ Deployed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</a:rPr>
                        <a:t>Purchase Prediction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</a:rPr>
                        <a:t>Random Forest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</a:rPr>
                        <a:t>Accuracy / F1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</a:rPr>
                        <a:t>87% / 0.85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</a:rPr>
                        <a:t>✅ Production Ready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</a:rPr>
                        <a:t>Churn Analysis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</a:rPr>
                        <a:t>XGBoost Classifier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</a:rPr>
                        <a:t>AUC-ROC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</a:rPr>
                        <a:t>0.89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</a:rPr>
                        <a:t>✅ Production Ready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E6F7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3840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4D5C"/>
                </a:solidFill>
              </a:rPr>
              <a:t>All models meet the production threshold (R²&gt;0.85, AUC&gt;0.80, Accuracy&gt;80%). Key insight: behavioral features outperform demographic features across all models.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E8F4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48056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4D5C"/>
                </a:solidFill>
              </a:rPr>
              <a:t>📌 Evaluation used 80/20 train-test split with 5-fold cross-validation. XGBoost consistently outperformed simpler models on both regression and classification tasks.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INSIGHTS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</a:rPr>
              <a:t>Key Business Insights &amp; Recommendations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417320"/>
            <a:ext cx="365760" cy="3657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24128" y="14173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Double down on Electronics &amp; Clothing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783080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These two categories generate 47% of total revenue. Expand SKUs, negotiate better supplier rates, and create bundle deals.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3258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10328" y="1417320"/>
            <a:ext cx="365760" cy="3657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67528" y="14173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Target the At-Risk Segment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783080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28% of customers show churn signals. Launch personalized win-back offers (15–20% discount) to recover $142K+ in projected revenue.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" y="2606040"/>
            <a:ext cx="365760" cy="3657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24128" y="2606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Optimize Q4 Inventory Early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2971800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Revenue peaks in Nov–Dec (+52% vs avg month). Start inventory buildup by September and launch pre-holiday email campaigns.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5146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10328" y="2606040"/>
            <a:ext cx="365760" cy="3657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67528" y="2606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Precision Discounting Strategy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10328" y="2971800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Limit blanket discounts. Apply targeted discounts to high-frequency buyers and At-Risk customers only to protect margins.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7033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6928" y="3794760"/>
            <a:ext cx="365760" cy="3657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" y="3794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Invest in Northeast Region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8" y="4160520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The lowest-performing region. Targeted digital ads + free shipping threshold reduction could drive $30K+ incremental revenue.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7033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10328" y="3794760"/>
            <a:ext cx="365760" cy="3657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67528" y="3794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Loyalty Program Expansion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10328" y="4160520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Champions (22%) drive the highest revenue. Expand VIP perks, early access, and referral bonuses to reduce their 5% churn further.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182880"/>
            <a:ext cx="2743200" cy="2743200"/>
          </a:xfrm>
          <a:prstGeom prst="ellipse">
            <a:avLst/>
          </a:prstGeom>
          <a:solidFill>
            <a:srgbClr val="00A896">
              <a:alpha val="10000"/>
            </a:srgbClr>
          </a:solidFill>
          <a:ln w="12700">
            <a:solidFill>
              <a:srgbClr val="00A896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286000"/>
            <a:ext cx="1828800" cy="1828800"/>
          </a:xfrm>
          <a:prstGeom prst="ellipse">
            <a:avLst/>
          </a:prstGeom>
          <a:solidFill>
            <a:srgbClr val="F6C90E">
              <a:alpha val="15000"/>
            </a:srgbClr>
          </a:solidFill>
          <a:ln w="12700">
            <a:solidFill>
              <a:srgbClr val="F6C90E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31520"/>
            <a:ext cx="2011680" cy="320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31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Transforming Data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into Business Value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</a:rPr>
              <a:t>✅  Cleaned and preprocessed ~10,000 transaction records for reliable analysis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</a:rPr>
              <a:t>✅  Identified key sales drivers: seasonality, product category, discount strategy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</a:rPr>
              <a:t>✅  Segmented customers into 4 actionable groups using K-Means clustering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</a:rPr>
              <a:t>✅  Built 4 production-ready ML models (best: R²=0.94, AUC=0.89)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</a:rPr>
              <a:t>✅  Generated 6 data-driven recommendations with quantifiable revenue impact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AEC0"/>
                </a:solidFill>
              </a:rPr>
              <a:t>E-commerce analytics enables smarter decisions — from demand planning to customer retention — driving sustainable business growth.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2270</Words>
  <Application>Microsoft Office PowerPoint</Application>
  <PresentationFormat>On-screen Show (16:9)</PresentationFormat>
  <Paragraphs>330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Data Analysis – Capstone Project</dc:title>
  <dc:subject>PptxGenJS Presentation</dc:subject>
  <dc:creator>Capstone Team</dc:creator>
  <cp:lastModifiedBy>AlchymedSolutions Leren</cp:lastModifiedBy>
  <cp:revision>2</cp:revision>
  <dcterms:created xsi:type="dcterms:W3CDTF">2026-05-25T23:58:46Z</dcterms:created>
  <dcterms:modified xsi:type="dcterms:W3CDTF">2026-05-26T00:13:18Z</dcterms:modified>
</cp:coreProperties>
</file>