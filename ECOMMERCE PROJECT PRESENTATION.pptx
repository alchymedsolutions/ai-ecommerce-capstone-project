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0.xml" ContentType="application/vnd.openxmlformats-officedocument.drawingml.chart+xml"/>
  <Override PartName="/ppt/notesSlides/notesSlide15.xml" ContentType="application/vnd.openxmlformats-officedocument.presentationml.notesSlide+xml"/>
  <Override PartName="/ppt/charts/chart11.xml" ContentType="application/vnd.openxmlformats-officedocument.drawingml.chart+xml"/>
  <Override PartName="/ppt/notesSlides/notesSlide16.xml" ContentType="application/vnd.openxmlformats-officedocument.presentationml.notesSlide+xml"/>
  <Override PartName="/ppt/charts/chart12.xml" ContentType="application/vnd.openxmlformats-officedocument.drawingml.chart+xml"/>
  <Override PartName="/ppt/notesSlides/notesSlide17.xml" ContentType="application/vnd.openxmlformats-officedocument.presentationml.notesSlide+xml"/>
  <Override PartName="/ppt/charts/chart1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9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Transactions by Age Group</a:t>
            </a:r>
          </a:p>
        </c:rich>
      </c:tx>
      <c:overlay val="0"/>
    </c:title>
    <c:autoTitleDeleted val="0"/>
    <c:plotArea>
      <c:layout/>
      <c:barChart>
        <c:barDir val="col"/>
        <c:grouping val="clustered"/>
        <c:varyColors val="0"/>
        <c:ser>
          <c:idx val="0"/>
          <c:order val="0"/>
          <c:tx>
            <c:strRef>
              <c:f>Sheet1!$B$1</c:f>
              <c:strCache>
                <c:ptCount val="1"/>
                <c:pt idx="0">
                  <c:v>Transactions</c:v>
                </c:pt>
              </c:strCache>
            </c:strRef>
          </c:tx>
          <c:spPr>
            <a:solidFill>
              <a:srgbClr val="00A896"/>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18–24</c:v>
                </c:pt>
                <c:pt idx="1">
                  <c:v>25–34</c:v>
                </c:pt>
                <c:pt idx="2">
                  <c:v>35–44</c:v>
                </c:pt>
                <c:pt idx="3">
                  <c:v>45–54</c:v>
                </c:pt>
                <c:pt idx="4">
                  <c:v>55–64</c:v>
                </c:pt>
                <c:pt idx="5">
                  <c:v>65+</c:v>
                </c:pt>
              </c:strCache>
            </c:strRef>
          </c:cat>
          <c:val>
            <c:numRef>
              <c:f>Sheet1!$B$2:$B$7</c:f>
              <c:numCache>
                <c:formatCode>General</c:formatCode>
                <c:ptCount val="6"/>
                <c:pt idx="0">
                  <c:v>1120</c:v>
                </c:pt>
                <c:pt idx="1">
                  <c:v>2340</c:v>
                </c:pt>
                <c:pt idx="2">
                  <c:v>2890</c:v>
                </c:pt>
                <c:pt idx="3">
                  <c:v>2100</c:v>
                </c:pt>
                <c:pt idx="4">
                  <c:v>890</c:v>
                </c:pt>
                <c:pt idx="5">
                  <c:v>660</c:v>
                </c:pt>
              </c:numCache>
            </c:numRef>
          </c:val>
          <c:extLst>
            <c:ext xmlns:c16="http://schemas.microsoft.com/office/drawing/2014/chart" uri="{C3380CC4-5D6E-409C-BE32-E72D297353CC}">
              <c16:uniqueId val="{00000000-F673-4535-A288-09CC0E43F7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Gender Distribution</a:t>
            </a:r>
          </a:p>
        </c:rich>
      </c:tx>
      <c:overlay val="0"/>
    </c:title>
    <c:autoTitleDeleted val="0"/>
    <c:plotArea>
      <c:layout/>
      <c:pie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0A896"/>
              </a:solidFill>
              <a:effectLst/>
            </c:spPr>
            <c:extLst>
              <c:ext xmlns:c16="http://schemas.microsoft.com/office/drawing/2014/chart" uri="{C3380CC4-5D6E-409C-BE32-E72D297353CC}">
                <c16:uniqueId val="{00000001-6040-4645-8B7E-15D99A106DF2}"/>
              </c:ext>
            </c:extLst>
          </c:dPt>
          <c:dPt>
            <c:idx val="1"/>
            <c:bubble3D val="0"/>
            <c:spPr>
              <a:solidFill>
                <a:srgbClr val="0D1B2A"/>
              </a:solidFill>
              <a:effectLst/>
            </c:spPr>
            <c:extLst>
              <c:ext xmlns:c16="http://schemas.microsoft.com/office/drawing/2014/chart" uri="{C3380CC4-5D6E-409C-BE32-E72D297353CC}">
                <c16:uniqueId val="{00000003-6040-4645-8B7E-15D99A106DF2}"/>
              </c:ext>
            </c:extLst>
          </c:dPt>
          <c:dPt>
            <c:idx val="2"/>
            <c:bubble3D val="0"/>
            <c:spPr>
              <a:solidFill>
                <a:srgbClr val="F6C90E"/>
              </a:solidFill>
              <a:effectLst/>
            </c:spPr>
            <c:extLst>
              <c:ext xmlns:c16="http://schemas.microsoft.com/office/drawing/2014/chart" uri="{C3380CC4-5D6E-409C-BE32-E72D297353CC}">
                <c16:uniqueId val="{00000005-6040-4645-8B7E-15D99A106DF2}"/>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040-4645-8B7E-15D99A106DF2}"/>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040-4645-8B7E-15D99A106DF2}"/>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040-4645-8B7E-15D99A106DF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Male</c:v>
                </c:pt>
                <c:pt idx="1">
                  <c:v>Female</c:v>
                </c:pt>
                <c:pt idx="2">
                  <c:v>Other</c:v>
                </c:pt>
              </c:strCache>
            </c:strRef>
          </c:cat>
          <c:val>
            <c:numRef>
              <c:f>Sheet1!$B$2:$B$4</c:f>
              <c:numCache>
                <c:formatCode>General</c:formatCode>
                <c:ptCount val="3"/>
                <c:pt idx="0">
                  <c:v>48</c:v>
                </c:pt>
                <c:pt idx="1">
                  <c:v>49</c:v>
                </c:pt>
                <c:pt idx="2">
                  <c:v>3</c:v>
                </c:pt>
              </c:numCache>
            </c:numRef>
          </c:val>
          <c:extLst>
            <c:ext xmlns:c16="http://schemas.microsoft.com/office/drawing/2014/chart" uri="{C3380CC4-5D6E-409C-BE32-E72D297353CC}">
              <c16:uniqueId val="{00000006-6040-4645-8B7E-15D99A106DF2}"/>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Customer Purchase Frequency Distribution</a:t>
            </a:r>
          </a:p>
        </c:rich>
      </c:tx>
      <c:overlay val="0"/>
    </c:title>
    <c:autoTitleDeleted val="0"/>
    <c:plotArea>
      <c:layout/>
      <c:barChart>
        <c:barDir val="col"/>
        <c:grouping val="clustered"/>
        <c:varyColors val="0"/>
        <c:ser>
          <c:idx val="0"/>
          <c:order val="0"/>
          <c:tx>
            <c:strRef>
              <c:f>Sheet1!$B$1</c:f>
              <c:strCache>
                <c:ptCount val="1"/>
                <c:pt idx="0">
                  <c:v>Number of Customers</c:v>
                </c:pt>
              </c:strCache>
            </c:strRef>
          </c:tx>
          <c:spPr>
            <a:solidFill>
              <a:srgbClr val="00A896"/>
            </a:solidFill>
            <a:effectLst/>
          </c:spPr>
          <c:invertIfNegative val="0"/>
          <c:dPt>
            <c:idx val="0"/>
            <c:invertIfNegative val="0"/>
            <c:bubble3D val="0"/>
            <c:extLst>
              <c:ext xmlns:c16="http://schemas.microsoft.com/office/drawing/2014/chart" uri="{C3380CC4-5D6E-409C-BE32-E72D297353CC}">
                <c16:uniqueId val="{00000001-D5D4-4E68-AD60-9FFD6B36E7B5}"/>
              </c:ext>
            </c:extLst>
          </c:dPt>
          <c:dPt>
            <c:idx val="1"/>
            <c:invertIfNegative val="0"/>
            <c:bubble3D val="0"/>
            <c:spPr>
              <a:solidFill>
                <a:srgbClr val="02C39A"/>
              </a:solidFill>
              <a:effectLst/>
            </c:spPr>
            <c:extLst>
              <c:ext xmlns:c16="http://schemas.microsoft.com/office/drawing/2014/chart" uri="{C3380CC4-5D6E-409C-BE32-E72D297353CC}">
                <c16:uniqueId val="{00000003-D5D4-4E68-AD60-9FFD6B36E7B5}"/>
              </c:ext>
            </c:extLst>
          </c:dPt>
          <c:dPt>
            <c:idx val="2"/>
            <c:invertIfNegative val="0"/>
            <c:bubble3D val="0"/>
            <c:spPr>
              <a:solidFill>
                <a:srgbClr val="028090"/>
              </a:solidFill>
              <a:effectLst/>
            </c:spPr>
            <c:extLst>
              <c:ext xmlns:c16="http://schemas.microsoft.com/office/drawing/2014/chart" uri="{C3380CC4-5D6E-409C-BE32-E72D297353CC}">
                <c16:uniqueId val="{00000005-D5D4-4E68-AD60-9FFD6B36E7B5}"/>
              </c:ext>
            </c:extLst>
          </c:dPt>
          <c:dPt>
            <c:idx val="3"/>
            <c:invertIfNegative val="0"/>
            <c:bubble3D val="0"/>
            <c:spPr>
              <a:solidFill>
                <a:srgbClr val="0D1B2A"/>
              </a:solidFill>
              <a:effectLst/>
            </c:spPr>
            <c:extLst>
              <c:ext xmlns:c16="http://schemas.microsoft.com/office/drawing/2014/chart" uri="{C3380CC4-5D6E-409C-BE32-E72D297353CC}">
                <c16:uniqueId val="{00000007-D5D4-4E68-AD60-9FFD6B36E7B5}"/>
              </c:ext>
            </c:extLst>
          </c:dPt>
          <c:dPt>
            <c:idx val="4"/>
            <c:invertIfNegative val="0"/>
            <c:bubble3D val="0"/>
            <c:spPr>
              <a:solidFill>
                <a:srgbClr val="F6C90E"/>
              </a:solidFill>
              <a:effectLst/>
            </c:spPr>
            <c:extLst>
              <c:ext xmlns:c16="http://schemas.microsoft.com/office/drawing/2014/chart" uri="{C3380CC4-5D6E-409C-BE32-E72D297353CC}">
                <c16:uniqueId val="{00000009-D5D4-4E68-AD60-9FFD6B36E7B5}"/>
              </c:ext>
            </c:extLst>
          </c:dPt>
          <c:dPt>
            <c:idx val="5"/>
            <c:invertIfNegative val="0"/>
            <c:bubble3D val="0"/>
            <c:spPr>
              <a:solidFill>
                <a:srgbClr val="B7551A"/>
              </a:solidFill>
              <a:effectLst/>
            </c:spPr>
            <c:extLst>
              <c:ext xmlns:c16="http://schemas.microsoft.com/office/drawing/2014/chart" uri="{C3380CC4-5D6E-409C-BE32-E72D297353CC}">
                <c16:uniqueId val="{0000000B-D5D4-4E68-AD60-9FFD6B36E7B5}"/>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 order</c:v>
                </c:pt>
                <c:pt idx="1">
                  <c:v>2 orders</c:v>
                </c:pt>
                <c:pt idx="2">
                  <c:v>3 orders</c:v>
                </c:pt>
                <c:pt idx="3">
                  <c:v>4 orders</c:v>
                </c:pt>
                <c:pt idx="4">
                  <c:v>5 orders</c:v>
                </c:pt>
                <c:pt idx="5">
                  <c:v>6+ orders</c:v>
                </c:pt>
              </c:strCache>
            </c:strRef>
          </c:cat>
          <c:val>
            <c:numRef>
              <c:f>Sheet1!$B$2:$B$7</c:f>
              <c:numCache>
                <c:formatCode>General</c:formatCode>
                <c:ptCount val="6"/>
                <c:pt idx="0">
                  <c:v>2100</c:v>
                </c:pt>
                <c:pt idx="1">
                  <c:v>2650</c:v>
                </c:pt>
                <c:pt idx="2">
                  <c:v>1980</c:v>
                </c:pt>
                <c:pt idx="3">
                  <c:v>1340</c:v>
                </c:pt>
                <c:pt idx="4">
                  <c:v>890</c:v>
                </c:pt>
                <c:pt idx="5">
                  <c:v>1040</c:v>
                </c:pt>
              </c:numCache>
            </c:numRef>
          </c:val>
          <c:extLst>
            <c:ext xmlns:c16="http://schemas.microsoft.com/office/drawing/2014/chart" uri="{C3380CC4-5D6E-409C-BE32-E72D297353CC}">
              <c16:uniqueId val="{0000000C-D5D4-4E68-AD60-9FFD6B36E7B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Revenue ($)</c:v>
                </c:pt>
              </c:strCache>
            </c:strRef>
          </c:tx>
          <c:spPr>
            <a:ln w="31750" cap="flat">
              <a:solidFill>
                <a:srgbClr val="00A896"/>
              </a:solidFill>
              <a:prstDash val="solid"/>
              <a:round/>
            </a:ln>
            <a:effectLst/>
          </c:spPr>
          <c:marker>
            <c:symbol val="circle"/>
            <c:size val="6"/>
            <c:spPr>
              <a:solidFill>
                <a:srgbClr val="00A896"/>
              </a:solidFill>
              <a:ln w="9525" cap="flat">
                <a:solidFill>
                  <a:srgbClr val="00A89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42000</c:v>
                </c:pt>
                <c:pt idx="1">
                  <c:v>38500</c:v>
                </c:pt>
                <c:pt idx="2">
                  <c:v>45200</c:v>
                </c:pt>
                <c:pt idx="3">
                  <c:v>47800</c:v>
                </c:pt>
                <c:pt idx="4">
                  <c:v>51000</c:v>
                </c:pt>
                <c:pt idx="5">
                  <c:v>49500</c:v>
                </c:pt>
                <c:pt idx="6">
                  <c:v>53200</c:v>
                </c:pt>
                <c:pt idx="7">
                  <c:v>58900</c:v>
                </c:pt>
                <c:pt idx="8">
                  <c:v>55400</c:v>
                </c:pt>
                <c:pt idx="9">
                  <c:v>61200</c:v>
                </c:pt>
                <c:pt idx="10">
                  <c:v>75400</c:v>
                </c:pt>
                <c:pt idx="11">
                  <c:v>82000</c:v>
                </c:pt>
              </c:numCache>
            </c:numRef>
          </c:val>
          <c:smooth val="1"/>
          <c:extLst>
            <c:ext xmlns:c16="http://schemas.microsoft.com/office/drawing/2014/chart" uri="{C3380CC4-5D6E-409C-BE32-E72D297353CC}">
              <c16:uniqueId val="{00000000-79FE-4FC4-B6B2-1FD47DF45329}"/>
            </c:ext>
          </c:extLst>
        </c:ser>
        <c:ser>
          <c:idx val="1"/>
          <c:order val="1"/>
          <c:tx>
            <c:strRef>
              <c:f>Sheet1!$C$1</c:f>
              <c:strCache>
                <c:ptCount val="1"/>
                <c:pt idx="0">
                  <c:v>Order Count</c:v>
                </c:pt>
              </c:strCache>
            </c:strRef>
          </c:tx>
          <c:spPr>
            <a:ln w="31750" cap="flat">
              <a:solidFill>
                <a:srgbClr val="F6C90E"/>
              </a:solidFill>
              <a:prstDash val="solid"/>
              <a:round/>
            </a:ln>
            <a:effectLst/>
          </c:spPr>
          <c:marker>
            <c:symbol val="circle"/>
            <c:size val="6"/>
            <c:spPr>
              <a:solidFill>
                <a:srgbClr val="F6C90E"/>
              </a:solidFill>
              <a:ln w="9525" cap="flat">
                <a:solidFill>
                  <a:srgbClr val="F6C90E"/>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680</c:v>
                </c:pt>
                <c:pt idx="1">
                  <c:v>620</c:v>
                </c:pt>
                <c:pt idx="2">
                  <c:v>730</c:v>
                </c:pt>
                <c:pt idx="3">
                  <c:v>780</c:v>
                </c:pt>
                <c:pt idx="4">
                  <c:v>820</c:v>
                </c:pt>
                <c:pt idx="5">
                  <c:v>800</c:v>
                </c:pt>
                <c:pt idx="6">
                  <c:v>860</c:v>
                </c:pt>
                <c:pt idx="7">
                  <c:v>950</c:v>
                </c:pt>
                <c:pt idx="8">
                  <c:v>900</c:v>
                </c:pt>
                <c:pt idx="9">
                  <c:v>980</c:v>
                </c:pt>
                <c:pt idx="10">
                  <c:v>1210</c:v>
                </c:pt>
                <c:pt idx="11">
                  <c:v>1320</c:v>
                </c:pt>
              </c:numCache>
            </c:numRef>
          </c:val>
          <c:smooth val="1"/>
          <c:extLst>
            <c:ext xmlns:c16="http://schemas.microsoft.com/office/drawing/2014/chart" uri="{C3380CC4-5D6E-409C-BE32-E72D297353CC}">
              <c16:uniqueId val="{00000001-79FE-4FC4-B6B2-1FD47DF4532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Revenue by Product Category ($K)</a:t>
            </a:r>
          </a:p>
        </c:rich>
      </c:tx>
      <c:overlay val="0"/>
    </c:title>
    <c:autoTitleDeleted val="0"/>
    <c:plotArea>
      <c:layout/>
      <c:barChart>
        <c:barDir val="bar"/>
        <c:grouping val="clustered"/>
        <c:varyColors val="0"/>
        <c:ser>
          <c:idx val="0"/>
          <c:order val="0"/>
          <c:tx>
            <c:strRef>
              <c:f>Sheet1!$B$1</c:f>
              <c:strCache>
                <c:ptCount val="1"/>
                <c:pt idx="0">
                  <c:v>Revenue ($K)</c:v>
                </c:pt>
              </c:strCache>
            </c:strRef>
          </c:tx>
          <c:spPr>
            <a:solidFill>
              <a:srgbClr val="00A896"/>
            </a:solidFill>
            <a:effectLst/>
          </c:spPr>
          <c:invertIfNegative val="0"/>
          <c:dPt>
            <c:idx val="0"/>
            <c:invertIfNegative val="0"/>
            <c:bubble3D val="0"/>
            <c:extLst>
              <c:ext xmlns:c16="http://schemas.microsoft.com/office/drawing/2014/chart" uri="{C3380CC4-5D6E-409C-BE32-E72D297353CC}">
                <c16:uniqueId val="{00000001-8C3E-4D87-B291-8B4135EB4067}"/>
              </c:ext>
            </c:extLst>
          </c:dPt>
          <c:dPt>
            <c:idx val="1"/>
            <c:invertIfNegative val="0"/>
            <c:bubble3D val="0"/>
            <c:extLst>
              <c:ext xmlns:c16="http://schemas.microsoft.com/office/drawing/2014/chart" uri="{C3380CC4-5D6E-409C-BE32-E72D297353CC}">
                <c16:uniqueId val="{00000003-8C3E-4D87-B291-8B4135EB4067}"/>
              </c:ext>
            </c:extLst>
          </c:dPt>
          <c:dPt>
            <c:idx val="2"/>
            <c:invertIfNegative val="0"/>
            <c:bubble3D val="0"/>
            <c:extLst>
              <c:ext xmlns:c16="http://schemas.microsoft.com/office/drawing/2014/chart" uri="{C3380CC4-5D6E-409C-BE32-E72D297353CC}">
                <c16:uniqueId val="{00000005-8C3E-4D87-B291-8B4135EB4067}"/>
              </c:ext>
            </c:extLst>
          </c:dPt>
          <c:dPt>
            <c:idx val="3"/>
            <c:invertIfNegative val="0"/>
            <c:bubble3D val="0"/>
            <c:extLst>
              <c:ext xmlns:c16="http://schemas.microsoft.com/office/drawing/2014/chart" uri="{C3380CC4-5D6E-409C-BE32-E72D297353CC}">
                <c16:uniqueId val="{00000007-8C3E-4D87-B291-8B4135EB4067}"/>
              </c:ext>
            </c:extLst>
          </c:dPt>
          <c:dPt>
            <c:idx val="4"/>
            <c:invertIfNegative val="0"/>
            <c:bubble3D val="0"/>
            <c:extLst>
              <c:ext xmlns:c16="http://schemas.microsoft.com/office/drawing/2014/chart" uri="{C3380CC4-5D6E-409C-BE32-E72D297353CC}">
                <c16:uniqueId val="{00000009-8C3E-4D87-B291-8B4135EB4067}"/>
              </c:ext>
            </c:extLst>
          </c:dPt>
          <c:dPt>
            <c:idx val="5"/>
            <c:invertIfNegative val="0"/>
            <c:bubble3D val="0"/>
            <c:spPr>
              <a:solidFill>
                <a:srgbClr val="F6C90E"/>
              </a:solidFill>
              <a:effectLst/>
            </c:spPr>
            <c:extLst>
              <c:ext xmlns:c16="http://schemas.microsoft.com/office/drawing/2014/chart" uri="{C3380CC4-5D6E-409C-BE32-E72D297353CC}">
                <c16:uniqueId val="{0000000B-8C3E-4D87-B291-8B4135EB4067}"/>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Books</c:v>
                </c:pt>
                <c:pt idx="1">
                  <c:v>Sports</c:v>
                </c:pt>
                <c:pt idx="2">
                  <c:v>Home &amp; Living</c:v>
                </c:pt>
                <c:pt idx="3">
                  <c:v>Beauty</c:v>
                </c:pt>
                <c:pt idx="4">
                  <c:v>Clothing</c:v>
                </c:pt>
                <c:pt idx="5">
                  <c:v>Electronics</c:v>
                </c:pt>
              </c:strCache>
            </c:strRef>
          </c:cat>
          <c:val>
            <c:numRef>
              <c:f>Sheet1!$B$2:$B$7</c:f>
              <c:numCache>
                <c:formatCode>General</c:formatCode>
                <c:ptCount val="6"/>
                <c:pt idx="0">
                  <c:v>38</c:v>
                </c:pt>
                <c:pt idx="1">
                  <c:v>52</c:v>
                </c:pt>
                <c:pt idx="2">
                  <c:v>68</c:v>
                </c:pt>
                <c:pt idx="3">
                  <c:v>74</c:v>
                </c:pt>
                <c:pt idx="4">
                  <c:v>91</c:v>
                </c:pt>
                <c:pt idx="5">
                  <c:v>112</c:v>
                </c:pt>
              </c:numCache>
            </c:numRef>
          </c:val>
          <c:extLst>
            <c:ext xmlns:c16="http://schemas.microsoft.com/office/drawing/2014/chart" uri="{C3380CC4-5D6E-409C-BE32-E72D297353CC}">
              <c16:uniqueId val="{0000000C-8C3E-4D87-B291-8B4135EB406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1B2A"/>
                </a:solidFill>
                <a:latin typeface="Arial"/>
              </a:defRPr>
            </a:pPr>
            <a:r>
              <a:rPr lang="en-US" sz="1100" b="0" i="0" u="none" strike="noStrike">
                <a:solidFill>
                  <a:srgbClr val="0D1B2A"/>
                </a:solidFill>
                <a:latin typeface="Arial"/>
              </a:rPr>
              <a:t>Avg Purchase Amount ($): With vs Without Discount</a:t>
            </a:r>
          </a:p>
        </c:rich>
      </c:tx>
      <c:overlay val="0"/>
    </c:title>
    <c:autoTitleDeleted val="0"/>
    <c:plotArea>
      <c:layout/>
      <c:barChart>
        <c:barDir val="col"/>
        <c:grouping val="clustered"/>
        <c:varyColors val="0"/>
        <c:ser>
          <c:idx val="0"/>
          <c:order val="0"/>
          <c:tx>
            <c:strRef>
              <c:f>Sheet1!$B$1</c:f>
              <c:strCache>
                <c:ptCount val="1"/>
                <c:pt idx="0">
                  <c:v>No Discount</c:v>
                </c:pt>
              </c:strCache>
            </c:strRef>
          </c:tx>
          <c:spPr>
            <a:solidFill>
              <a:srgbClr val="CBD5E0"/>
            </a:solidFill>
            <a:effectLst/>
          </c:spPr>
          <c:invertIfNegative val="0"/>
          <c:cat>
            <c:strRef>
              <c:f>Sheet1!$A$2:$A$7</c:f>
              <c:strCache>
                <c:ptCount val="6"/>
                <c:pt idx="0">
                  <c:v>Electronics</c:v>
                </c:pt>
                <c:pt idx="1">
                  <c:v>Clothing</c:v>
                </c:pt>
                <c:pt idx="2">
                  <c:v>Beauty</c:v>
                </c:pt>
                <c:pt idx="3">
                  <c:v>Home &amp; Living</c:v>
                </c:pt>
                <c:pt idx="4">
                  <c:v>Sports</c:v>
                </c:pt>
                <c:pt idx="5">
                  <c:v>Books</c:v>
                </c:pt>
              </c:strCache>
            </c:strRef>
          </c:cat>
          <c:val>
            <c:numRef>
              <c:f>Sheet1!$B$2:$B$7</c:f>
              <c:numCache>
                <c:formatCode>General</c:formatCode>
                <c:ptCount val="6"/>
                <c:pt idx="0">
                  <c:v>210</c:v>
                </c:pt>
                <c:pt idx="1">
                  <c:v>95</c:v>
                </c:pt>
                <c:pt idx="2">
                  <c:v>88</c:v>
                </c:pt>
                <c:pt idx="3">
                  <c:v>72</c:v>
                </c:pt>
                <c:pt idx="4">
                  <c:v>60</c:v>
                </c:pt>
                <c:pt idx="5">
                  <c:v>35</c:v>
                </c:pt>
              </c:numCache>
            </c:numRef>
          </c:val>
          <c:extLst>
            <c:ext xmlns:c16="http://schemas.microsoft.com/office/drawing/2014/chart" uri="{C3380CC4-5D6E-409C-BE32-E72D297353CC}">
              <c16:uniqueId val="{00000000-EFFB-4B08-98D5-A1DFF360D05F}"/>
            </c:ext>
          </c:extLst>
        </c:ser>
        <c:ser>
          <c:idx val="1"/>
          <c:order val="1"/>
          <c:tx>
            <c:strRef>
              <c:f>Sheet1!$C$1</c:f>
              <c:strCache>
                <c:ptCount val="1"/>
                <c:pt idx="0">
                  <c:v>With Discount</c:v>
                </c:pt>
              </c:strCache>
            </c:strRef>
          </c:tx>
          <c:spPr>
            <a:solidFill>
              <a:srgbClr val="00A896"/>
            </a:solidFill>
            <a:effectLst/>
          </c:spPr>
          <c:invertIfNegative val="0"/>
          <c:cat>
            <c:strRef>
              <c:f>Sheet1!$A$2:$A$7</c:f>
              <c:strCache>
                <c:ptCount val="6"/>
                <c:pt idx="0">
                  <c:v>Electronics</c:v>
                </c:pt>
                <c:pt idx="1">
                  <c:v>Clothing</c:v>
                </c:pt>
                <c:pt idx="2">
                  <c:v>Beauty</c:v>
                </c:pt>
                <c:pt idx="3">
                  <c:v>Home &amp; Living</c:v>
                </c:pt>
                <c:pt idx="4">
                  <c:v>Sports</c:v>
                </c:pt>
                <c:pt idx="5">
                  <c:v>Books</c:v>
                </c:pt>
              </c:strCache>
            </c:strRef>
          </c:cat>
          <c:val>
            <c:numRef>
              <c:f>Sheet1!$C$2:$C$7</c:f>
              <c:numCache>
                <c:formatCode>General</c:formatCode>
                <c:ptCount val="6"/>
                <c:pt idx="0">
                  <c:v>265</c:v>
                </c:pt>
                <c:pt idx="1">
                  <c:v>138</c:v>
                </c:pt>
                <c:pt idx="2">
                  <c:v>115</c:v>
                </c:pt>
                <c:pt idx="3">
                  <c:v>104</c:v>
                </c:pt>
                <c:pt idx="4">
                  <c:v>89</c:v>
                </c:pt>
                <c:pt idx="5">
                  <c:v>52</c:v>
                </c:pt>
              </c:numCache>
            </c:numRef>
          </c:val>
          <c:extLst>
            <c:ext xmlns:c16="http://schemas.microsoft.com/office/drawing/2014/chart" uri="{C3380CC4-5D6E-409C-BE32-E72D297353CC}">
              <c16:uniqueId val="{00000001-EFFB-4B08-98D5-A1DFF360D05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Revenue ($K) &amp; Orders by Region</a:t>
            </a:r>
          </a:p>
        </c:rich>
      </c:tx>
      <c:overlay val="0"/>
    </c:title>
    <c:autoTitleDeleted val="0"/>
    <c:plotArea>
      <c:layout/>
      <c:barChart>
        <c:barDir val="col"/>
        <c:grouping val="clustered"/>
        <c:varyColors val="0"/>
        <c:ser>
          <c:idx val="0"/>
          <c:order val="0"/>
          <c:tx>
            <c:strRef>
              <c:f>Sheet1!$B$1</c:f>
              <c:strCache>
                <c:ptCount val="1"/>
                <c:pt idx="0">
                  <c:v>Revenue ($K)</c:v>
                </c:pt>
              </c:strCache>
            </c:strRef>
          </c:tx>
          <c:spPr>
            <a:solidFill>
              <a:srgbClr val="00A896"/>
            </a:solidFill>
            <a:effectLst/>
          </c:spPr>
          <c:invertIfNegative val="0"/>
          <c:cat>
            <c:strRef>
              <c:f>Sheet1!$A$2:$A$7</c:f>
              <c:strCache>
                <c:ptCount val="6"/>
                <c:pt idx="0">
                  <c:v>West</c:v>
                </c:pt>
                <c:pt idx="1">
                  <c:v>North</c:v>
                </c:pt>
                <c:pt idx="2">
                  <c:v>East</c:v>
                </c:pt>
                <c:pt idx="3">
                  <c:v>South</c:v>
                </c:pt>
                <c:pt idx="4">
                  <c:v>Central</c:v>
                </c:pt>
                <c:pt idx="5">
                  <c:v>Northeast</c:v>
                </c:pt>
              </c:strCache>
            </c:strRef>
          </c:cat>
          <c:val>
            <c:numRef>
              <c:f>Sheet1!$B$2:$B$7</c:f>
              <c:numCache>
                <c:formatCode>General</c:formatCode>
                <c:ptCount val="6"/>
                <c:pt idx="0">
                  <c:v>148</c:v>
                </c:pt>
                <c:pt idx="1">
                  <c:v>132</c:v>
                </c:pt>
                <c:pt idx="2">
                  <c:v>121</c:v>
                </c:pt>
                <c:pt idx="3">
                  <c:v>115</c:v>
                </c:pt>
                <c:pt idx="4">
                  <c:v>98</c:v>
                </c:pt>
                <c:pt idx="5">
                  <c:v>89</c:v>
                </c:pt>
              </c:numCache>
            </c:numRef>
          </c:val>
          <c:extLst>
            <c:ext xmlns:c16="http://schemas.microsoft.com/office/drawing/2014/chart" uri="{C3380CC4-5D6E-409C-BE32-E72D297353CC}">
              <c16:uniqueId val="{00000000-0E67-4DB8-9AC9-E5C2617223D6}"/>
            </c:ext>
          </c:extLst>
        </c:ser>
        <c:ser>
          <c:idx val="1"/>
          <c:order val="1"/>
          <c:tx>
            <c:strRef>
              <c:f>Sheet1!$C$1</c:f>
              <c:strCache>
                <c:ptCount val="1"/>
                <c:pt idx="0">
                  <c:v>Orders</c:v>
                </c:pt>
              </c:strCache>
            </c:strRef>
          </c:tx>
          <c:spPr>
            <a:solidFill>
              <a:srgbClr val="F6C90E"/>
            </a:solidFill>
            <a:effectLst/>
          </c:spPr>
          <c:invertIfNegative val="0"/>
          <c:cat>
            <c:strRef>
              <c:f>Sheet1!$A$2:$A$7</c:f>
              <c:strCache>
                <c:ptCount val="6"/>
                <c:pt idx="0">
                  <c:v>West</c:v>
                </c:pt>
                <c:pt idx="1">
                  <c:v>North</c:v>
                </c:pt>
                <c:pt idx="2">
                  <c:v>East</c:v>
                </c:pt>
                <c:pt idx="3">
                  <c:v>South</c:v>
                </c:pt>
                <c:pt idx="4">
                  <c:v>Central</c:v>
                </c:pt>
                <c:pt idx="5">
                  <c:v>Northeast</c:v>
                </c:pt>
              </c:strCache>
            </c:strRef>
          </c:cat>
          <c:val>
            <c:numRef>
              <c:f>Sheet1!$C$2:$C$7</c:f>
              <c:numCache>
                <c:formatCode>General</c:formatCode>
                <c:ptCount val="6"/>
                <c:pt idx="0">
                  <c:v>3100</c:v>
                </c:pt>
                <c:pt idx="1">
                  <c:v>2700</c:v>
                </c:pt>
                <c:pt idx="2">
                  <c:v>2400</c:v>
                </c:pt>
                <c:pt idx="3">
                  <c:v>2200</c:v>
                </c:pt>
                <c:pt idx="4">
                  <c:v>2000</c:v>
                </c:pt>
                <c:pt idx="5">
                  <c:v>1800</c:v>
                </c:pt>
              </c:numCache>
            </c:numRef>
          </c:val>
          <c:extLst>
            <c:ext xmlns:c16="http://schemas.microsoft.com/office/drawing/2014/chart" uri="{C3380CC4-5D6E-409C-BE32-E72D297353CC}">
              <c16:uniqueId val="{00000001-0E67-4DB8-9AC9-E5C2617223D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Payment Method Share</a:t>
            </a:r>
          </a:p>
        </c:rich>
      </c:tx>
      <c:overlay val="0"/>
    </c:title>
    <c:autoTitleDeleted val="0"/>
    <c:plotArea>
      <c:layout/>
      <c:doughnutChart>
        <c:varyColors val="1"/>
        <c:ser>
          <c:idx val="0"/>
          <c:order val="0"/>
          <c:tx>
            <c:strRef>
              <c:f>Sheet1!$B$1</c:f>
              <c:strCache>
                <c:ptCount val="1"/>
                <c:pt idx="0">
                  <c:v>Payment</c:v>
                </c:pt>
              </c:strCache>
            </c:strRef>
          </c:tx>
          <c:spPr>
            <a:solidFill>
              <a:schemeClr val="accent1"/>
            </a:solidFill>
            <a:ln w="9525" cap="flat">
              <a:solidFill>
                <a:srgbClr val="F9F9F9"/>
              </a:solidFill>
              <a:prstDash val="solid"/>
              <a:round/>
            </a:ln>
            <a:effectLst/>
          </c:spPr>
          <c:dPt>
            <c:idx val="0"/>
            <c:bubble3D val="0"/>
            <c:spPr>
              <a:solidFill>
                <a:srgbClr val="00A896"/>
              </a:solidFill>
              <a:effectLst/>
            </c:spPr>
            <c:extLst>
              <c:ext xmlns:c16="http://schemas.microsoft.com/office/drawing/2014/chart" uri="{C3380CC4-5D6E-409C-BE32-E72D297353CC}">
                <c16:uniqueId val="{00000001-18BF-4CE0-94EE-A986700CA1B0}"/>
              </c:ext>
            </c:extLst>
          </c:dPt>
          <c:dPt>
            <c:idx val="1"/>
            <c:bubble3D val="0"/>
            <c:spPr>
              <a:solidFill>
                <a:srgbClr val="0D1B2A"/>
              </a:solidFill>
              <a:effectLst/>
            </c:spPr>
            <c:extLst>
              <c:ext xmlns:c16="http://schemas.microsoft.com/office/drawing/2014/chart" uri="{C3380CC4-5D6E-409C-BE32-E72D297353CC}">
                <c16:uniqueId val="{00000003-18BF-4CE0-94EE-A986700CA1B0}"/>
              </c:ext>
            </c:extLst>
          </c:dPt>
          <c:dPt>
            <c:idx val="2"/>
            <c:bubble3D val="0"/>
            <c:spPr>
              <a:solidFill>
                <a:srgbClr val="F6C90E"/>
              </a:solidFill>
              <a:effectLst/>
            </c:spPr>
            <c:extLst>
              <c:ext xmlns:c16="http://schemas.microsoft.com/office/drawing/2014/chart" uri="{C3380CC4-5D6E-409C-BE32-E72D297353CC}">
                <c16:uniqueId val="{00000005-18BF-4CE0-94EE-A986700CA1B0}"/>
              </c:ext>
            </c:extLst>
          </c:dPt>
          <c:dPt>
            <c:idx val="3"/>
            <c:bubble3D val="0"/>
            <c:spPr>
              <a:solidFill>
                <a:srgbClr val="CBD5E0"/>
              </a:solidFill>
              <a:effectLst/>
            </c:spPr>
            <c:extLst>
              <c:ext xmlns:c16="http://schemas.microsoft.com/office/drawing/2014/chart" uri="{C3380CC4-5D6E-409C-BE32-E72D297353CC}">
                <c16:uniqueId val="{00000007-18BF-4CE0-94EE-A986700CA1B0}"/>
              </c:ext>
            </c:extLst>
          </c:dPt>
          <c:dPt>
            <c:idx val="4"/>
            <c:bubble3D val="0"/>
            <c:spPr>
              <a:solidFill>
                <a:srgbClr val="028090"/>
              </a:solidFill>
              <a:effectLst/>
            </c:spPr>
            <c:extLst>
              <c:ext xmlns:c16="http://schemas.microsoft.com/office/drawing/2014/chart" uri="{C3380CC4-5D6E-409C-BE32-E72D297353CC}">
                <c16:uniqueId val="{00000009-18BF-4CE0-94EE-A986700CA1B0}"/>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8BF-4CE0-94EE-A986700CA1B0}"/>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8BF-4CE0-94EE-A986700CA1B0}"/>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8BF-4CE0-94EE-A986700CA1B0}"/>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8BF-4CE0-94EE-A986700CA1B0}"/>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8BF-4CE0-94EE-A986700CA1B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Credit Card</c:v>
                </c:pt>
                <c:pt idx="1">
                  <c:v>Digital Wallet</c:v>
                </c:pt>
                <c:pt idx="2">
                  <c:v>Debit Card</c:v>
                </c:pt>
                <c:pt idx="3">
                  <c:v>COD</c:v>
                </c:pt>
                <c:pt idx="4">
                  <c:v>Bank Transfer</c:v>
                </c:pt>
              </c:strCache>
            </c:strRef>
          </c:cat>
          <c:val>
            <c:numRef>
              <c:f>Sheet1!$B$2:$B$6</c:f>
              <c:numCache>
                <c:formatCode>General</c:formatCode>
                <c:ptCount val="5"/>
                <c:pt idx="0">
                  <c:v>44</c:v>
                </c:pt>
                <c:pt idx="1">
                  <c:v>31</c:v>
                </c:pt>
                <c:pt idx="2">
                  <c:v>13</c:v>
                </c:pt>
                <c:pt idx="3">
                  <c:v>8</c:v>
                </c:pt>
                <c:pt idx="4">
                  <c:v>4</c:v>
                </c:pt>
              </c:numCache>
            </c:numRef>
          </c:val>
          <c:extLst>
            <c:ext xmlns:c16="http://schemas.microsoft.com/office/drawing/2014/chart" uri="{C3380CC4-5D6E-409C-BE32-E72D297353CC}">
              <c16:uniqueId val="{0000000A-18BF-4CE0-94EE-A986700CA1B0}"/>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Order Status Breakdown</a:t>
            </a:r>
          </a:p>
        </c:rich>
      </c:tx>
      <c:overlay val="0"/>
    </c:title>
    <c:autoTitleDeleted val="0"/>
    <c:plotArea>
      <c:layout/>
      <c:barChart>
        <c:barDir val="col"/>
        <c:grouping val="clustered"/>
        <c:varyColors val="0"/>
        <c:ser>
          <c:idx val="0"/>
          <c:order val="0"/>
          <c:tx>
            <c:strRef>
              <c:f>Sheet1!$B$1</c:f>
              <c:strCache>
                <c:ptCount val="1"/>
                <c:pt idx="0">
                  <c:v>Orders</c:v>
                </c:pt>
              </c:strCache>
            </c:strRef>
          </c:tx>
          <c:spPr>
            <a:solidFill>
              <a:srgbClr val="00A896"/>
            </a:solidFill>
            <a:effectLst/>
          </c:spPr>
          <c:invertIfNegative val="0"/>
          <c:dPt>
            <c:idx val="0"/>
            <c:invertIfNegative val="0"/>
            <c:bubble3D val="0"/>
            <c:extLst>
              <c:ext xmlns:c16="http://schemas.microsoft.com/office/drawing/2014/chart" uri="{C3380CC4-5D6E-409C-BE32-E72D297353CC}">
                <c16:uniqueId val="{00000001-5812-4775-9A1D-EAD5BD8F1AF8}"/>
              </c:ext>
            </c:extLst>
          </c:dPt>
          <c:dPt>
            <c:idx val="1"/>
            <c:invertIfNegative val="0"/>
            <c:bubble3D val="0"/>
            <c:spPr>
              <a:solidFill>
                <a:srgbClr val="F6C90E"/>
              </a:solidFill>
              <a:effectLst/>
            </c:spPr>
            <c:extLst>
              <c:ext xmlns:c16="http://schemas.microsoft.com/office/drawing/2014/chart" uri="{C3380CC4-5D6E-409C-BE32-E72D297353CC}">
                <c16:uniqueId val="{00000003-5812-4775-9A1D-EAD5BD8F1AF8}"/>
              </c:ext>
            </c:extLst>
          </c:dPt>
          <c:dPt>
            <c:idx val="2"/>
            <c:invertIfNegative val="0"/>
            <c:bubble3D val="0"/>
            <c:spPr>
              <a:solidFill>
                <a:srgbClr val="B7551A"/>
              </a:solidFill>
              <a:effectLst/>
            </c:spPr>
            <c:extLst>
              <c:ext xmlns:c16="http://schemas.microsoft.com/office/drawing/2014/chart" uri="{C3380CC4-5D6E-409C-BE32-E72D297353CC}">
                <c16:uniqueId val="{00000005-5812-4775-9A1D-EAD5BD8F1AF8}"/>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Completed</c:v>
                </c:pt>
                <c:pt idx="1">
                  <c:v>Returned</c:v>
                </c:pt>
                <c:pt idx="2">
                  <c:v>Canceled</c:v>
                </c:pt>
              </c:strCache>
            </c:strRef>
          </c:cat>
          <c:val>
            <c:numRef>
              <c:f>Sheet1!$B$2:$B$4</c:f>
              <c:numCache>
                <c:formatCode>General</c:formatCode>
                <c:ptCount val="3"/>
                <c:pt idx="0">
                  <c:v>7840</c:v>
                </c:pt>
                <c:pt idx="1">
                  <c:v>1320</c:v>
                </c:pt>
                <c:pt idx="2">
                  <c:v>840</c:v>
                </c:pt>
              </c:numCache>
            </c:numRef>
          </c:val>
          <c:extLst>
            <c:ext xmlns:c16="http://schemas.microsoft.com/office/drawing/2014/chart" uri="{C3380CC4-5D6E-409C-BE32-E72D297353CC}">
              <c16:uniqueId val="{00000006-5812-4775-9A1D-EAD5BD8F1A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Actual vs Predicted Monthly Revenue ($)</a:t>
            </a:r>
          </a:p>
        </c:rich>
      </c:tx>
      <c:overlay val="0"/>
    </c:title>
    <c:autoTitleDeleted val="0"/>
    <c:plotArea>
      <c:layout/>
      <c:lineChart>
        <c:grouping val="standard"/>
        <c:varyColors val="0"/>
        <c:ser>
          <c:idx val="0"/>
          <c:order val="0"/>
          <c:tx>
            <c:strRef>
              <c:f>Sheet1!$B$1</c:f>
              <c:strCache>
                <c:ptCount val="1"/>
                <c:pt idx="0">
                  <c:v>Actual Revenue</c:v>
                </c:pt>
              </c:strCache>
            </c:strRef>
          </c:tx>
          <c:spPr>
            <a:ln w="31750" cap="flat">
              <a:solidFill>
                <a:srgbClr val="0D1B2A"/>
              </a:solidFill>
              <a:prstDash val="solid"/>
              <a:round/>
            </a:ln>
            <a:effectLst/>
          </c:spPr>
          <c:marker>
            <c:symbol val="circle"/>
            <c:size val="6"/>
            <c:spPr>
              <a:solidFill>
                <a:srgbClr val="0D1B2A"/>
              </a:solidFill>
              <a:ln w="9525" cap="flat">
                <a:solidFill>
                  <a:srgbClr val="0D1B2A"/>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42000</c:v>
                </c:pt>
                <c:pt idx="1">
                  <c:v>38500</c:v>
                </c:pt>
                <c:pt idx="2">
                  <c:v>45200</c:v>
                </c:pt>
                <c:pt idx="3">
                  <c:v>47800</c:v>
                </c:pt>
                <c:pt idx="4">
                  <c:v>51000</c:v>
                </c:pt>
                <c:pt idx="5">
                  <c:v>49500</c:v>
                </c:pt>
                <c:pt idx="6">
                  <c:v>53200</c:v>
                </c:pt>
                <c:pt idx="7">
                  <c:v>58900</c:v>
                </c:pt>
                <c:pt idx="8">
                  <c:v>55400</c:v>
                </c:pt>
                <c:pt idx="9">
                  <c:v>61200</c:v>
                </c:pt>
                <c:pt idx="10">
                  <c:v>75400</c:v>
                </c:pt>
                <c:pt idx="11">
                  <c:v>82000</c:v>
                </c:pt>
              </c:numCache>
            </c:numRef>
          </c:val>
          <c:smooth val="1"/>
          <c:extLst>
            <c:ext xmlns:c16="http://schemas.microsoft.com/office/drawing/2014/chart" uri="{C3380CC4-5D6E-409C-BE32-E72D297353CC}">
              <c16:uniqueId val="{00000000-BC6C-4EAD-860A-F98ED9EEC4B2}"/>
            </c:ext>
          </c:extLst>
        </c:ser>
        <c:ser>
          <c:idx val="1"/>
          <c:order val="1"/>
          <c:tx>
            <c:strRef>
              <c:f>Sheet1!$C$1</c:f>
              <c:strCache>
                <c:ptCount val="1"/>
                <c:pt idx="0">
                  <c:v>Predicted Revenue</c:v>
                </c:pt>
              </c:strCache>
            </c:strRef>
          </c:tx>
          <c:spPr>
            <a:ln w="31750" cap="flat">
              <a:solidFill>
                <a:srgbClr val="00A896"/>
              </a:solidFill>
              <a:prstDash val="solid"/>
              <a:round/>
            </a:ln>
            <a:effectLst/>
          </c:spPr>
          <c:marker>
            <c:symbol val="circle"/>
            <c:size val="6"/>
            <c:spPr>
              <a:solidFill>
                <a:srgbClr val="00A896"/>
              </a:solidFill>
              <a:ln w="9525" cap="flat">
                <a:solidFill>
                  <a:srgbClr val="00A89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40800</c:v>
                </c:pt>
                <c:pt idx="1">
                  <c:v>39200</c:v>
                </c:pt>
                <c:pt idx="2">
                  <c:v>44100</c:v>
                </c:pt>
                <c:pt idx="3">
                  <c:v>48500</c:v>
                </c:pt>
                <c:pt idx="4">
                  <c:v>50200</c:v>
                </c:pt>
                <c:pt idx="5">
                  <c:v>51000</c:v>
                </c:pt>
                <c:pt idx="6">
                  <c:v>52800</c:v>
                </c:pt>
                <c:pt idx="7">
                  <c:v>57600</c:v>
                </c:pt>
                <c:pt idx="8">
                  <c:v>56200</c:v>
                </c:pt>
                <c:pt idx="9">
                  <c:v>62400</c:v>
                </c:pt>
                <c:pt idx="10">
                  <c:v>74800</c:v>
                </c:pt>
                <c:pt idx="11">
                  <c:v>83200</c:v>
                </c:pt>
              </c:numCache>
            </c:numRef>
          </c:val>
          <c:smooth val="1"/>
          <c:extLst>
            <c:ext xmlns:c16="http://schemas.microsoft.com/office/drawing/2014/chart" uri="{C3380CC4-5D6E-409C-BE32-E72D297353CC}">
              <c16:uniqueId val="{00000001-BC6C-4EAD-860A-F98ED9EEC4B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Customer Segment Distribution</a:t>
            </a:r>
          </a:p>
        </c:rich>
      </c:tx>
      <c:overlay val="0"/>
    </c:title>
    <c:autoTitleDeleted val="0"/>
    <c:plotArea>
      <c:layout/>
      <c:doughnutChart>
        <c:varyColors val="1"/>
        <c:ser>
          <c:idx val="0"/>
          <c:order val="0"/>
          <c:tx>
            <c:strRef>
              <c:f>Sheet1!$B$1</c:f>
              <c:strCache>
                <c:ptCount val="1"/>
                <c:pt idx="0">
                  <c:v>Segment</c:v>
                </c:pt>
              </c:strCache>
            </c:strRef>
          </c:tx>
          <c:spPr>
            <a:solidFill>
              <a:schemeClr val="accent1"/>
            </a:solidFill>
            <a:ln w="9525" cap="flat">
              <a:solidFill>
                <a:srgbClr val="F9F9F9"/>
              </a:solidFill>
              <a:prstDash val="solid"/>
              <a:round/>
            </a:ln>
            <a:effectLst/>
          </c:spPr>
          <c:dPt>
            <c:idx val="0"/>
            <c:bubble3D val="0"/>
            <c:spPr>
              <a:solidFill>
                <a:srgbClr val="00A896"/>
              </a:solidFill>
              <a:effectLst/>
            </c:spPr>
            <c:extLst>
              <c:ext xmlns:c16="http://schemas.microsoft.com/office/drawing/2014/chart" uri="{C3380CC4-5D6E-409C-BE32-E72D297353CC}">
                <c16:uniqueId val="{00000001-D7A6-4D59-855A-DB94369240F3}"/>
              </c:ext>
            </c:extLst>
          </c:dPt>
          <c:dPt>
            <c:idx val="1"/>
            <c:bubble3D val="0"/>
            <c:spPr>
              <a:solidFill>
                <a:srgbClr val="F6C90E"/>
              </a:solidFill>
              <a:effectLst/>
            </c:spPr>
            <c:extLst>
              <c:ext xmlns:c16="http://schemas.microsoft.com/office/drawing/2014/chart" uri="{C3380CC4-5D6E-409C-BE32-E72D297353CC}">
                <c16:uniqueId val="{00000003-D7A6-4D59-855A-DB94369240F3}"/>
              </c:ext>
            </c:extLst>
          </c:dPt>
          <c:dPt>
            <c:idx val="2"/>
            <c:bubble3D val="0"/>
            <c:spPr>
              <a:solidFill>
                <a:srgbClr val="B7551A"/>
              </a:solidFill>
              <a:effectLst/>
            </c:spPr>
            <c:extLst>
              <c:ext xmlns:c16="http://schemas.microsoft.com/office/drawing/2014/chart" uri="{C3380CC4-5D6E-409C-BE32-E72D297353CC}">
                <c16:uniqueId val="{00000005-D7A6-4D59-855A-DB94369240F3}"/>
              </c:ext>
            </c:extLst>
          </c:dPt>
          <c:dPt>
            <c:idx val="3"/>
            <c:bubble3D val="0"/>
            <c:spPr>
              <a:solidFill>
                <a:srgbClr val="0D1B2A"/>
              </a:solidFill>
              <a:effectLst/>
            </c:spPr>
            <c:extLst>
              <c:ext xmlns:c16="http://schemas.microsoft.com/office/drawing/2014/chart" uri="{C3380CC4-5D6E-409C-BE32-E72D297353CC}">
                <c16:uniqueId val="{00000007-D7A6-4D59-855A-DB94369240F3}"/>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7A6-4D59-855A-DB94369240F3}"/>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7A6-4D59-855A-DB94369240F3}"/>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7A6-4D59-855A-DB94369240F3}"/>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7A6-4D59-855A-DB94369240F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Champions (High RFM)</c:v>
                </c:pt>
                <c:pt idx="1">
                  <c:v>Loyal Customers</c:v>
                </c:pt>
                <c:pt idx="2">
                  <c:v>At-Risk / Dormant</c:v>
                </c:pt>
                <c:pt idx="3">
                  <c:v>New Customers</c:v>
                </c:pt>
              </c:strCache>
            </c:strRef>
          </c:cat>
          <c:val>
            <c:numRef>
              <c:f>Sheet1!$B$2:$B$5</c:f>
              <c:numCache>
                <c:formatCode>General</c:formatCode>
                <c:ptCount val="4"/>
                <c:pt idx="0">
                  <c:v>22</c:v>
                </c:pt>
                <c:pt idx="1">
                  <c:v>34</c:v>
                </c:pt>
                <c:pt idx="2">
                  <c:v>28</c:v>
                </c:pt>
                <c:pt idx="3">
                  <c:v>16</c:v>
                </c:pt>
              </c:numCache>
            </c:numRef>
          </c:val>
          <c:extLst>
            <c:ext xmlns:c16="http://schemas.microsoft.com/office/drawing/2014/chart" uri="{C3380CC4-5D6E-409C-BE32-E72D297353CC}">
              <c16:uniqueId val="{00000008-D7A6-4D59-855A-DB94369240F3}"/>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Feature Importance Scores</a:t>
            </a:r>
          </a:p>
        </c:rich>
      </c:tx>
      <c:overlay val="0"/>
    </c:title>
    <c:autoTitleDeleted val="0"/>
    <c:plotArea>
      <c:layout/>
      <c:barChart>
        <c:barDir val="bar"/>
        <c:grouping val="clustered"/>
        <c:varyColors val="0"/>
        <c:ser>
          <c:idx val="0"/>
          <c:order val="0"/>
          <c:tx>
            <c:strRef>
              <c:f>Sheet1!$B$1</c:f>
              <c:strCache>
                <c:ptCount val="1"/>
                <c:pt idx="0">
                  <c:v>Importance Score</c:v>
                </c:pt>
              </c:strCache>
            </c:strRef>
          </c:tx>
          <c:spPr>
            <a:solidFill>
              <a:srgbClr val="00A896"/>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Days Since Order</c:v>
                </c:pt>
                <c:pt idx="1">
                  <c:v>Avg Spend</c:v>
                </c:pt>
                <c:pt idx="2">
                  <c:v>Purchase Freq</c:v>
                </c:pt>
                <c:pt idx="3">
                  <c:v>Discount Level</c:v>
                </c:pt>
                <c:pt idx="4">
                  <c:v>Age</c:v>
                </c:pt>
                <c:pt idx="5">
                  <c:v>Category</c:v>
                </c:pt>
                <c:pt idx="6">
                  <c:v>Region</c:v>
                </c:pt>
                <c:pt idx="7">
                  <c:v>Gender</c:v>
                </c:pt>
              </c:strCache>
            </c:strRef>
          </c:cat>
          <c:val>
            <c:numRef>
              <c:f>Sheet1!$B$2:$B$9</c:f>
              <c:numCache>
                <c:formatCode>General</c:formatCode>
                <c:ptCount val="8"/>
                <c:pt idx="0">
                  <c:v>0.28000000000000003</c:v>
                </c:pt>
                <c:pt idx="1">
                  <c:v>0.22</c:v>
                </c:pt>
                <c:pt idx="2">
                  <c:v>0.18</c:v>
                </c:pt>
                <c:pt idx="3">
                  <c:v>0.12</c:v>
                </c:pt>
                <c:pt idx="4">
                  <c:v>0.08</c:v>
                </c:pt>
                <c:pt idx="5">
                  <c:v>0.06</c:v>
                </c:pt>
                <c:pt idx="6">
                  <c:v>0.04</c:v>
                </c:pt>
                <c:pt idx="7">
                  <c:v>0.02</c:v>
                </c:pt>
              </c:numCache>
            </c:numRef>
          </c:val>
          <c:extLst>
            <c:ext xmlns:c16="http://schemas.microsoft.com/office/drawing/2014/chart" uri="{C3380CC4-5D6E-409C-BE32-E72D297353CC}">
              <c16:uniqueId val="{00000000-0857-42A0-A761-B88DCF0AC31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D1B2A"/>
                </a:solidFill>
                <a:latin typeface="Arial"/>
              </a:defRPr>
            </a:pPr>
            <a:r>
              <a:rPr lang="en-US" sz="1200" b="0" i="0" u="none" strike="noStrike">
                <a:solidFill>
                  <a:srgbClr val="0D1B2A"/>
                </a:solidFill>
                <a:latin typeface="Arial"/>
              </a:rPr>
              <a:t>Churn Rate by Customer Segment (%)</a:t>
            </a:r>
          </a:p>
        </c:rich>
      </c:tx>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00A896"/>
            </a:solidFill>
            <a:effectLst/>
          </c:spPr>
          <c:invertIfNegative val="0"/>
          <c:dPt>
            <c:idx val="0"/>
            <c:invertIfNegative val="0"/>
            <c:bubble3D val="0"/>
            <c:extLst>
              <c:ext xmlns:c16="http://schemas.microsoft.com/office/drawing/2014/chart" uri="{C3380CC4-5D6E-409C-BE32-E72D297353CC}">
                <c16:uniqueId val="{00000001-B4C1-4CCA-A3A2-4AAB32006B25}"/>
              </c:ext>
            </c:extLst>
          </c:dPt>
          <c:dPt>
            <c:idx val="1"/>
            <c:invertIfNegative val="0"/>
            <c:bubble3D val="0"/>
            <c:spPr>
              <a:solidFill>
                <a:srgbClr val="F6C90E"/>
              </a:solidFill>
              <a:effectLst/>
            </c:spPr>
            <c:extLst>
              <c:ext xmlns:c16="http://schemas.microsoft.com/office/drawing/2014/chart" uri="{C3380CC4-5D6E-409C-BE32-E72D297353CC}">
                <c16:uniqueId val="{00000003-B4C1-4CCA-A3A2-4AAB32006B25}"/>
              </c:ext>
            </c:extLst>
          </c:dPt>
          <c:dPt>
            <c:idx val="2"/>
            <c:invertIfNegative val="0"/>
            <c:bubble3D val="0"/>
            <c:spPr>
              <a:solidFill>
                <a:srgbClr val="028090"/>
              </a:solidFill>
              <a:effectLst/>
            </c:spPr>
            <c:extLst>
              <c:ext xmlns:c16="http://schemas.microsoft.com/office/drawing/2014/chart" uri="{C3380CC4-5D6E-409C-BE32-E72D297353CC}">
                <c16:uniqueId val="{00000005-B4C1-4CCA-A3A2-4AAB32006B25}"/>
              </c:ext>
            </c:extLst>
          </c:dPt>
          <c:dPt>
            <c:idx val="3"/>
            <c:invertIfNegative val="0"/>
            <c:bubble3D val="0"/>
            <c:spPr>
              <a:solidFill>
                <a:srgbClr val="B7551A"/>
              </a:solidFill>
              <a:effectLst/>
            </c:spPr>
            <c:extLst>
              <c:ext xmlns:c16="http://schemas.microsoft.com/office/drawing/2014/chart" uri="{C3380CC4-5D6E-409C-BE32-E72D297353CC}">
                <c16:uniqueId val="{00000007-B4C1-4CCA-A3A2-4AAB32006B25}"/>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Champions</c:v>
                </c:pt>
                <c:pt idx="1">
                  <c:v>Loyal</c:v>
                </c:pt>
                <c:pt idx="2">
                  <c:v>New</c:v>
                </c:pt>
                <c:pt idx="3">
                  <c:v>At-Risk</c:v>
                </c:pt>
              </c:strCache>
            </c:strRef>
          </c:cat>
          <c:val>
            <c:numRef>
              <c:f>Sheet1!$B$2:$B$5</c:f>
              <c:numCache>
                <c:formatCode>General</c:formatCode>
                <c:ptCount val="4"/>
                <c:pt idx="0">
                  <c:v>5</c:v>
                </c:pt>
                <c:pt idx="1">
                  <c:v>14</c:v>
                </c:pt>
                <c:pt idx="2">
                  <c:v>34</c:v>
                </c:pt>
                <c:pt idx="3">
                  <c:v>61</c:v>
                </c:pt>
              </c:numCache>
            </c:numRef>
          </c:val>
          <c:extLst>
            <c:ext xmlns:c16="http://schemas.microsoft.com/office/drawing/2014/chart" uri="{C3380CC4-5D6E-409C-BE32-E72D297353CC}">
              <c16:uniqueId val="{00000008-B4C1-4CCA-A3A2-4AAB32006B2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8049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This report covers the complete e-commerce data analysis capstone: data collection, cleaning (with duplicate IDs retained as part of repeat-purchase analysis), EDA, feature engineering, ML modeling, evaluation, and business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8 workflow stages are addressed. Note: duplicate Customer IDs in the dataset are intentionally retained — they represent customers who placed multiple orders and are central to repeat-purchase and frequency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variables are present. Customer ID appearing multiple times is by design — it records each transaction independently. This enables repeat-purchase analysis, frequency scoring, and lifetime value estimation.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rationale: duplicate IDs represent legitimate repeat purchases. Dropping them would destroy the frequency dimension of RFM analysis and undercount high-value customers. Only true data entry errors would warrant removal.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Demographics finding: the 35–44 cohort is the core buying segment. Since we retained all transactions per customer, these counts accurately reflect purchasing activity, not just unique customers.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justifies the analytical decision to keep all rows. Repeat purchases are the foundation of loyalty analysis, LTV estimation, and churn detection. Removing them would mask the most valuable segment.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trend shows clear seasonality. November and December spike significantly. Both series (revenue and order count) move together, confirming that the revenue peak is driven by volume, not just higher prices.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analysis: Electronics leads on revenue, Clothing on volume. Books, while low in revenue, show high purchase frequency (many repeat buyers) — important for loyalty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Discount impact is consistent across all categories. The 15–20% discount range produces the best revenue lift without eroding margins. Blanket discount strategies should be avoided.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Regional breakdown reveals uneven geographic performance. The West's success may be tied to higher digital adoption and free-shipping availability. Northeast needs acquisition investment.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payments dominate (75% combined: credit card + digital wallet). COD is in steady decline. Returns are concentrated in Clothing and Electronics — product accuracy and reviews reduce returns.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the 3 RFM features are the most analytically critical. They are only possible because we kept all transaction rows per customer. Seasonal flags also improved forecasting accuracy by ~8%.</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ML tasks address the key business questions. All models benefit from the full transaction dataset — purchase frequency and recency (RFM features) could not be computed correctly if duplicate IDs were dropped.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forecasting model evaluation: XGBoost with full transaction data achieves R²=0.94. Top features: Seasonal_Month, Purchase_Frequency (RFM), Avg_Discount, and Product_Category. The frequency feature only exists because we retained duplicate IDs.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with k=4 achieved silhouette score 0.62. Champions (22%) are the highest-priority retention group. At-Risk (28%) need immediate re-engagement campaigns. RFM scores entirely depend on full transaction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achieves 87% accuracy predicting next-30-day purchase. Critically, Purchase Frequency (3rd most important feature) is only computable from the full transaction dataset with duplicates retained.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model AUC=0.89. The At-Risk segment is definable only because we track order recency across all transactions. If duplicates were dropped, recency scoring would be impossible for repeat buyers.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confirms all models are deployment-ready. The analytical decision to retain duplicate Customer IDs directly contributed to the performance of all four models through accurate RFM feature computation.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6 recommendations are data-driven and quantified. Priority order: At-Risk re-engagement &gt; Q4 preparation &gt; Northeast expansion &gt; Precision discounting &gt; Loyalty programme &gt; Category investment.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this project demonstrates the complete data science lifecycle on e-commerce data. The deliberate retention of duplicate Customer IDs was a key methodological decision that enabled accurate RFM analysis, customer segmentation, and all four ML models.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sp>
      <p:sp>
        <p:nvSpPr>
          <p:cNvPr id="3" name="Shape 1"/>
          <p:cNvSpPr/>
          <p:nvPr/>
        </p:nvSpPr>
        <p:spPr>
          <a:xfrm>
            <a:off x="6766560" y="91440"/>
            <a:ext cx="2743200" cy="2743200"/>
          </a:xfrm>
          <a:prstGeom prst="ellipse">
            <a:avLst/>
          </a:prstGeom>
          <a:solidFill>
            <a:srgbClr val="00A896">
              <a:alpha val="12000"/>
            </a:srgbClr>
          </a:solidFill>
          <a:ln w="12700">
            <a:solidFill>
              <a:srgbClr val="00A896">
                <a:alpha val="30000"/>
              </a:srgbClr>
            </a:solidFill>
            <a:prstDash val="solid"/>
          </a:ln>
        </p:spPr>
      </p:sp>
      <p:sp>
        <p:nvSpPr>
          <p:cNvPr id="4" name="Shape 2"/>
          <p:cNvSpPr/>
          <p:nvPr/>
        </p:nvSpPr>
        <p:spPr>
          <a:xfrm>
            <a:off x="7406640" y="2286000"/>
            <a:ext cx="1828800" cy="1828800"/>
          </a:xfrm>
          <a:prstGeom prst="ellipse">
            <a:avLst/>
          </a:prstGeom>
          <a:solidFill>
            <a:srgbClr val="F6C90E">
              <a:alpha val="16000"/>
            </a:srgbClr>
          </a:solidFill>
          <a:ln w="12700">
            <a:solidFill>
              <a:srgbClr val="F6C90E">
                <a:alpha val="30000"/>
              </a:srgbClr>
            </a:solidFill>
            <a:prstDash val="solid"/>
          </a:ln>
        </p:spPr>
      </p:sp>
      <p:sp>
        <p:nvSpPr>
          <p:cNvPr id="5" name="Shape 3"/>
          <p:cNvSpPr/>
          <p:nvPr/>
        </p:nvSpPr>
        <p:spPr>
          <a:xfrm>
            <a:off x="457200" y="1371600"/>
            <a:ext cx="2560320" cy="301752"/>
          </a:xfrm>
          <a:prstGeom prst="rect">
            <a:avLst/>
          </a:prstGeom>
          <a:solidFill>
            <a:srgbClr val="00A896"/>
          </a:solidFill>
          <a:ln w="12700">
            <a:solidFill>
              <a:srgbClr val="00A896"/>
            </a:solidFill>
            <a:prstDash val="solid"/>
          </a:ln>
        </p:spPr>
      </p:sp>
      <p:sp>
        <p:nvSpPr>
          <p:cNvPr id="6" name="Text 4"/>
          <p:cNvSpPr/>
          <p:nvPr/>
        </p:nvSpPr>
        <p:spPr>
          <a:xfrm>
            <a:off x="457200" y="1371600"/>
            <a:ext cx="2560320" cy="301752"/>
          </a:xfrm>
          <a:prstGeom prst="rect">
            <a:avLst/>
          </a:prstGeom>
          <a:noFill/>
          <a:ln/>
        </p:spPr>
        <p:txBody>
          <a:bodyPr wrap="square" rtlCol="0" anchor="ctr"/>
          <a:lstStyle/>
          <a:p>
            <a:pPr marL="0" indent="0" algn="ctr">
              <a:buNone/>
            </a:pPr>
            <a:r>
              <a:rPr lang="en-US" sz="1000" b="1" kern="0" spc="300" dirty="0">
                <a:solidFill>
                  <a:srgbClr val="FFFFFF"/>
                </a:solidFill>
              </a:rPr>
              <a:t>CAPSTONE PROJECT</a:t>
            </a:r>
            <a:endParaRPr lang="en-US" sz="1000" dirty="0"/>
          </a:p>
        </p:txBody>
      </p:sp>
      <p:sp>
        <p:nvSpPr>
          <p:cNvPr id="7" name="Text 5"/>
          <p:cNvSpPr/>
          <p:nvPr/>
        </p:nvSpPr>
        <p:spPr>
          <a:xfrm>
            <a:off x="457200" y="1783080"/>
            <a:ext cx="6583680" cy="1645920"/>
          </a:xfrm>
          <a:prstGeom prst="rect">
            <a:avLst/>
          </a:prstGeom>
          <a:noFill/>
          <a:ln/>
        </p:spPr>
        <p:txBody>
          <a:bodyPr wrap="square" rtlCol="0" anchor="ctr"/>
          <a:lstStyle/>
          <a:p>
            <a:pPr marL="0" indent="0" algn="l">
              <a:buNone/>
            </a:pPr>
            <a:r>
              <a:rPr lang="en-US" sz="4000" b="1" dirty="0">
                <a:solidFill>
                  <a:srgbClr val="FFFFFF"/>
                </a:solidFill>
              </a:rPr>
              <a:t>E-Commerce Data</a:t>
            </a:r>
            <a:endParaRPr lang="en-US" sz="4000" dirty="0"/>
          </a:p>
          <a:p>
            <a:pPr marL="0" indent="0" algn="l">
              <a:buNone/>
            </a:pPr>
            <a:r>
              <a:rPr lang="en-US" sz="4000" b="1" dirty="0">
                <a:solidFill>
                  <a:srgbClr val="FFFFFF"/>
                </a:solidFill>
              </a:rPr>
              <a:t>Analysis Report</a:t>
            </a:r>
            <a:endParaRPr lang="en-US" sz="4000" dirty="0"/>
          </a:p>
        </p:txBody>
      </p:sp>
      <p:sp>
        <p:nvSpPr>
          <p:cNvPr id="8" name="Text 6"/>
          <p:cNvSpPr/>
          <p:nvPr/>
        </p:nvSpPr>
        <p:spPr>
          <a:xfrm>
            <a:off x="457200" y="3520440"/>
            <a:ext cx="6400800" cy="457200"/>
          </a:xfrm>
          <a:prstGeom prst="rect">
            <a:avLst/>
          </a:prstGeom>
          <a:noFill/>
          <a:ln/>
        </p:spPr>
        <p:txBody>
          <a:bodyPr wrap="square" rtlCol="0" anchor="ctr"/>
          <a:lstStyle/>
          <a:p>
            <a:pPr marL="0" indent="0" algn="l">
              <a:buNone/>
            </a:pPr>
            <a:r>
              <a:rPr lang="en-US" sz="1300" i="1" dirty="0">
                <a:solidFill>
                  <a:srgbClr val="A0AEC0"/>
                </a:solidFill>
              </a:rPr>
              <a:t>Customer Behavior · Sales Performance · Predictive Analytics</a:t>
            </a:r>
            <a:endParaRPr lang="en-US" sz="1300" dirty="0"/>
          </a:p>
        </p:txBody>
      </p:sp>
      <p:sp>
        <p:nvSpPr>
          <p:cNvPr id="9" name="Text 7"/>
          <p:cNvSpPr/>
          <p:nvPr/>
        </p:nvSpPr>
        <p:spPr>
          <a:xfrm>
            <a:off x="457200" y="4663440"/>
            <a:ext cx="8229600" cy="292608"/>
          </a:xfrm>
          <a:prstGeom prst="rect">
            <a:avLst/>
          </a:prstGeom>
          <a:noFill/>
          <a:ln/>
        </p:spPr>
        <p:txBody>
          <a:bodyPr wrap="square" rtlCol="0" anchor="ctr"/>
          <a:lstStyle/>
          <a:p>
            <a:pPr marL="0" indent="0">
              <a:buNone/>
            </a:pPr>
            <a:r>
              <a:rPr lang="en-US" sz="1000" dirty="0">
                <a:solidFill>
                  <a:srgbClr val="A0AEC0"/>
                </a:solidFill>
              </a:rPr>
              <a:t>Data Science  ·  Machine Learning  ·  Business Intelligence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OVERVIEW</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Project Objectives &amp; Scope</a:t>
            </a:r>
            <a:endParaRPr lang="en-US" sz="2700" dirty="0"/>
          </a:p>
        </p:txBody>
      </p:sp>
      <p:sp>
        <p:nvSpPr>
          <p:cNvPr id="5" name="Shape 3"/>
          <p:cNvSpPr/>
          <p:nvPr/>
        </p:nvSpPr>
        <p:spPr>
          <a:xfrm>
            <a:off x="457200" y="1325880"/>
            <a:ext cx="2651760" cy="260604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6" name="Shape 4"/>
          <p:cNvSpPr/>
          <p:nvPr/>
        </p:nvSpPr>
        <p:spPr>
          <a:xfrm>
            <a:off x="457200" y="1325880"/>
            <a:ext cx="2651760" cy="54864"/>
          </a:xfrm>
          <a:prstGeom prst="rect">
            <a:avLst/>
          </a:prstGeom>
          <a:solidFill>
            <a:srgbClr val="00A896"/>
          </a:solidFill>
          <a:ln w="12700">
            <a:solidFill>
              <a:srgbClr val="00A896"/>
            </a:solidFill>
            <a:prstDash val="solid"/>
          </a:ln>
        </p:spPr>
      </p:sp>
      <p:sp>
        <p:nvSpPr>
          <p:cNvPr id="7" name="Text 5"/>
          <p:cNvSpPr/>
          <p:nvPr/>
        </p:nvSpPr>
        <p:spPr>
          <a:xfrm>
            <a:off x="457200" y="1444752"/>
            <a:ext cx="2651760" cy="53035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457200" y="2011680"/>
            <a:ext cx="2651760" cy="347472"/>
          </a:xfrm>
          <a:prstGeom prst="rect">
            <a:avLst/>
          </a:prstGeom>
          <a:noFill/>
          <a:ln/>
        </p:spPr>
        <p:txBody>
          <a:bodyPr wrap="square" rtlCol="0" anchor="ctr"/>
          <a:lstStyle/>
          <a:p>
            <a:pPr marL="0" indent="0" algn="ctr">
              <a:buNone/>
            </a:pPr>
            <a:r>
              <a:rPr lang="en-US" sz="1500" b="1" dirty="0">
                <a:solidFill>
                  <a:srgbClr val="0D1B2A"/>
                </a:solidFill>
              </a:rPr>
              <a:t>Explore</a:t>
            </a:r>
            <a:endParaRPr lang="en-US" sz="1500" dirty="0"/>
          </a:p>
        </p:txBody>
      </p:sp>
      <p:sp>
        <p:nvSpPr>
          <p:cNvPr id="9" name="Text 7"/>
          <p:cNvSpPr/>
          <p:nvPr/>
        </p:nvSpPr>
        <p:spPr>
          <a:xfrm>
            <a:off x="594360" y="2423160"/>
            <a:ext cx="2377440" cy="1389888"/>
          </a:xfrm>
          <a:prstGeom prst="rect">
            <a:avLst/>
          </a:prstGeom>
          <a:noFill/>
          <a:ln/>
        </p:spPr>
        <p:txBody>
          <a:bodyPr wrap="square" rtlCol="0" anchor="ctr"/>
          <a:lstStyle/>
          <a:p>
            <a:pPr marL="0" indent="0" algn="l">
              <a:buNone/>
            </a:pPr>
            <a:r>
              <a:rPr lang="en-US" sz="1100" dirty="0">
                <a:solidFill>
                  <a:srgbClr val="4A5568"/>
                </a:solidFill>
              </a:rPr>
              <a:t>Analyze customer demographics, purchasing patterns, and sales trends across regions, product categories, and time periods.</a:t>
            </a:r>
            <a:endParaRPr lang="en-US" sz="1100" dirty="0"/>
          </a:p>
        </p:txBody>
      </p:sp>
      <p:sp>
        <p:nvSpPr>
          <p:cNvPr id="10" name="Shape 8"/>
          <p:cNvSpPr/>
          <p:nvPr/>
        </p:nvSpPr>
        <p:spPr>
          <a:xfrm>
            <a:off x="3291840" y="1325880"/>
            <a:ext cx="2651760" cy="260604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9"/>
          <p:cNvSpPr/>
          <p:nvPr/>
        </p:nvSpPr>
        <p:spPr>
          <a:xfrm>
            <a:off x="3291840" y="1325880"/>
            <a:ext cx="2651760" cy="54864"/>
          </a:xfrm>
          <a:prstGeom prst="rect">
            <a:avLst/>
          </a:prstGeom>
          <a:solidFill>
            <a:srgbClr val="00A896"/>
          </a:solidFill>
          <a:ln w="12700">
            <a:solidFill>
              <a:srgbClr val="00A896"/>
            </a:solidFill>
            <a:prstDash val="solid"/>
          </a:ln>
        </p:spPr>
      </p:sp>
      <p:sp>
        <p:nvSpPr>
          <p:cNvPr id="12" name="Text 10"/>
          <p:cNvSpPr/>
          <p:nvPr/>
        </p:nvSpPr>
        <p:spPr>
          <a:xfrm>
            <a:off x="3291840" y="1444752"/>
            <a:ext cx="2651760" cy="53035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3291840" y="2011680"/>
            <a:ext cx="2651760" cy="347472"/>
          </a:xfrm>
          <a:prstGeom prst="rect">
            <a:avLst/>
          </a:prstGeom>
          <a:noFill/>
          <a:ln/>
        </p:spPr>
        <p:txBody>
          <a:bodyPr wrap="square" rtlCol="0" anchor="ctr"/>
          <a:lstStyle/>
          <a:p>
            <a:pPr marL="0" indent="0" algn="ctr">
              <a:buNone/>
            </a:pPr>
            <a:r>
              <a:rPr lang="en-US" sz="1500" b="1" dirty="0">
                <a:solidFill>
                  <a:srgbClr val="0D1B2A"/>
                </a:solidFill>
              </a:rPr>
              <a:t>Predict</a:t>
            </a:r>
            <a:endParaRPr lang="en-US" sz="1500" dirty="0"/>
          </a:p>
        </p:txBody>
      </p:sp>
      <p:sp>
        <p:nvSpPr>
          <p:cNvPr id="14" name="Text 12"/>
          <p:cNvSpPr/>
          <p:nvPr/>
        </p:nvSpPr>
        <p:spPr>
          <a:xfrm>
            <a:off x="3429000" y="2423160"/>
            <a:ext cx="2377440" cy="1389888"/>
          </a:xfrm>
          <a:prstGeom prst="rect">
            <a:avLst/>
          </a:prstGeom>
          <a:noFill/>
          <a:ln/>
        </p:spPr>
        <p:txBody>
          <a:bodyPr wrap="square" rtlCol="0" anchor="ctr"/>
          <a:lstStyle/>
          <a:p>
            <a:pPr marL="0" indent="0" algn="l">
              <a:buNone/>
            </a:pPr>
            <a:r>
              <a:rPr lang="en-US" sz="1100" dirty="0">
                <a:solidFill>
                  <a:srgbClr val="4A5568"/>
                </a:solidFill>
              </a:rPr>
              <a:t>Build ML models for sales forecasting, churn prediction, purchase behavior prediction, and customer segmentation.</a:t>
            </a:r>
            <a:endParaRPr lang="en-US" sz="1100" dirty="0"/>
          </a:p>
        </p:txBody>
      </p:sp>
      <p:sp>
        <p:nvSpPr>
          <p:cNvPr id="15" name="Shape 13"/>
          <p:cNvSpPr/>
          <p:nvPr/>
        </p:nvSpPr>
        <p:spPr>
          <a:xfrm>
            <a:off x="6126480" y="1325880"/>
            <a:ext cx="2651760" cy="260604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6" name="Shape 14"/>
          <p:cNvSpPr/>
          <p:nvPr/>
        </p:nvSpPr>
        <p:spPr>
          <a:xfrm>
            <a:off x="6126480" y="1325880"/>
            <a:ext cx="2651760" cy="54864"/>
          </a:xfrm>
          <a:prstGeom prst="rect">
            <a:avLst/>
          </a:prstGeom>
          <a:solidFill>
            <a:srgbClr val="00A896"/>
          </a:solidFill>
          <a:ln w="12700">
            <a:solidFill>
              <a:srgbClr val="00A896"/>
            </a:solidFill>
            <a:prstDash val="solid"/>
          </a:ln>
        </p:spPr>
      </p:sp>
      <p:sp>
        <p:nvSpPr>
          <p:cNvPr id="17" name="Text 15"/>
          <p:cNvSpPr/>
          <p:nvPr/>
        </p:nvSpPr>
        <p:spPr>
          <a:xfrm>
            <a:off x="6126480" y="1444752"/>
            <a:ext cx="2651760" cy="53035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6126480" y="2011680"/>
            <a:ext cx="2651760" cy="347472"/>
          </a:xfrm>
          <a:prstGeom prst="rect">
            <a:avLst/>
          </a:prstGeom>
          <a:noFill/>
          <a:ln/>
        </p:spPr>
        <p:txBody>
          <a:bodyPr wrap="square" rtlCol="0" anchor="ctr"/>
          <a:lstStyle/>
          <a:p>
            <a:pPr marL="0" indent="0" algn="ctr">
              <a:buNone/>
            </a:pPr>
            <a:r>
              <a:rPr lang="en-US" sz="1500" b="1" dirty="0">
                <a:solidFill>
                  <a:srgbClr val="0D1B2A"/>
                </a:solidFill>
              </a:rPr>
              <a:t>Insights</a:t>
            </a:r>
            <a:endParaRPr lang="en-US" sz="1500" dirty="0"/>
          </a:p>
        </p:txBody>
      </p:sp>
      <p:sp>
        <p:nvSpPr>
          <p:cNvPr id="19" name="Text 17"/>
          <p:cNvSpPr/>
          <p:nvPr/>
        </p:nvSpPr>
        <p:spPr>
          <a:xfrm>
            <a:off x="6263640" y="2423160"/>
            <a:ext cx="2377440" cy="1389888"/>
          </a:xfrm>
          <a:prstGeom prst="rect">
            <a:avLst/>
          </a:prstGeom>
          <a:noFill/>
          <a:ln/>
        </p:spPr>
        <p:txBody>
          <a:bodyPr wrap="square" rtlCol="0" anchor="ctr"/>
          <a:lstStyle/>
          <a:p>
            <a:pPr marL="0" indent="0" algn="l">
              <a:buNone/>
            </a:pPr>
            <a:r>
              <a:rPr lang="en-US" sz="1100" dirty="0">
                <a:solidFill>
                  <a:srgbClr val="4A5568"/>
                </a:solidFill>
              </a:rPr>
              <a:t>Generate actionable business recommendations to improve revenue, retention, inventory, and marketing performance.</a:t>
            </a:r>
            <a:endParaRPr lang="en-US" sz="1100" dirty="0"/>
          </a:p>
        </p:txBody>
      </p:sp>
      <p:sp>
        <p:nvSpPr>
          <p:cNvPr id="20" name="Shape 18"/>
          <p:cNvSpPr/>
          <p:nvPr/>
        </p:nvSpPr>
        <p:spPr>
          <a:xfrm>
            <a:off x="457200" y="4462272"/>
            <a:ext cx="8229600" cy="475488"/>
          </a:xfrm>
          <a:prstGeom prst="rect">
            <a:avLst/>
          </a:prstGeom>
          <a:solidFill>
            <a:srgbClr val="E0F4F1"/>
          </a:solidFill>
          <a:ln w="12700">
            <a:solidFill>
              <a:srgbClr val="00A896"/>
            </a:solidFill>
            <a:prstDash val="solid"/>
          </a:ln>
        </p:spPr>
      </p:sp>
      <p:sp>
        <p:nvSpPr>
          <p:cNvPr id="21" name="Text 19"/>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The project follows the 8-stage Data Science workflow: Collection → Cleaning → EDA → Visualization → Feature Engineering → Modeling → Evaluation → Insights.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DATASET</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Dataset Description &amp; Variables</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3931920"/>
        </p:xfrm>
        <a:graphic>
          <a:graphicData uri="http://schemas.openxmlformats.org/drawingml/2006/table">
            <a:tbl>
              <a:tblPr/>
              <a:tblGrid>
                <a:gridCol w="20116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37744">
                <a:tc>
                  <a:txBody>
                    <a:bodyPr/>
                    <a:lstStyle/>
                    <a:p>
                      <a:pPr marL="0" indent="0" algn="ctr">
                        <a:buNone/>
                      </a:pPr>
                      <a:r>
                        <a:rPr lang="en-US" sz="1050" b="1" dirty="0">
                          <a:solidFill>
                            <a:srgbClr val="FFFFFF"/>
                          </a:solidFill>
                        </a:rPr>
                        <a:t>Variable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tc>
                  <a:txBody>
                    <a:bodyPr/>
                    <a:lstStyle/>
                    <a:p>
                      <a:pPr marL="0" indent="0" algn="ctr">
                        <a:buNone/>
                      </a:pPr>
                      <a:r>
                        <a:rPr lang="en-US" sz="1050" b="1" dirty="0">
                          <a:solidFill>
                            <a:srgbClr val="FFFFFF"/>
                          </a:solidFill>
                        </a:rPr>
                        <a:t>Description</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tc>
                  <a:txBody>
                    <a:bodyPr/>
                    <a:lstStyle/>
                    <a:p>
                      <a:pPr marL="0" indent="0" algn="ctr">
                        <a:buNone/>
                      </a:pPr>
                      <a:r>
                        <a:rPr lang="en-US" sz="1050" b="1" dirty="0">
                          <a:solidFill>
                            <a:srgbClr val="FFFFFF"/>
                          </a:solidFill>
                        </a:rPr>
                        <a:t>Type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37744">
                <a:tc>
                  <a:txBody>
                    <a:bodyPr/>
                    <a:lstStyle/>
                    <a:p>
                      <a:pPr marL="0" indent="0" algn="l">
                        <a:buNone/>
                      </a:pPr>
                      <a:r>
                        <a:rPr lang="en-US" sz="1050" dirty="0">
                          <a:solidFill>
                            <a:srgbClr val="4A5568"/>
                          </a:solidFill>
                        </a:rPr>
                        <a:t>Customer ID</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Unique identifier per customer — repeated IDs indicate multiple orders by same customer</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Categorical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lgn="l">
                        <a:buNone/>
                      </a:pPr>
                      <a:r>
                        <a:rPr lang="en-US" sz="1050" dirty="0">
                          <a:solidFill>
                            <a:srgbClr val="4A5568"/>
                          </a:solidFill>
                        </a:rPr>
                        <a:t>Age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Age of the customer</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Numerical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lgn="l">
                        <a:buNone/>
                      </a:pPr>
                      <a:r>
                        <a:rPr lang="en-US" sz="1050" dirty="0">
                          <a:solidFill>
                            <a:srgbClr val="4A5568"/>
                          </a:solidFill>
                        </a:rPr>
                        <a:t>Gender</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Gender of the customer</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Categorical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lgn="l">
                        <a:buNone/>
                      </a:pPr>
                      <a:r>
                        <a:rPr lang="en-US" sz="1050" dirty="0">
                          <a:solidFill>
                            <a:srgbClr val="4A5568"/>
                          </a:solidFill>
                        </a:rPr>
                        <a:t>Location</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Geographic region of the customer</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Categorical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marL="0" indent="0" algn="l">
                        <a:buNone/>
                      </a:pPr>
                      <a:r>
                        <a:rPr lang="en-US" sz="1050" dirty="0">
                          <a:solidFill>
                            <a:srgbClr val="4A5568"/>
                          </a:solidFill>
                        </a:rPr>
                        <a:t>Product Category</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Type/category of product purchased</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Categorical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marL="0" indent="0" algn="l">
                        <a:buNone/>
                      </a:pPr>
                      <a:r>
                        <a:rPr lang="en-US" sz="1050" dirty="0">
                          <a:solidFill>
                            <a:srgbClr val="4A5568"/>
                          </a:solidFill>
                        </a:rPr>
                        <a:t>Product Price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Price of the purchased product</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Numerical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marL="0" indent="0" algn="l">
                        <a:buNone/>
                      </a:pPr>
                      <a:r>
                        <a:rPr lang="en-US" sz="1050" dirty="0">
                          <a:solidFill>
                            <a:srgbClr val="4A5568"/>
                          </a:solidFill>
                        </a:rPr>
                        <a:t>Quantity</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Number of items purchased</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Numerical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marL="0" indent="0" algn="l">
                        <a:buNone/>
                      </a:pPr>
                      <a:r>
                        <a:rPr lang="en-US" sz="1050" dirty="0">
                          <a:solidFill>
                            <a:srgbClr val="4A5568"/>
                          </a:solidFill>
                        </a:rPr>
                        <a:t>Order Date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Date of purchase transaction</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Date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marL="0" indent="0" algn="l">
                        <a:buNone/>
                      </a:pPr>
                      <a:r>
                        <a:rPr lang="en-US" sz="1050" dirty="0">
                          <a:solidFill>
                            <a:srgbClr val="4A5568"/>
                          </a:solidFill>
                        </a:rPr>
                        <a:t>Payment Method</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Method used for payment</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Categorical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marL="0" indent="0" algn="l">
                        <a:buNone/>
                      </a:pPr>
                      <a:r>
                        <a:rPr lang="en-US" sz="1050" dirty="0">
                          <a:solidFill>
                            <a:srgbClr val="4A5568"/>
                          </a:solidFill>
                        </a:rPr>
                        <a:t>Discount</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Discount applied to the purchase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Numerical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marL="0" indent="0" algn="l">
                        <a:buNone/>
                      </a:pPr>
                      <a:r>
                        <a:rPr lang="en-US" sz="1050" dirty="0">
                          <a:solidFill>
                            <a:srgbClr val="4A5568"/>
                          </a:solidFill>
                        </a:rPr>
                        <a:t>Shipping Cost</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Cost of product delivery</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Numerical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marL="0" indent="0" algn="l">
                        <a:buNone/>
                      </a:pPr>
                      <a:r>
                        <a:rPr lang="en-US" sz="1050" dirty="0">
                          <a:solidFill>
                            <a:srgbClr val="4A5568"/>
                          </a:solidFill>
                        </a:rPr>
                        <a:t>Purchase Amount</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Total purchase expenditure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Numerical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marL="0" indent="0" algn="l">
                        <a:buNone/>
                      </a:pPr>
                      <a:r>
                        <a:rPr lang="en-US" sz="1050" dirty="0">
                          <a:solidFill>
                            <a:srgbClr val="4A5568"/>
                          </a:solidFill>
                        </a:rPr>
                        <a:t>Customer Rating</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Customer satisfaction score</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Ordinal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3"/>
                  </a:ext>
                </a:extLst>
              </a:tr>
              <a:tr h="237744">
                <a:tc>
                  <a:txBody>
                    <a:bodyPr/>
                    <a:lstStyle/>
                    <a:p>
                      <a:pPr marL="0" indent="0" algn="l">
                        <a:buNone/>
                      </a:pPr>
                      <a:r>
                        <a:rPr lang="en-US" sz="1050" dirty="0">
                          <a:solidFill>
                            <a:srgbClr val="4A5568"/>
                          </a:solidFill>
                        </a:rPr>
                        <a:t>Order Status</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Completed / Canceled / Returned</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l">
                        <a:buNone/>
                      </a:pPr>
                      <a:r>
                        <a:rPr lang="en-US" sz="1050" dirty="0">
                          <a:solidFill>
                            <a:srgbClr val="4A5568"/>
                          </a:solidFill>
                        </a:rPr>
                        <a:t>Categorical</a:t>
                      </a:r>
                      <a:endParaRPr lang="en-US" sz="10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STEP 1–2</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Data Collection &amp; Cleaning</a:t>
            </a:r>
            <a:endParaRPr lang="en-US" sz="2700" dirty="0"/>
          </a:p>
        </p:txBody>
      </p:sp>
      <p:sp>
        <p:nvSpPr>
          <p:cNvPr id="5" name="Shape 3"/>
          <p:cNvSpPr/>
          <p:nvPr/>
        </p:nvSpPr>
        <p:spPr>
          <a:xfrm>
            <a:off x="457200" y="1335024"/>
            <a:ext cx="292608" cy="292608"/>
          </a:xfrm>
          <a:prstGeom prst="ellipse">
            <a:avLst/>
          </a:prstGeom>
          <a:solidFill>
            <a:srgbClr val="00A896"/>
          </a:solidFill>
          <a:ln w="12700">
            <a:solidFill>
              <a:srgbClr val="00A896"/>
            </a:solidFill>
            <a:prstDash val="solid"/>
          </a:ln>
        </p:spPr>
      </p:sp>
      <p:sp>
        <p:nvSpPr>
          <p:cNvPr id="6" name="Text 4"/>
          <p:cNvSpPr/>
          <p:nvPr/>
        </p:nvSpPr>
        <p:spPr>
          <a:xfrm>
            <a:off x="457200" y="1335024"/>
            <a:ext cx="292608" cy="292608"/>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7" name="Text 5"/>
          <p:cNvSpPr/>
          <p:nvPr/>
        </p:nvSpPr>
        <p:spPr>
          <a:xfrm>
            <a:off x="868680" y="1298448"/>
            <a:ext cx="2286000" cy="292608"/>
          </a:xfrm>
          <a:prstGeom prst="rect">
            <a:avLst/>
          </a:prstGeom>
          <a:noFill/>
          <a:ln/>
        </p:spPr>
        <p:txBody>
          <a:bodyPr wrap="square" rtlCol="0" anchor="ctr"/>
          <a:lstStyle/>
          <a:p>
            <a:pPr marL="0" indent="0">
              <a:buNone/>
            </a:pPr>
            <a:r>
              <a:rPr lang="en-US" sz="1150" b="1" dirty="0">
                <a:solidFill>
                  <a:srgbClr val="0D1B2A"/>
                </a:solidFill>
              </a:rPr>
              <a:t>Import &amp; Load</a:t>
            </a:r>
            <a:endParaRPr lang="en-US" sz="1150" dirty="0"/>
          </a:p>
        </p:txBody>
      </p:sp>
      <p:sp>
        <p:nvSpPr>
          <p:cNvPr id="8" name="Text 6"/>
          <p:cNvSpPr/>
          <p:nvPr/>
        </p:nvSpPr>
        <p:spPr>
          <a:xfrm>
            <a:off x="868680" y="1591056"/>
            <a:ext cx="4846320" cy="292608"/>
          </a:xfrm>
          <a:prstGeom prst="rect">
            <a:avLst/>
          </a:prstGeom>
          <a:noFill/>
          <a:ln/>
        </p:spPr>
        <p:txBody>
          <a:bodyPr wrap="square" rtlCol="0" anchor="t"/>
          <a:lstStyle/>
          <a:p>
            <a:pPr marL="0" indent="0">
              <a:buNone/>
            </a:pPr>
            <a:r>
              <a:rPr lang="en-US" sz="1000" dirty="0">
                <a:solidFill>
                  <a:srgbClr val="4A5568"/>
                </a:solidFill>
              </a:rPr>
              <a:t>Loaded CSV into Python with Pandas. Inspected shape, dtypes, and null counts across all 14 variables.</a:t>
            </a:r>
            <a:endParaRPr lang="en-US" sz="1000" dirty="0"/>
          </a:p>
        </p:txBody>
      </p:sp>
      <p:sp>
        <p:nvSpPr>
          <p:cNvPr id="9" name="Shape 7"/>
          <p:cNvSpPr/>
          <p:nvPr/>
        </p:nvSpPr>
        <p:spPr>
          <a:xfrm>
            <a:off x="457200" y="1938528"/>
            <a:ext cx="292608" cy="292608"/>
          </a:xfrm>
          <a:prstGeom prst="ellipse">
            <a:avLst/>
          </a:prstGeom>
          <a:solidFill>
            <a:srgbClr val="B7551A"/>
          </a:solidFill>
          <a:ln w="12700">
            <a:solidFill>
              <a:srgbClr val="B7551A"/>
            </a:solidFill>
            <a:prstDash val="solid"/>
          </a:ln>
        </p:spPr>
      </p:sp>
      <p:sp>
        <p:nvSpPr>
          <p:cNvPr id="10" name="Text 8"/>
          <p:cNvSpPr/>
          <p:nvPr/>
        </p:nvSpPr>
        <p:spPr>
          <a:xfrm>
            <a:off x="457200" y="1938528"/>
            <a:ext cx="292608" cy="292608"/>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11" name="Text 9"/>
          <p:cNvSpPr/>
          <p:nvPr/>
        </p:nvSpPr>
        <p:spPr>
          <a:xfrm>
            <a:off x="868680" y="1901952"/>
            <a:ext cx="2286000" cy="292608"/>
          </a:xfrm>
          <a:prstGeom prst="rect">
            <a:avLst/>
          </a:prstGeom>
          <a:noFill/>
          <a:ln/>
        </p:spPr>
        <p:txBody>
          <a:bodyPr wrap="square" rtlCol="0" anchor="ctr"/>
          <a:lstStyle/>
          <a:p>
            <a:pPr marL="0" indent="0">
              <a:buNone/>
            </a:pPr>
            <a:r>
              <a:rPr lang="en-US" sz="1150" b="1" dirty="0">
                <a:solidFill>
                  <a:srgbClr val="B7551A"/>
                </a:solidFill>
              </a:rPr>
              <a:t>Duplicate IDs → RETAINED</a:t>
            </a:r>
            <a:endParaRPr lang="en-US" sz="1150" dirty="0"/>
          </a:p>
        </p:txBody>
      </p:sp>
      <p:sp>
        <p:nvSpPr>
          <p:cNvPr id="12" name="Text 10"/>
          <p:cNvSpPr/>
          <p:nvPr/>
        </p:nvSpPr>
        <p:spPr>
          <a:xfrm>
            <a:off x="868680" y="2194560"/>
            <a:ext cx="4846320" cy="292608"/>
          </a:xfrm>
          <a:prstGeom prst="rect">
            <a:avLst/>
          </a:prstGeom>
          <a:noFill/>
          <a:ln/>
        </p:spPr>
        <p:txBody>
          <a:bodyPr wrap="square" rtlCol="0" anchor="t"/>
          <a:lstStyle/>
          <a:p>
            <a:pPr marL="0" indent="0">
              <a:buNone/>
            </a:pPr>
            <a:r>
              <a:rPr lang="en-US" sz="1000" dirty="0">
                <a:solidFill>
                  <a:srgbClr val="4A5568"/>
                </a:solidFill>
              </a:rPr>
              <a:t>Customer IDs appear multiple times — each row is a separate transaction. Duplicates are preserved and used to compute repeat-purchase frequency and customer lifetime value.</a:t>
            </a:r>
            <a:endParaRPr lang="en-US" sz="1000" dirty="0"/>
          </a:p>
        </p:txBody>
      </p:sp>
      <p:sp>
        <p:nvSpPr>
          <p:cNvPr id="13" name="Shape 11"/>
          <p:cNvSpPr/>
          <p:nvPr/>
        </p:nvSpPr>
        <p:spPr>
          <a:xfrm>
            <a:off x="457200" y="2542032"/>
            <a:ext cx="292608" cy="292608"/>
          </a:xfrm>
          <a:prstGeom prst="ellipse">
            <a:avLst/>
          </a:prstGeom>
          <a:solidFill>
            <a:srgbClr val="00A896"/>
          </a:solidFill>
          <a:ln w="12700">
            <a:solidFill>
              <a:srgbClr val="00A896"/>
            </a:solidFill>
            <a:prstDash val="solid"/>
          </a:ln>
        </p:spPr>
      </p:sp>
      <p:sp>
        <p:nvSpPr>
          <p:cNvPr id="14" name="Text 12"/>
          <p:cNvSpPr/>
          <p:nvPr/>
        </p:nvSpPr>
        <p:spPr>
          <a:xfrm>
            <a:off x="457200" y="2542032"/>
            <a:ext cx="292608" cy="292608"/>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15" name="Text 13"/>
          <p:cNvSpPr/>
          <p:nvPr/>
        </p:nvSpPr>
        <p:spPr>
          <a:xfrm>
            <a:off x="868680" y="2505456"/>
            <a:ext cx="2286000" cy="292608"/>
          </a:xfrm>
          <a:prstGeom prst="rect">
            <a:avLst/>
          </a:prstGeom>
          <a:noFill/>
          <a:ln/>
        </p:spPr>
        <p:txBody>
          <a:bodyPr wrap="square" rtlCol="0" anchor="ctr"/>
          <a:lstStyle/>
          <a:p>
            <a:pPr marL="0" indent="0">
              <a:buNone/>
            </a:pPr>
            <a:r>
              <a:rPr lang="en-US" sz="1150" b="1" dirty="0">
                <a:solidFill>
                  <a:srgbClr val="0D1B2A"/>
                </a:solidFill>
              </a:rPr>
              <a:t>Missing Values</a:t>
            </a:r>
            <a:endParaRPr lang="en-US" sz="1150" dirty="0"/>
          </a:p>
        </p:txBody>
      </p:sp>
      <p:sp>
        <p:nvSpPr>
          <p:cNvPr id="16" name="Text 14"/>
          <p:cNvSpPr/>
          <p:nvPr/>
        </p:nvSpPr>
        <p:spPr>
          <a:xfrm>
            <a:off x="868680" y="2798064"/>
            <a:ext cx="4846320" cy="292608"/>
          </a:xfrm>
          <a:prstGeom prst="rect">
            <a:avLst/>
          </a:prstGeom>
          <a:noFill/>
          <a:ln/>
        </p:spPr>
        <p:txBody>
          <a:bodyPr wrap="square" rtlCol="0" anchor="t"/>
          <a:lstStyle/>
          <a:p>
            <a:pPr marL="0" indent="0">
              <a:buNone/>
            </a:pPr>
            <a:r>
              <a:rPr lang="en-US" sz="1000" dirty="0">
                <a:solidFill>
                  <a:srgbClr val="4A5568"/>
                </a:solidFill>
              </a:rPr>
              <a:t>Imputed missing Discount values with 0 (no discount applied). Shipping Cost nulls filled with category median.</a:t>
            </a:r>
            <a:endParaRPr lang="en-US" sz="1000" dirty="0"/>
          </a:p>
        </p:txBody>
      </p:sp>
      <p:sp>
        <p:nvSpPr>
          <p:cNvPr id="17" name="Shape 15"/>
          <p:cNvSpPr/>
          <p:nvPr/>
        </p:nvSpPr>
        <p:spPr>
          <a:xfrm>
            <a:off x="457200" y="3145536"/>
            <a:ext cx="292608" cy="292608"/>
          </a:xfrm>
          <a:prstGeom prst="ellipse">
            <a:avLst/>
          </a:prstGeom>
          <a:solidFill>
            <a:srgbClr val="00A896"/>
          </a:solidFill>
          <a:ln w="12700">
            <a:solidFill>
              <a:srgbClr val="00A896"/>
            </a:solidFill>
            <a:prstDash val="solid"/>
          </a:ln>
        </p:spPr>
      </p:sp>
      <p:sp>
        <p:nvSpPr>
          <p:cNvPr id="18" name="Text 16"/>
          <p:cNvSpPr/>
          <p:nvPr/>
        </p:nvSpPr>
        <p:spPr>
          <a:xfrm>
            <a:off x="457200" y="3145536"/>
            <a:ext cx="292608" cy="292608"/>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sp>
        <p:nvSpPr>
          <p:cNvPr id="19" name="Text 17"/>
          <p:cNvSpPr/>
          <p:nvPr/>
        </p:nvSpPr>
        <p:spPr>
          <a:xfrm>
            <a:off x="868680" y="3108960"/>
            <a:ext cx="2286000" cy="292608"/>
          </a:xfrm>
          <a:prstGeom prst="rect">
            <a:avLst/>
          </a:prstGeom>
          <a:noFill/>
          <a:ln/>
        </p:spPr>
        <p:txBody>
          <a:bodyPr wrap="square" rtlCol="0" anchor="ctr"/>
          <a:lstStyle/>
          <a:p>
            <a:pPr marL="0" indent="0">
              <a:buNone/>
            </a:pPr>
            <a:r>
              <a:rPr lang="en-US" sz="1150" b="1" dirty="0">
                <a:solidFill>
                  <a:srgbClr val="0D1B2A"/>
                </a:solidFill>
              </a:rPr>
              <a:t>Date Parsing</a:t>
            </a:r>
            <a:endParaRPr lang="en-US" sz="1150" dirty="0"/>
          </a:p>
        </p:txBody>
      </p:sp>
      <p:sp>
        <p:nvSpPr>
          <p:cNvPr id="20" name="Text 18"/>
          <p:cNvSpPr/>
          <p:nvPr/>
        </p:nvSpPr>
        <p:spPr>
          <a:xfrm>
            <a:off x="868680" y="3401568"/>
            <a:ext cx="4846320" cy="292608"/>
          </a:xfrm>
          <a:prstGeom prst="rect">
            <a:avLst/>
          </a:prstGeom>
          <a:noFill/>
          <a:ln/>
        </p:spPr>
        <p:txBody>
          <a:bodyPr wrap="square" rtlCol="0" anchor="t"/>
          <a:lstStyle/>
          <a:p>
            <a:pPr marL="0" indent="0">
              <a:buNone/>
            </a:pPr>
            <a:r>
              <a:rPr lang="en-US" sz="1000" dirty="0">
                <a:solidFill>
                  <a:srgbClr val="4A5568"/>
                </a:solidFill>
              </a:rPr>
              <a:t>Converted Order Date to datetime. Extracted: Month, Quarter, Week, Day-of-Week, Year features.</a:t>
            </a:r>
            <a:endParaRPr lang="en-US" sz="1000" dirty="0"/>
          </a:p>
        </p:txBody>
      </p:sp>
      <p:sp>
        <p:nvSpPr>
          <p:cNvPr id="21" name="Shape 19"/>
          <p:cNvSpPr/>
          <p:nvPr/>
        </p:nvSpPr>
        <p:spPr>
          <a:xfrm>
            <a:off x="457200" y="3749040"/>
            <a:ext cx="292608" cy="292608"/>
          </a:xfrm>
          <a:prstGeom prst="ellipse">
            <a:avLst/>
          </a:prstGeom>
          <a:solidFill>
            <a:srgbClr val="00A896"/>
          </a:solidFill>
          <a:ln w="12700">
            <a:solidFill>
              <a:srgbClr val="00A896"/>
            </a:solidFill>
            <a:prstDash val="solid"/>
          </a:ln>
        </p:spPr>
      </p:sp>
      <p:sp>
        <p:nvSpPr>
          <p:cNvPr id="22" name="Text 20"/>
          <p:cNvSpPr/>
          <p:nvPr/>
        </p:nvSpPr>
        <p:spPr>
          <a:xfrm>
            <a:off x="457200" y="3749040"/>
            <a:ext cx="292608" cy="292608"/>
          </a:xfrm>
          <a:prstGeom prst="rect">
            <a:avLst/>
          </a:prstGeom>
          <a:noFill/>
          <a:ln/>
        </p:spPr>
        <p:txBody>
          <a:bodyPr wrap="square" rtlCol="0" anchor="ctr"/>
          <a:lstStyle/>
          <a:p>
            <a:pPr marL="0" indent="0" algn="ctr">
              <a:buNone/>
            </a:pPr>
            <a:r>
              <a:rPr lang="en-US" sz="1000" b="1" dirty="0">
                <a:solidFill>
                  <a:srgbClr val="FFFFFF"/>
                </a:solidFill>
              </a:rPr>
              <a:t>5</a:t>
            </a:r>
            <a:endParaRPr lang="en-US" sz="1000" dirty="0"/>
          </a:p>
        </p:txBody>
      </p:sp>
      <p:sp>
        <p:nvSpPr>
          <p:cNvPr id="23" name="Text 21"/>
          <p:cNvSpPr/>
          <p:nvPr/>
        </p:nvSpPr>
        <p:spPr>
          <a:xfrm>
            <a:off x="868680" y="3712464"/>
            <a:ext cx="2286000" cy="292608"/>
          </a:xfrm>
          <a:prstGeom prst="rect">
            <a:avLst/>
          </a:prstGeom>
          <a:noFill/>
          <a:ln/>
        </p:spPr>
        <p:txBody>
          <a:bodyPr wrap="square" rtlCol="0" anchor="ctr"/>
          <a:lstStyle/>
          <a:p>
            <a:pPr marL="0" indent="0">
              <a:buNone/>
            </a:pPr>
            <a:r>
              <a:rPr lang="en-US" sz="1150" b="1" dirty="0">
                <a:solidFill>
                  <a:srgbClr val="0D1B2A"/>
                </a:solidFill>
              </a:rPr>
              <a:t>Encoding</a:t>
            </a:r>
            <a:endParaRPr lang="en-US" sz="1150" dirty="0"/>
          </a:p>
        </p:txBody>
      </p:sp>
      <p:sp>
        <p:nvSpPr>
          <p:cNvPr id="24" name="Text 22"/>
          <p:cNvSpPr/>
          <p:nvPr/>
        </p:nvSpPr>
        <p:spPr>
          <a:xfrm>
            <a:off x="868680" y="4005072"/>
            <a:ext cx="4846320" cy="292608"/>
          </a:xfrm>
          <a:prstGeom prst="rect">
            <a:avLst/>
          </a:prstGeom>
          <a:noFill/>
          <a:ln/>
        </p:spPr>
        <p:txBody>
          <a:bodyPr wrap="square" rtlCol="0" anchor="t"/>
          <a:lstStyle/>
          <a:p>
            <a:pPr marL="0" indent="0">
              <a:buNone/>
            </a:pPr>
            <a:r>
              <a:rPr lang="en-US" sz="1000" dirty="0">
                <a:solidFill>
                  <a:srgbClr val="4A5568"/>
                </a:solidFill>
              </a:rPr>
              <a:t>One-hot: Gender, Payment Method, Order Status. Label-encoded: Product Category, Location for ML.</a:t>
            </a:r>
            <a:endParaRPr lang="en-US" sz="1000" dirty="0"/>
          </a:p>
        </p:txBody>
      </p:sp>
      <p:sp>
        <p:nvSpPr>
          <p:cNvPr id="25" name="Shape 23"/>
          <p:cNvSpPr/>
          <p:nvPr/>
        </p:nvSpPr>
        <p:spPr>
          <a:xfrm>
            <a:off x="5989320" y="1280160"/>
            <a:ext cx="1463040" cy="91440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26" name="Shape 24"/>
          <p:cNvSpPr/>
          <p:nvPr/>
        </p:nvSpPr>
        <p:spPr>
          <a:xfrm>
            <a:off x="5989320" y="1280160"/>
            <a:ext cx="1463040" cy="54864"/>
          </a:xfrm>
          <a:prstGeom prst="rect">
            <a:avLst/>
          </a:prstGeom>
          <a:solidFill>
            <a:srgbClr val="00A896"/>
          </a:solidFill>
          <a:ln w="12700">
            <a:solidFill>
              <a:srgbClr val="00A896"/>
            </a:solidFill>
            <a:prstDash val="solid"/>
          </a:ln>
        </p:spPr>
      </p:sp>
      <p:sp>
        <p:nvSpPr>
          <p:cNvPr id="27" name="Text 25"/>
          <p:cNvSpPr/>
          <p:nvPr/>
        </p:nvSpPr>
        <p:spPr>
          <a:xfrm>
            <a:off x="5989320" y="1371600"/>
            <a:ext cx="1463040" cy="566928"/>
          </a:xfrm>
          <a:prstGeom prst="rect">
            <a:avLst/>
          </a:prstGeom>
          <a:noFill/>
          <a:ln/>
        </p:spPr>
        <p:txBody>
          <a:bodyPr wrap="square" rtlCol="0" anchor="ctr"/>
          <a:lstStyle/>
          <a:p>
            <a:pPr marL="0" indent="0" algn="ctr">
              <a:buNone/>
            </a:pPr>
            <a:r>
              <a:rPr lang="en-US" sz="2600" b="1" dirty="0">
                <a:solidFill>
                  <a:srgbClr val="00A896"/>
                </a:solidFill>
              </a:rPr>
              <a:t>~10K</a:t>
            </a:r>
            <a:endParaRPr lang="en-US" sz="2600" dirty="0"/>
          </a:p>
        </p:txBody>
      </p:sp>
      <p:sp>
        <p:nvSpPr>
          <p:cNvPr id="28" name="Text 26"/>
          <p:cNvSpPr/>
          <p:nvPr/>
        </p:nvSpPr>
        <p:spPr>
          <a:xfrm>
            <a:off x="6080760" y="1938528"/>
            <a:ext cx="1280160" cy="365760"/>
          </a:xfrm>
          <a:prstGeom prst="rect">
            <a:avLst/>
          </a:prstGeom>
          <a:noFill/>
          <a:ln/>
        </p:spPr>
        <p:txBody>
          <a:bodyPr wrap="square" rtlCol="0" anchor="ctr"/>
          <a:lstStyle/>
          <a:p>
            <a:pPr marL="0" indent="0" algn="ctr">
              <a:buNone/>
            </a:pPr>
            <a:r>
              <a:rPr lang="en-US" sz="1000" dirty="0">
                <a:solidFill>
                  <a:srgbClr val="4A5568"/>
                </a:solidFill>
              </a:rPr>
              <a:t>Total Records</a:t>
            </a:r>
            <a:endParaRPr lang="en-US" sz="1000" dirty="0"/>
          </a:p>
        </p:txBody>
      </p:sp>
      <p:sp>
        <p:nvSpPr>
          <p:cNvPr id="29" name="Shape 27"/>
          <p:cNvSpPr/>
          <p:nvPr/>
        </p:nvSpPr>
        <p:spPr>
          <a:xfrm>
            <a:off x="7589520" y="1280160"/>
            <a:ext cx="1280160" cy="91440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30" name="Shape 28"/>
          <p:cNvSpPr/>
          <p:nvPr/>
        </p:nvSpPr>
        <p:spPr>
          <a:xfrm>
            <a:off x="7589520" y="1280160"/>
            <a:ext cx="1280160" cy="54864"/>
          </a:xfrm>
          <a:prstGeom prst="rect">
            <a:avLst/>
          </a:prstGeom>
          <a:solidFill>
            <a:srgbClr val="028090"/>
          </a:solidFill>
          <a:ln w="12700">
            <a:solidFill>
              <a:srgbClr val="028090"/>
            </a:solidFill>
            <a:prstDash val="solid"/>
          </a:ln>
        </p:spPr>
      </p:sp>
      <p:sp>
        <p:nvSpPr>
          <p:cNvPr id="31" name="Text 29"/>
          <p:cNvSpPr/>
          <p:nvPr/>
        </p:nvSpPr>
        <p:spPr>
          <a:xfrm>
            <a:off x="7589520" y="1371600"/>
            <a:ext cx="1280160" cy="566928"/>
          </a:xfrm>
          <a:prstGeom prst="rect">
            <a:avLst/>
          </a:prstGeom>
          <a:noFill/>
          <a:ln/>
        </p:spPr>
        <p:txBody>
          <a:bodyPr wrap="square" rtlCol="0" anchor="ctr"/>
          <a:lstStyle/>
          <a:p>
            <a:pPr marL="0" indent="0" algn="ctr">
              <a:buNone/>
            </a:pPr>
            <a:r>
              <a:rPr lang="en-US" sz="2600" b="1" dirty="0">
                <a:solidFill>
                  <a:srgbClr val="028090"/>
                </a:solidFill>
              </a:rPr>
              <a:t>14</a:t>
            </a:r>
            <a:endParaRPr lang="en-US" sz="2600" dirty="0"/>
          </a:p>
        </p:txBody>
      </p:sp>
      <p:sp>
        <p:nvSpPr>
          <p:cNvPr id="32" name="Text 30"/>
          <p:cNvSpPr/>
          <p:nvPr/>
        </p:nvSpPr>
        <p:spPr>
          <a:xfrm>
            <a:off x="7680960" y="1938528"/>
            <a:ext cx="1097280" cy="365760"/>
          </a:xfrm>
          <a:prstGeom prst="rect">
            <a:avLst/>
          </a:prstGeom>
          <a:noFill/>
          <a:ln/>
        </p:spPr>
        <p:txBody>
          <a:bodyPr wrap="square" rtlCol="0" anchor="ctr"/>
          <a:lstStyle/>
          <a:p>
            <a:pPr marL="0" indent="0" algn="ctr">
              <a:buNone/>
            </a:pPr>
            <a:r>
              <a:rPr lang="en-US" sz="1000" dirty="0">
                <a:solidFill>
                  <a:srgbClr val="4A5568"/>
                </a:solidFill>
              </a:rPr>
              <a:t>Variables</a:t>
            </a:r>
            <a:endParaRPr lang="en-US" sz="1000" dirty="0"/>
          </a:p>
        </p:txBody>
      </p:sp>
      <p:sp>
        <p:nvSpPr>
          <p:cNvPr id="33" name="Shape 31"/>
          <p:cNvSpPr/>
          <p:nvPr/>
        </p:nvSpPr>
        <p:spPr>
          <a:xfrm>
            <a:off x="5989320" y="2331720"/>
            <a:ext cx="2880360" cy="91440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34" name="Shape 32"/>
          <p:cNvSpPr/>
          <p:nvPr/>
        </p:nvSpPr>
        <p:spPr>
          <a:xfrm>
            <a:off x="5989320" y="2331720"/>
            <a:ext cx="2880360" cy="54864"/>
          </a:xfrm>
          <a:prstGeom prst="rect">
            <a:avLst/>
          </a:prstGeom>
          <a:solidFill>
            <a:srgbClr val="B7551A"/>
          </a:solidFill>
          <a:ln w="12700">
            <a:solidFill>
              <a:srgbClr val="B7551A"/>
            </a:solidFill>
            <a:prstDash val="solid"/>
          </a:ln>
        </p:spPr>
      </p:sp>
      <p:sp>
        <p:nvSpPr>
          <p:cNvPr id="35" name="Text 33"/>
          <p:cNvSpPr/>
          <p:nvPr/>
        </p:nvSpPr>
        <p:spPr>
          <a:xfrm>
            <a:off x="5989320" y="2423160"/>
            <a:ext cx="2880360" cy="566928"/>
          </a:xfrm>
          <a:prstGeom prst="rect">
            <a:avLst/>
          </a:prstGeom>
          <a:noFill/>
          <a:ln/>
        </p:spPr>
        <p:txBody>
          <a:bodyPr wrap="square" rtlCol="0" anchor="ctr"/>
          <a:lstStyle/>
          <a:p>
            <a:pPr marL="0" indent="0" algn="ctr">
              <a:buNone/>
            </a:pPr>
            <a:r>
              <a:rPr lang="en-US" sz="2600" b="1" dirty="0">
                <a:solidFill>
                  <a:srgbClr val="B7551A"/>
                </a:solidFill>
              </a:rPr>
              <a:t>Duplicates = Multiple Orders</a:t>
            </a:r>
            <a:endParaRPr lang="en-US" sz="2600" dirty="0"/>
          </a:p>
        </p:txBody>
      </p:sp>
      <p:sp>
        <p:nvSpPr>
          <p:cNvPr id="36" name="Text 34"/>
          <p:cNvSpPr/>
          <p:nvPr/>
        </p:nvSpPr>
        <p:spPr>
          <a:xfrm>
            <a:off x="6080760" y="2990088"/>
            <a:ext cx="2697480" cy="365760"/>
          </a:xfrm>
          <a:prstGeom prst="rect">
            <a:avLst/>
          </a:prstGeom>
          <a:noFill/>
          <a:ln/>
        </p:spPr>
        <p:txBody>
          <a:bodyPr wrap="square" rtlCol="0" anchor="ctr"/>
          <a:lstStyle/>
          <a:p>
            <a:pPr marL="0" indent="0" algn="ctr">
              <a:buNone/>
            </a:pPr>
            <a:endParaRPr lang="en-US" sz="1000" dirty="0"/>
          </a:p>
        </p:txBody>
      </p:sp>
      <p:sp>
        <p:nvSpPr>
          <p:cNvPr id="37" name="Shape 35"/>
          <p:cNvSpPr/>
          <p:nvPr/>
        </p:nvSpPr>
        <p:spPr>
          <a:xfrm>
            <a:off x="5989320" y="3383280"/>
            <a:ext cx="1371600" cy="82296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38" name="Shape 36"/>
          <p:cNvSpPr/>
          <p:nvPr/>
        </p:nvSpPr>
        <p:spPr>
          <a:xfrm>
            <a:off x="5989320" y="3383280"/>
            <a:ext cx="1371600" cy="54864"/>
          </a:xfrm>
          <a:prstGeom prst="rect">
            <a:avLst/>
          </a:prstGeom>
          <a:solidFill>
            <a:srgbClr val="1A7C5E"/>
          </a:solidFill>
          <a:ln w="12700">
            <a:solidFill>
              <a:srgbClr val="1A7C5E"/>
            </a:solidFill>
            <a:prstDash val="solid"/>
          </a:ln>
        </p:spPr>
      </p:sp>
      <p:sp>
        <p:nvSpPr>
          <p:cNvPr id="39" name="Text 37"/>
          <p:cNvSpPr/>
          <p:nvPr/>
        </p:nvSpPr>
        <p:spPr>
          <a:xfrm>
            <a:off x="5989320" y="3474720"/>
            <a:ext cx="1371600" cy="566928"/>
          </a:xfrm>
          <a:prstGeom prst="rect">
            <a:avLst/>
          </a:prstGeom>
          <a:noFill/>
          <a:ln/>
        </p:spPr>
        <p:txBody>
          <a:bodyPr wrap="square" rtlCol="0" anchor="ctr"/>
          <a:lstStyle/>
          <a:p>
            <a:pPr marL="0" indent="0" algn="ctr">
              <a:buNone/>
            </a:pPr>
            <a:r>
              <a:rPr lang="en-US" sz="2600" b="1" dirty="0">
                <a:solidFill>
                  <a:srgbClr val="1A7C5E"/>
                </a:solidFill>
              </a:rPr>
              <a:t>0</a:t>
            </a:r>
            <a:endParaRPr lang="en-US" sz="2600" dirty="0"/>
          </a:p>
        </p:txBody>
      </p:sp>
      <p:sp>
        <p:nvSpPr>
          <p:cNvPr id="40" name="Text 38"/>
          <p:cNvSpPr/>
          <p:nvPr/>
        </p:nvSpPr>
        <p:spPr>
          <a:xfrm>
            <a:off x="6080760" y="4041648"/>
            <a:ext cx="1188720" cy="365760"/>
          </a:xfrm>
          <a:prstGeom prst="rect">
            <a:avLst/>
          </a:prstGeom>
          <a:noFill/>
          <a:ln/>
        </p:spPr>
        <p:txBody>
          <a:bodyPr wrap="square" rtlCol="0" anchor="ctr"/>
          <a:lstStyle/>
          <a:p>
            <a:pPr marL="0" indent="0" algn="ctr">
              <a:buNone/>
            </a:pPr>
            <a:r>
              <a:rPr lang="en-US" sz="1000" dirty="0">
                <a:solidFill>
                  <a:srgbClr val="4A5568"/>
                </a:solidFill>
              </a:rPr>
              <a:t>Rows Dropped</a:t>
            </a:r>
            <a:endParaRPr lang="en-US" sz="1000" dirty="0"/>
          </a:p>
        </p:txBody>
      </p:sp>
      <p:sp>
        <p:nvSpPr>
          <p:cNvPr id="41" name="Shape 39"/>
          <p:cNvSpPr/>
          <p:nvPr/>
        </p:nvSpPr>
        <p:spPr>
          <a:xfrm>
            <a:off x="7498080" y="3383280"/>
            <a:ext cx="1371600" cy="82296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42" name="Shape 40"/>
          <p:cNvSpPr/>
          <p:nvPr/>
        </p:nvSpPr>
        <p:spPr>
          <a:xfrm>
            <a:off x="7498080" y="3383280"/>
            <a:ext cx="1371600" cy="54864"/>
          </a:xfrm>
          <a:prstGeom prst="rect">
            <a:avLst/>
          </a:prstGeom>
          <a:solidFill>
            <a:srgbClr val="0D1B2A"/>
          </a:solidFill>
          <a:ln w="12700">
            <a:solidFill>
              <a:srgbClr val="0D1B2A"/>
            </a:solidFill>
            <a:prstDash val="solid"/>
          </a:ln>
        </p:spPr>
      </p:sp>
      <p:sp>
        <p:nvSpPr>
          <p:cNvPr id="43" name="Text 41"/>
          <p:cNvSpPr/>
          <p:nvPr/>
        </p:nvSpPr>
        <p:spPr>
          <a:xfrm>
            <a:off x="7498080" y="3474720"/>
            <a:ext cx="1371600" cy="566928"/>
          </a:xfrm>
          <a:prstGeom prst="rect">
            <a:avLst/>
          </a:prstGeom>
          <a:noFill/>
          <a:ln/>
        </p:spPr>
        <p:txBody>
          <a:bodyPr wrap="square" rtlCol="0" anchor="ctr"/>
          <a:lstStyle/>
          <a:p>
            <a:pPr marL="0" indent="0" algn="ctr">
              <a:buNone/>
            </a:pPr>
            <a:r>
              <a:rPr lang="en-US" sz="2600" b="1" dirty="0">
                <a:solidFill>
                  <a:srgbClr val="0D1B2A"/>
                </a:solidFill>
              </a:rPr>
              <a:t>2</a:t>
            </a:r>
            <a:endParaRPr lang="en-US" sz="2600" dirty="0"/>
          </a:p>
        </p:txBody>
      </p:sp>
      <p:sp>
        <p:nvSpPr>
          <p:cNvPr id="44" name="Text 42"/>
          <p:cNvSpPr/>
          <p:nvPr/>
        </p:nvSpPr>
        <p:spPr>
          <a:xfrm>
            <a:off x="7589520" y="4041648"/>
            <a:ext cx="1188720" cy="365760"/>
          </a:xfrm>
          <a:prstGeom prst="rect">
            <a:avLst/>
          </a:prstGeom>
          <a:noFill/>
          <a:ln/>
        </p:spPr>
        <p:txBody>
          <a:bodyPr wrap="square" rtlCol="0" anchor="ctr"/>
          <a:lstStyle/>
          <a:p>
            <a:pPr marL="0" indent="0" algn="ctr">
              <a:buNone/>
            </a:pPr>
            <a:r>
              <a:rPr lang="en-US" sz="1000" dirty="0">
                <a:solidFill>
                  <a:srgbClr val="4A5568"/>
                </a:solidFill>
              </a:rPr>
              <a:t>Cols Imputed</a:t>
            </a:r>
            <a:endParaRPr lang="en-US" sz="1000" dirty="0"/>
          </a:p>
        </p:txBody>
      </p:sp>
      <p:sp>
        <p:nvSpPr>
          <p:cNvPr id="45" name="Shape 43"/>
          <p:cNvSpPr/>
          <p:nvPr/>
        </p:nvSpPr>
        <p:spPr>
          <a:xfrm>
            <a:off x="5989320" y="2331720"/>
            <a:ext cx="2880360" cy="914400"/>
          </a:xfrm>
          <a:prstGeom prst="rect">
            <a:avLst/>
          </a:prstGeom>
          <a:solidFill>
            <a:srgbClr val="FEF3C7"/>
          </a:solidFill>
          <a:ln w="19050">
            <a:solidFill>
              <a:srgbClr val="B7551A"/>
            </a:solidFill>
            <a:prstDash val="solid"/>
          </a:ln>
          <a:effectLst>
            <a:outerShdw blurRad="101600" dist="38100" dir="8100000" algn="bl" rotWithShape="0">
              <a:srgbClr val="000000">
                <a:alpha val="16000"/>
              </a:srgbClr>
            </a:outerShdw>
          </a:effectLst>
        </p:spPr>
      </p:sp>
      <p:sp>
        <p:nvSpPr>
          <p:cNvPr id="46" name="Text 44"/>
          <p:cNvSpPr/>
          <p:nvPr/>
        </p:nvSpPr>
        <p:spPr>
          <a:xfrm>
            <a:off x="6080760" y="2359152"/>
            <a:ext cx="2697480" cy="274320"/>
          </a:xfrm>
          <a:prstGeom prst="rect">
            <a:avLst/>
          </a:prstGeom>
          <a:noFill/>
          <a:ln/>
        </p:spPr>
        <p:txBody>
          <a:bodyPr wrap="square" rtlCol="0" anchor="ctr"/>
          <a:lstStyle/>
          <a:p>
            <a:pPr marL="0" indent="0">
              <a:buNone/>
            </a:pPr>
            <a:r>
              <a:rPr lang="en-US" sz="1100" b="1" dirty="0">
                <a:solidFill>
                  <a:srgbClr val="B7551A"/>
                </a:solidFill>
              </a:rPr>
              <a:t>⚠️  Duplicate Customer IDs</a:t>
            </a:r>
            <a:endParaRPr lang="en-US" sz="1100" dirty="0"/>
          </a:p>
        </p:txBody>
      </p:sp>
      <p:sp>
        <p:nvSpPr>
          <p:cNvPr id="47" name="Text 45"/>
          <p:cNvSpPr/>
          <p:nvPr/>
        </p:nvSpPr>
        <p:spPr>
          <a:xfrm>
            <a:off x="6080760" y="2651760"/>
            <a:ext cx="2697480" cy="502920"/>
          </a:xfrm>
          <a:prstGeom prst="rect">
            <a:avLst/>
          </a:prstGeom>
          <a:noFill/>
          <a:ln/>
        </p:spPr>
        <p:txBody>
          <a:bodyPr wrap="square" rtlCol="0" anchor="ctr"/>
          <a:lstStyle/>
          <a:p>
            <a:pPr marL="0" indent="0">
              <a:buNone/>
            </a:pPr>
            <a:r>
              <a:rPr lang="en-US" sz="1000" dirty="0">
                <a:solidFill>
                  <a:srgbClr val="92400E"/>
                </a:solidFill>
              </a:rPr>
              <a:t>Retained — each row = one transaction. Used for frequency &amp; LTV analysis.</a:t>
            </a:r>
            <a:endParaRPr lang="en-US" sz="1000" dirty="0"/>
          </a:p>
        </p:txBody>
      </p:sp>
      <p:sp>
        <p:nvSpPr>
          <p:cNvPr id="48" name="Shape 46"/>
          <p:cNvSpPr/>
          <p:nvPr/>
        </p:nvSpPr>
        <p:spPr>
          <a:xfrm>
            <a:off x="457200" y="4462272"/>
            <a:ext cx="8229600" cy="475488"/>
          </a:xfrm>
          <a:prstGeom prst="rect">
            <a:avLst/>
          </a:prstGeom>
          <a:solidFill>
            <a:srgbClr val="E0F4F1"/>
          </a:solidFill>
          <a:ln w="12700">
            <a:solidFill>
              <a:srgbClr val="00A896"/>
            </a:solidFill>
            <a:prstDash val="solid"/>
          </a:ln>
        </p:spPr>
      </p:sp>
      <p:sp>
        <p:nvSpPr>
          <p:cNvPr id="49" name="Text 47"/>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Key decision: Duplicate Customer IDs are NOT dropped. A customer buying 5 times generates 5 rows — all 5 are needed for frequency, recency, and value calculations.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Customer Demographics Analysis</a:t>
            </a:r>
            <a:endParaRPr lang="en-US" sz="2700" dirty="0"/>
          </a:p>
        </p:txBody>
      </p:sp>
      <p:graphicFrame>
        <p:nvGraphicFramePr>
          <p:cNvPr id="5" name="Chart 0"/>
          <p:cNvGraphicFramePr/>
          <p:nvPr/>
        </p:nvGraphicFramePr>
        <p:xfrm>
          <a:off x="457200" y="1261872"/>
          <a:ext cx="457200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5212080" y="1261872"/>
          <a:ext cx="365760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457200" y="4462272"/>
            <a:ext cx="8229600" cy="475488"/>
          </a:xfrm>
          <a:prstGeom prst="rect">
            <a:avLst/>
          </a:prstGeom>
          <a:solidFill>
            <a:srgbClr val="E0F4F1"/>
          </a:solidFill>
          <a:ln w="12700">
            <a:solidFill>
              <a:srgbClr val="00A896"/>
            </a:solidFill>
            <a:prstDash val="solid"/>
          </a:ln>
        </p:spPr>
      </p:sp>
      <p:sp>
        <p:nvSpPr>
          <p:cNvPr id="8" name="Text 4"/>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Ages 35–44 generate the most transactions. Gender split is near-equal (M 48% / F 49%), indicating broad market appeal across demographics.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Repeat Purchase Behaviour (Why Duplicates Matter)</a:t>
            </a:r>
            <a:endParaRPr lang="en-US" sz="2700" dirty="0"/>
          </a:p>
        </p:txBody>
      </p:sp>
      <p:graphicFrame>
        <p:nvGraphicFramePr>
          <p:cNvPr id="5" name="Chart 0"/>
          <p:cNvGraphicFramePr/>
          <p:nvPr/>
        </p:nvGraphicFramePr>
        <p:xfrm>
          <a:off x="457200" y="1261872"/>
          <a:ext cx="50292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669280" y="1280160"/>
            <a:ext cx="3200400" cy="71323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Shape 4"/>
          <p:cNvSpPr/>
          <p:nvPr/>
        </p:nvSpPr>
        <p:spPr>
          <a:xfrm>
            <a:off x="5669280" y="1280160"/>
            <a:ext cx="3200400" cy="54864"/>
          </a:xfrm>
          <a:prstGeom prst="rect">
            <a:avLst/>
          </a:prstGeom>
          <a:solidFill>
            <a:srgbClr val="00A896"/>
          </a:solidFill>
          <a:ln w="12700">
            <a:solidFill>
              <a:srgbClr val="00A896"/>
            </a:solidFill>
            <a:prstDash val="solid"/>
          </a:ln>
        </p:spPr>
      </p:sp>
      <p:sp>
        <p:nvSpPr>
          <p:cNvPr id="8" name="Text 5"/>
          <p:cNvSpPr/>
          <p:nvPr/>
        </p:nvSpPr>
        <p:spPr>
          <a:xfrm>
            <a:off x="5669280" y="1335024"/>
            <a:ext cx="3200400" cy="420624"/>
          </a:xfrm>
          <a:prstGeom prst="rect">
            <a:avLst/>
          </a:prstGeom>
          <a:noFill/>
          <a:ln/>
        </p:spPr>
        <p:txBody>
          <a:bodyPr wrap="square" rtlCol="0" anchor="ctr"/>
          <a:lstStyle/>
          <a:p>
            <a:pPr marL="0" indent="0" algn="ctr">
              <a:buNone/>
            </a:pPr>
            <a:r>
              <a:rPr lang="en-US" sz="2400" b="1" dirty="0">
                <a:solidFill>
                  <a:srgbClr val="00A896"/>
                </a:solidFill>
              </a:rPr>
              <a:t>50%</a:t>
            </a:r>
            <a:endParaRPr lang="en-US" sz="2400" dirty="0"/>
          </a:p>
        </p:txBody>
      </p:sp>
      <p:sp>
        <p:nvSpPr>
          <p:cNvPr id="9" name="Text 6"/>
          <p:cNvSpPr/>
          <p:nvPr/>
        </p:nvSpPr>
        <p:spPr>
          <a:xfrm>
            <a:off x="5760720" y="1755648"/>
            <a:ext cx="3017520" cy="219456"/>
          </a:xfrm>
          <a:prstGeom prst="rect">
            <a:avLst/>
          </a:prstGeom>
          <a:noFill/>
          <a:ln/>
        </p:spPr>
        <p:txBody>
          <a:bodyPr wrap="square" rtlCol="0" anchor="ctr"/>
          <a:lstStyle/>
          <a:p>
            <a:pPr marL="0" indent="0" algn="ctr">
              <a:buNone/>
            </a:pPr>
            <a:r>
              <a:rPr lang="en-US" sz="950" dirty="0">
                <a:solidFill>
                  <a:srgbClr val="4A5568"/>
                </a:solidFill>
              </a:rPr>
              <a:t>of customers placed 2+ orders</a:t>
            </a:r>
            <a:endParaRPr lang="en-US" sz="950" dirty="0"/>
          </a:p>
        </p:txBody>
      </p:sp>
      <p:sp>
        <p:nvSpPr>
          <p:cNvPr id="10" name="Shape 7"/>
          <p:cNvSpPr/>
          <p:nvPr/>
        </p:nvSpPr>
        <p:spPr>
          <a:xfrm>
            <a:off x="5669280" y="2048256"/>
            <a:ext cx="3200400" cy="71323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8"/>
          <p:cNvSpPr/>
          <p:nvPr/>
        </p:nvSpPr>
        <p:spPr>
          <a:xfrm>
            <a:off x="5669280" y="2048256"/>
            <a:ext cx="3200400" cy="54864"/>
          </a:xfrm>
          <a:prstGeom prst="rect">
            <a:avLst/>
          </a:prstGeom>
          <a:solidFill>
            <a:srgbClr val="F6C90E"/>
          </a:solidFill>
          <a:ln w="12700">
            <a:solidFill>
              <a:srgbClr val="F6C90E"/>
            </a:solidFill>
            <a:prstDash val="solid"/>
          </a:ln>
        </p:spPr>
      </p:sp>
      <p:sp>
        <p:nvSpPr>
          <p:cNvPr id="12" name="Text 9"/>
          <p:cNvSpPr/>
          <p:nvPr/>
        </p:nvSpPr>
        <p:spPr>
          <a:xfrm>
            <a:off x="5669280" y="2103120"/>
            <a:ext cx="3200400" cy="420624"/>
          </a:xfrm>
          <a:prstGeom prst="rect">
            <a:avLst/>
          </a:prstGeom>
          <a:noFill/>
          <a:ln/>
        </p:spPr>
        <p:txBody>
          <a:bodyPr wrap="square" rtlCol="0" anchor="ctr"/>
          <a:lstStyle/>
          <a:p>
            <a:pPr marL="0" indent="0" algn="ctr">
              <a:buNone/>
            </a:pPr>
            <a:r>
              <a:rPr lang="en-US" sz="2400" b="1" dirty="0">
                <a:solidFill>
                  <a:srgbClr val="F6C90E"/>
                </a:solidFill>
              </a:rPr>
              <a:t>10.4%</a:t>
            </a:r>
            <a:endParaRPr lang="en-US" sz="2400" dirty="0"/>
          </a:p>
        </p:txBody>
      </p:sp>
      <p:sp>
        <p:nvSpPr>
          <p:cNvPr id="13" name="Text 10"/>
          <p:cNvSpPr/>
          <p:nvPr/>
        </p:nvSpPr>
        <p:spPr>
          <a:xfrm>
            <a:off x="5760720" y="2523744"/>
            <a:ext cx="3017520" cy="219456"/>
          </a:xfrm>
          <a:prstGeom prst="rect">
            <a:avLst/>
          </a:prstGeom>
          <a:noFill/>
          <a:ln/>
        </p:spPr>
        <p:txBody>
          <a:bodyPr wrap="square" rtlCol="0" anchor="ctr"/>
          <a:lstStyle/>
          <a:p>
            <a:pPr marL="0" indent="0" algn="ctr">
              <a:buNone/>
            </a:pPr>
            <a:r>
              <a:rPr lang="en-US" sz="950" dirty="0">
                <a:solidFill>
                  <a:srgbClr val="4A5568"/>
                </a:solidFill>
              </a:rPr>
              <a:t>placed 6 or more orders</a:t>
            </a:r>
            <a:endParaRPr lang="en-US" sz="950" dirty="0"/>
          </a:p>
        </p:txBody>
      </p:sp>
      <p:sp>
        <p:nvSpPr>
          <p:cNvPr id="14" name="Shape 11"/>
          <p:cNvSpPr/>
          <p:nvPr/>
        </p:nvSpPr>
        <p:spPr>
          <a:xfrm>
            <a:off x="5669280" y="2816352"/>
            <a:ext cx="3200400" cy="71323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5" name="Shape 12"/>
          <p:cNvSpPr/>
          <p:nvPr/>
        </p:nvSpPr>
        <p:spPr>
          <a:xfrm>
            <a:off x="5669280" y="2816352"/>
            <a:ext cx="3200400" cy="54864"/>
          </a:xfrm>
          <a:prstGeom prst="rect">
            <a:avLst/>
          </a:prstGeom>
          <a:solidFill>
            <a:srgbClr val="0D1B2A"/>
          </a:solidFill>
          <a:ln w="12700">
            <a:solidFill>
              <a:srgbClr val="0D1B2A"/>
            </a:solidFill>
            <a:prstDash val="solid"/>
          </a:ln>
        </p:spPr>
      </p:sp>
      <p:sp>
        <p:nvSpPr>
          <p:cNvPr id="16" name="Text 13"/>
          <p:cNvSpPr/>
          <p:nvPr/>
        </p:nvSpPr>
        <p:spPr>
          <a:xfrm>
            <a:off x="5669280" y="2871216"/>
            <a:ext cx="3200400" cy="420624"/>
          </a:xfrm>
          <a:prstGeom prst="rect">
            <a:avLst/>
          </a:prstGeom>
          <a:noFill/>
          <a:ln/>
        </p:spPr>
        <p:txBody>
          <a:bodyPr wrap="square" rtlCol="0" anchor="ctr"/>
          <a:lstStyle/>
          <a:p>
            <a:pPr marL="0" indent="0" algn="ctr">
              <a:buNone/>
            </a:pPr>
            <a:r>
              <a:rPr lang="en-US" sz="2400" b="1" dirty="0">
                <a:solidFill>
                  <a:srgbClr val="0D1B2A"/>
                </a:solidFill>
              </a:rPr>
              <a:t>2.5×</a:t>
            </a:r>
            <a:endParaRPr lang="en-US" sz="2400" dirty="0"/>
          </a:p>
        </p:txBody>
      </p:sp>
      <p:sp>
        <p:nvSpPr>
          <p:cNvPr id="17" name="Text 14"/>
          <p:cNvSpPr/>
          <p:nvPr/>
        </p:nvSpPr>
        <p:spPr>
          <a:xfrm>
            <a:off x="5760720" y="3291840"/>
            <a:ext cx="3017520" cy="219456"/>
          </a:xfrm>
          <a:prstGeom prst="rect">
            <a:avLst/>
          </a:prstGeom>
          <a:noFill/>
          <a:ln/>
        </p:spPr>
        <p:txBody>
          <a:bodyPr wrap="square" rtlCol="0" anchor="ctr"/>
          <a:lstStyle/>
          <a:p>
            <a:pPr marL="0" indent="0" algn="ctr">
              <a:buNone/>
            </a:pPr>
            <a:r>
              <a:rPr lang="en-US" sz="950" dirty="0">
                <a:solidFill>
                  <a:srgbClr val="4A5568"/>
                </a:solidFill>
              </a:rPr>
              <a:t>more spend from repeat vs first-time buyers</a:t>
            </a:r>
            <a:endParaRPr lang="en-US" sz="950" dirty="0"/>
          </a:p>
        </p:txBody>
      </p:sp>
      <p:sp>
        <p:nvSpPr>
          <p:cNvPr id="18" name="Shape 15"/>
          <p:cNvSpPr/>
          <p:nvPr/>
        </p:nvSpPr>
        <p:spPr>
          <a:xfrm>
            <a:off x="5669280" y="3584448"/>
            <a:ext cx="3200400" cy="71323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9" name="Shape 16"/>
          <p:cNvSpPr/>
          <p:nvPr/>
        </p:nvSpPr>
        <p:spPr>
          <a:xfrm>
            <a:off x="5669280" y="3584448"/>
            <a:ext cx="3200400" cy="54864"/>
          </a:xfrm>
          <a:prstGeom prst="rect">
            <a:avLst/>
          </a:prstGeom>
          <a:solidFill>
            <a:srgbClr val="B7551A"/>
          </a:solidFill>
          <a:ln w="12700">
            <a:solidFill>
              <a:srgbClr val="B7551A"/>
            </a:solidFill>
            <a:prstDash val="solid"/>
          </a:ln>
        </p:spPr>
      </p:sp>
      <p:sp>
        <p:nvSpPr>
          <p:cNvPr id="20" name="Text 17"/>
          <p:cNvSpPr/>
          <p:nvPr/>
        </p:nvSpPr>
        <p:spPr>
          <a:xfrm>
            <a:off x="5669280" y="3639312"/>
            <a:ext cx="3200400" cy="420624"/>
          </a:xfrm>
          <a:prstGeom prst="rect">
            <a:avLst/>
          </a:prstGeom>
          <a:noFill/>
          <a:ln/>
        </p:spPr>
        <p:txBody>
          <a:bodyPr wrap="square" rtlCol="0" anchor="ctr"/>
          <a:lstStyle/>
          <a:p>
            <a:pPr marL="0" indent="0" algn="ctr">
              <a:buNone/>
            </a:pPr>
            <a:r>
              <a:rPr lang="en-US" sz="2400" b="1" dirty="0">
                <a:solidFill>
                  <a:srgbClr val="B7551A"/>
                </a:solidFill>
              </a:rPr>
              <a:t>~10K</a:t>
            </a:r>
            <a:endParaRPr lang="en-US" sz="2400" dirty="0"/>
          </a:p>
        </p:txBody>
      </p:sp>
      <p:sp>
        <p:nvSpPr>
          <p:cNvPr id="21" name="Text 18"/>
          <p:cNvSpPr/>
          <p:nvPr/>
        </p:nvSpPr>
        <p:spPr>
          <a:xfrm>
            <a:off x="5760720" y="4059936"/>
            <a:ext cx="3017520" cy="219456"/>
          </a:xfrm>
          <a:prstGeom prst="rect">
            <a:avLst/>
          </a:prstGeom>
          <a:noFill/>
          <a:ln/>
        </p:spPr>
        <p:txBody>
          <a:bodyPr wrap="square" rtlCol="0" anchor="ctr"/>
          <a:lstStyle/>
          <a:p>
            <a:pPr marL="0" indent="0" algn="ctr">
              <a:buNone/>
            </a:pPr>
            <a:r>
              <a:rPr lang="en-US" sz="950" dirty="0">
                <a:solidFill>
                  <a:srgbClr val="4A5568"/>
                </a:solidFill>
              </a:rPr>
              <a:t>total rows = all transactions retained</a:t>
            </a:r>
            <a:endParaRPr lang="en-US" sz="950" dirty="0"/>
          </a:p>
        </p:txBody>
      </p:sp>
      <p:sp>
        <p:nvSpPr>
          <p:cNvPr id="22" name="Shape 19"/>
          <p:cNvSpPr/>
          <p:nvPr/>
        </p:nvSpPr>
        <p:spPr>
          <a:xfrm>
            <a:off x="457200" y="4462272"/>
            <a:ext cx="8229600" cy="475488"/>
          </a:xfrm>
          <a:prstGeom prst="rect">
            <a:avLst/>
          </a:prstGeom>
          <a:solidFill>
            <a:srgbClr val="E0F4F1"/>
          </a:solidFill>
          <a:ln w="12700">
            <a:solidFill>
              <a:srgbClr val="00A896"/>
            </a:solidFill>
            <a:prstDash val="solid"/>
          </a:ln>
        </p:spPr>
      </p:sp>
      <p:sp>
        <p:nvSpPr>
          <p:cNvPr id="23" name="Text 20"/>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Retaining duplicate Customer IDs reveals that 50% of customers are repeat buyers — a key business insight that would be lost if duplicates were removed.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Sales Trends Over Time</a:t>
            </a:r>
            <a:endParaRPr lang="en-US" sz="2700" dirty="0"/>
          </a:p>
        </p:txBody>
      </p:sp>
      <p:graphicFrame>
        <p:nvGraphicFramePr>
          <p:cNvPr id="5" name="Chart 0"/>
          <p:cNvGraphicFramePr/>
          <p:nvPr/>
        </p:nvGraphicFramePr>
        <p:xfrm>
          <a:off x="457200" y="1261872"/>
          <a:ext cx="82296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7200" y="4462272"/>
            <a:ext cx="8229600" cy="475488"/>
          </a:xfrm>
          <a:prstGeom prst="rect">
            <a:avLst/>
          </a:prstGeom>
          <a:solidFill>
            <a:srgbClr val="E0F4F1"/>
          </a:solidFill>
          <a:ln w="12700">
            <a:solidFill>
              <a:srgbClr val="00A896"/>
            </a:solidFill>
            <a:prstDash val="solid"/>
          </a:ln>
        </p:spPr>
      </p:sp>
      <p:sp>
        <p:nvSpPr>
          <p:cNvPr id="7" name="Text 4"/>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Q4 (Oct–Dec) generates ~40% of annual revenue. Both order count and revenue trend upward — consistent year-on-year growth with strong holiday peaks.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Product Category Performance</a:t>
            </a:r>
            <a:endParaRPr lang="en-US" sz="2700" dirty="0"/>
          </a:p>
        </p:txBody>
      </p:sp>
      <p:graphicFrame>
        <p:nvGraphicFramePr>
          <p:cNvPr id="5" name="Chart 0"/>
          <p:cNvGraphicFramePr/>
          <p:nvPr/>
        </p:nvGraphicFramePr>
        <p:xfrm>
          <a:off x="457200" y="1261872"/>
          <a:ext cx="51206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1280160"/>
            <a:ext cx="30632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Text 4"/>
          <p:cNvSpPr/>
          <p:nvPr/>
        </p:nvSpPr>
        <p:spPr>
          <a:xfrm>
            <a:off x="5943600" y="1335024"/>
            <a:ext cx="2011680" cy="274320"/>
          </a:xfrm>
          <a:prstGeom prst="rect">
            <a:avLst/>
          </a:prstGeom>
          <a:noFill/>
          <a:ln/>
        </p:spPr>
        <p:txBody>
          <a:bodyPr wrap="square" rtlCol="0" anchor="ctr"/>
          <a:lstStyle/>
          <a:p>
            <a:pPr marL="0" indent="0">
              <a:buNone/>
            </a:pPr>
            <a:r>
              <a:rPr lang="en-US" sz="1200" b="1" dirty="0">
                <a:solidFill>
                  <a:srgbClr val="0D1B2A"/>
                </a:solidFill>
              </a:rPr>
              <a:t>🖥️  Electronics</a:t>
            </a:r>
            <a:endParaRPr lang="en-US" sz="1200" dirty="0"/>
          </a:p>
        </p:txBody>
      </p:sp>
      <p:sp>
        <p:nvSpPr>
          <p:cNvPr id="8" name="Text 5"/>
          <p:cNvSpPr/>
          <p:nvPr/>
        </p:nvSpPr>
        <p:spPr>
          <a:xfrm>
            <a:off x="5943600" y="1627632"/>
            <a:ext cx="914400" cy="237744"/>
          </a:xfrm>
          <a:prstGeom prst="rect">
            <a:avLst/>
          </a:prstGeom>
          <a:noFill/>
          <a:ln/>
        </p:spPr>
        <p:txBody>
          <a:bodyPr wrap="square" rtlCol="0" anchor="ctr"/>
          <a:lstStyle/>
          <a:p>
            <a:pPr marL="0" indent="0">
              <a:buNone/>
            </a:pPr>
            <a:r>
              <a:rPr lang="en-US" sz="1300" b="1" dirty="0">
                <a:solidFill>
                  <a:srgbClr val="00A896"/>
                </a:solidFill>
              </a:rPr>
              <a:t>$112K</a:t>
            </a:r>
            <a:endParaRPr lang="en-US" sz="1300" dirty="0"/>
          </a:p>
        </p:txBody>
      </p:sp>
      <p:sp>
        <p:nvSpPr>
          <p:cNvPr id="9" name="Text 6"/>
          <p:cNvSpPr/>
          <p:nvPr/>
        </p:nvSpPr>
        <p:spPr>
          <a:xfrm>
            <a:off x="6949440" y="1655064"/>
            <a:ext cx="1828800" cy="237744"/>
          </a:xfrm>
          <a:prstGeom prst="rect">
            <a:avLst/>
          </a:prstGeom>
          <a:noFill/>
          <a:ln/>
        </p:spPr>
        <p:txBody>
          <a:bodyPr wrap="square" rtlCol="0" anchor="ctr"/>
          <a:lstStyle/>
          <a:p>
            <a:pPr marL="0" indent="0">
              <a:buNone/>
            </a:pPr>
            <a:r>
              <a:rPr lang="en-US" sz="1000" dirty="0">
                <a:solidFill>
                  <a:srgbClr val="4A5568"/>
                </a:solidFill>
              </a:rPr>
              <a:t>Top revenue; highest avg price</a:t>
            </a:r>
            <a:endParaRPr lang="en-US" sz="1000" dirty="0"/>
          </a:p>
        </p:txBody>
      </p:sp>
      <p:sp>
        <p:nvSpPr>
          <p:cNvPr id="10" name="Shape 7"/>
          <p:cNvSpPr/>
          <p:nvPr/>
        </p:nvSpPr>
        <p:spPr>
          <a:xfrm>
            <a:off x="5806440" y="2029968"/>
            <a:ext cx="30632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Text 8"/>
          <p:cNvSpPr/>
          <p:nvPr/>
        </p:nvSpPr>
        <p:spPr>
          <a:xfrm>
            <a:off x="5943600" y="2084832"/>
            <a:ext cx="2011680" cy="274320"/>
          </a:xfrm>
          <a:prstGeom prst="rect">
            <a:avLst/>
          </a:prstGeom>
          <a:noFill/>
          <a:ln/>
        </p:spPr>
        <p:txBody>
          <a:bodyPr wrap="square" rtlCol="0" anchor="ctr"/>
          <a:lstStyle/>
          <a:p>
            <a:pPr marL="0" indent="0">
              <a:buNone/>
            </a:pPr>
            <a:r>
              <a:rPr lang="en-US" sz="1200" b="1" dirty="0">
                <a:solidFill>
                  <a:srgbClr val="0D1B2A"/>
                </a:solidFill>
              </a:rPr>
              <a:t>👕  Clothing</a:t>
            </a:r>
            <a:endParaRPr lang="en-US" sz="1200" dirty="0"/>
          </a:p>
        </p:txBody>
      </p:sp>
      <p:sp>
        <p:nvSpPr>
          <p:cNvPr id="12" name="Text 9"/>
          <p:cNvSpPr/>
          <p:nvPr/>
        </p:nvSpPr>
        <p:spPr>
          <a:xfrm>
            <a:off x="5943600" y="2377440"/>
            <a:ext cx="914400" cy="237744"/>
          </a:xfrm>
          <a:prstGeom prst="rect">
            <a:avLst/>
          </a:prstGeom>
          <a:noFill/>
          <a:ln/>
        </p:spPr>
        <p:txBody>
          <a:bodyPr wrap="square" rtlCol="0" anchor="ctr"/>
          <a:lstStyle/>
          <a:p>
            <a:pPr marL="0" indent="0">
              <a:buNone/>
            </a:pPr>
            <a:r>
              <a:rPr lang="en-US" sz="1300" b="1" dirty="0">
                <a:solidFill>
                  <a:srgbClr val="00A896"/>
                </a:solidFill>
              </a:rPr>
              <a:t>$91K</a:t>
            </a:r>
            <a:endParaRPr lang="en-US" sz="1300" dirty="0"/>
          </a:p>
        </p:txBody>
      </p:sp>
      <p:sp>
        <p:nvSpPr>
          <p:cNvPr id="13" name="Text 10"/>
          <p:cNvSpPr/>
          <p:nvPr/>
        </p:nvSpPr>
        <p:spPr>
          <a:xfrm>
            <a:off x="6949440" y="2404872"/>
            <a:ext cx="1828800" cy="237744"/>
          </a:xfrm>
          <a:prstGeom prst="rect">
            <a:avLst/>
          </a:prstGeom>
          <a:noFill/>
          <a:ln/>
        </p:spPr>
        <p:txBody>
          <a:bodyPr wrap="square" rtlCol="0" anchor="ctr"/>
          <a:lstStyle/>
          <a:p>
            <a:pPr marL="0" indent="0">
              <a:buNone/>
            </a:pPr>
            <a:r>
              <a:rPr lang="en-US" sz="1000" dirty="0">
                <a:solidFill>
                  <a:srgbClr val="4A5568"/>
                </a:solidFill>
              </a:rPr>
              <a:t>Highest order volume</a:t>
            </a:r>
            <a:endParaRPr lang="en-US" sz="1000" dirty="0"/>
          </a:p>
        </p:txBody>
      </p:sp>
      <p:sp>
        <p:nvSpPr>
          <p:cNvPr id="14" name="Shape 11"/>
          <p:cNvSpPr/>
          <p:nvPr/>
        </p:nvSpPr>
        <p:spPr>
          <a:xfrm>
            <a:off x="5806440" y="2779776"/>
            <a:ext cx="30632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5" name="Text 12"/>
          <p:cNvSpPr/>
          <p:nvPr/>
        </p:nvSpPr>
        <p:spPr>
          <a:xfrm>
            <a:off x="5943600" y="2834640"/>
            <a:ext cx="2011680" cy="274320"/>
          </a:xfrm>
          <a:prstGeom prst="rect">
            <a:avLst/>
          </a:prstGeom>
          <a:noFill/>
          <a:ln/>
        </p:spPr>
        <p:txBody>
          <a:bodyPr wrap="square" rtlCol="0" anchor="ctr"/>
          <a:lstStyle/>
          <a:p>
            <a:pPr marL="0" indent="0">
              <a:buNone/>
            </a:pPr>
            <a:r>
              <a:rPr lang="en-US" sz="1200" b="1" dirty="0">
                <a:solidFill>
                  <a:srgbClr val="0D1B2A"/>
                </a:solidFill>
              </a:rPr>
              <a:t>💄  Beauty</a:t>
            </a:r>
            <a:endParaRPr lang="en-US" sz="1200" dirty="0"/>
          </a:p>
        </p:txBody>
      </p:sp>
      <p:sp>
        <p:nvSpPr>
          <p:cNvPr id="16" name="Text 13"/>
          <p:cNvSpPr/>
          <p:nvPr/>
        </p:nvSpPr>
        <p:spPr>
          <a:xfrm>
            <a:off x="5943600" y="3127248"/>
            <a:ext cx="914400" cy="237744"/>
          </a:xfrm>
          <a:prstGeom prst="rect">
            <a:avLst/>
          </a:prstGeom>
          <a:noFill/>
          <a:ln/>
        </p:spPr>
        <p:txBody>
          <a:bodyPr wrap="square" rtlCol="0" anchor="ctr"/>
          <a:lstStyle/>
          <a:p>
            <a:pPr marL="0" indent="0">
              <a:buNone/>
            </a:pPr>
            <a:r>
              <a:rPr lang="en-US" sz="1300" b="1" dirty="0">
                <a:solidFill>
                  <a:srgbClr val="00A896"/>
                </a:solidFill>
              </a:rPr>
              <a:t>$74K</a:t>
            </a:r>
            <a:endParaRPr lang="en-US" sz="1300" dirty="0"/>
          </a:p>
        </p:txBody>
      </p:sp>
      <p:sp>
        <p:nvSpPr>
          <p:cNvPr id="17" name="Text 14"/>
          <p:cNvSpPr/>
          <p:nvPr/>
        </p:nvSpPr>
        <p:spPr>
          <a:xfrm>
            <a:off x="6949440" y="3154680"/>
            <a:ext cx="1828800" cy="237744"/>
          </a:xfrm>
          <a:prstGeom prst="rect">
            <a:avLst/>
          </a:prstGeom>
          <a:noFill/>
          <a:ln/>
        </p:spPr>
        <p:txBody>
          <a:bodyPr wrap="square" rtlCol="0" anchor="ctr"/>
          <a:lstStyle/>
          <a:p>
            <a:pPr marL="0" indent="0">
              <a:buNone/>
            </a:pPr>
            <a:r>
              <a:rPr lang="en-US" sz="1000" dirty="0">
                <a:solidFill>
                  <a:srgbClr val="4A5568"/>
                </a:solidFill>
              </a:rPr>
              <a:t>Highest avg order value ($85)</a:t>
            </a:r>
            <a:endParaRPr lang="en-US" sz="1000" dirty="0"/>
          </a:p>
        </p:txBody>
      </p:sp>
      <p:sp>
        <p:nvSpPr>
          <p:cNvPr id="18" name="Shape 15"/>
          <p:cNvSpPr/>
          <p:nvPr/>
        </p:nvSpPr>
        <p:spPr>
          <a:xfrm>
            <a:off x="5806440" y="3529584"/>
            <a:ext cx="30632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9" name="Text 16"/>
          <p:cNvSpPr/>
          <p:nvPr/>
        </p:nvSpPr>
        <p:spPr>
          <a:xfrm>
            <a:off x="5943600" y="3584448"/>
            <a:ext cx="2011680" cy="274320"/>
          </a:xfrm>
          <a:prstGeom prst="rect">
            <a:avLst/>
          </a:prstGeom>
          <a:noFill/>
          <a:ln/>
        </p:spPr>
        <p:txBody>
          <a:bodyPr wrap="square" rtlCol="0" anchor="ctr"/>
          <a:lstStyle/>
          <a:p>
            <a:pPr marL="0" indent="0">
              <a:buNone/>
            </a:pPr>
            <a:r>
              <a:rPr lang="en-US" sz="1200" b="1" dirty="0">
                <a:solidFill>
                  <a:srgbClr val="0D1B2A"/>
                </a:solidFill>
              </a:rPr>
              <a:t>📚  Books</a:t>
            </a:r>
            <a:endParaRPr lang="en-US" sz="1200" dirty="0"/>
          </a:p>
        </p:txBody>
      </p:sp>
      <p:sp>
        <p:nvSpPr>
          <p:cNvPr id="20" name="Text 17"/>
          <p:cNvSpPr/>
          <p:nvPr/>
        </p:nvSpPr>
        <p:spPr>
          <a:xfrm>
            <a:off x="5943600" y="3877056"/>
            <a:ext cx="914400" cy="237744"/>
          </a:xfrm>
          <a:prstGeom prst="rect">
            <a:avLst/>
          </a:prstGeom>
          <a:noFill/>
          <a:ln/>
        </p:spPr>
        <p:txBody>
          <a:bodyPr wrap="square" rtlCol="0" anchor="ctr"/>
          <a:lstStyle/>
          <a:p>
            <a:pPr marL="0" indent="0">
              <a:buNone/>
            </a:pPr>
            <a:r>
              <a:rPr lang="en-US" sz="1300" b="1" dirty="0">
                <a:solidFill>
                  <a:srgbClr val="00A896"/>
                </a:solidFill>
              </a:rPr>
              <a:t>$38K</a:t>
            </a:r>
            <a:endParaRPr lang="en-US" sz="1300" dirty="0"/>
          </a:p>
        </p:txBody>
      </p:sp>
      <p:sp>
        <p:nvSpPr>
          <p:cNvPr id="21" name="Text 18"/>
          <p:cNvSpPr/>
          <p:nvPr/>
        </p:nvSpPr>
        <p:spPr>
          <a:xfrm>
            <a:off x="6949440" y="3904488"/>
            <a:ext cx="1828800" cy="237744"/>
          </a:xfrm>
          <a:prstGeom prst="rect">
            <a:avLst/>
          </a:prstGeom>
          <a:noFill/>
          <a:ln/>
        </p:spPr>
        <p:txBody>
          <a:bodyPr wrap="square" rtlCol="0" anchor="ctr"/>
          <a:lstStyle/>
          <a:p>
            <a:pPr marL="0" indent="0">
              <a:buNone/>
            </a:pPr>
            <a:r>
              <a:rPr lang="en-US" sz="1000" dirty="0">
                <a:solidFill>
                  <a:srgbClr val="4A5568"/>
                </a:solidFill>
              </a:rPr>
              <a:t>Lowest; high repeat frequency</a:t>
            </a:r>
            <a:endParaRPr lang="en-US" sz="1000" dirty="0"/>
          </a:p>
        </p:txBody>
      </p:sp>
      <p:sp>
        <p:nvSpPr>
          <p:cNvPr id="22" name="Shape 19"/>
          <p:cNvSpPr/>
          <p:nvPr/>
        </p:nvSpPr>
        <p:spPr>
          <a:xfrm>
            <a:off x="457200" y="4462272"/>
            <a:ext cx="8229600" cy="475488"/>
          </a:xfrm>
          <a:prstGeom prst="rect">
            <a:avLst/>
          </a:prstGeom>
          <a:solidFill>
            <a:srgbClr val="E0F4F1"/>
          </a:solidFill>
          <a:ln w="12700">
            <a:solidFill>
              <a:srgbClr val="00A896"/>
            </a:solidFill>
            <a:prstDash val="solid"/>
          </a:ln>
        </p:spPr>
      </p:sp>
      <p:sp>
        <p:nvSpPr>
          <p:cNvPr id="23" name="Text 20"/>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Electronics &amp; Clothing account for 47% of total revenue. Beauty has the highest avg order value — a premium segment with strong upsell potential.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Impact of Discounts &amp; Promotions on Sales</a:t>
            </a:r>
            <a:endParaRPr lang="en-US" sz="2700" dirty="0"/>
          </a:p>
        </p:txBody>
      </p:sp>
      <p:graphicFrame>
        <p:nvGraphicFramePr>
          <p:cNvPr id="5" name="Chart 0"/>
          <p:cNvGraphicFramePr/>
          <p:nvPr/>
        </p:nvGraphicFramePr>
        <p:xfrm>
          <a:off x="457200" y="1261872"/>
          <a:ext cx="53949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1280160"/>
            <a:ext cx="2743200" cy="82296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Shape 4"/>
          <p:cNvSpPr/>
          <p:nvPr/>
        </p:nvSpPr>
        <p:spPr>
          <a:xfrm>
            <a:off x="6126480" y="1280160"/>
            <a:ext cx="2743200" cy="54864"/>
          </a:xfrm>
          <a:prstGeom prst="rect">
            <a:avLst/>
          </a:prstGeom>
          <a:solidFill>
            <a:srgbClr val="00A896"/>
          </a:solidFill>
          <a:ln w="12700">
            <a:solidFill>
              <a:srgbClr val="00A896"/>
            </a:solidFill>
            <a:prstDash val="solid"/>
          </a:ln>
        </p:spPr>
      </p:sp>
      <p:sp>
        <p:nvSpPr>
          <p:cNvPr id="8" name="Text 5"/>
          <p:cNvSpPr/>
          <p:nvPr/>
        </p:nvSpPr>
        <p:spPr>
          <a:xfrm>
            <a:off x="6126480" y="1371600"/>
            <a:ext cx="2743200" cy="566928"/>
          </a:xfrm>
          <a:prstGeom prst="rect">
            <a:avLst/>
          </a:prstGeom>
          <a:noFill/>
          <a:ln/>
        </p:spPr>
        <p:txBody>
          <a:bodyPr wrap="square" rtlCol="0" anchor="ctr"/>
          <a:lstStyle/>
          <a:p>
            <a:pPr marL="0" indent="0" algn="ctr">
              <a:buNone/>
            </a:pPr>
            <a:r>
              <a:rPr lang="en-US" sz="2600" b="1" dirty="0">
                <a:solidFill>
                  <a:srgbClr val="00A896"/>
                </a:solidFill>
              </a:rPr>
              <a:t>↑ 26%</a:t>
            </a:r>
            <a:endParaRPr lang="en-US" sz="2600" dirty="0"/>
          </a:p>
        </p:txBody>
      </p:sp>
      <p:sp>
        <p:nvSpPr>
          <p:cNvPr id="9" name="Text 6"/>
          <p:cNvSpPr/>
          <p:nvPr/>
        </p:nvSpPr>
        <p:spPr>
          <a:xfrm>
            <a:off x="6217920" y="1938528"/>
            <a:ext cx="2560320" cy="365760"/>
          </a:xfrm>
          <a:prstGeom prst="rect">
            <a:avLst/>
          </a:prstGeom>
          <a:noFill/>
          <a:ln/>
        </p:spPr>
        <p:txBody>
          <a:bodyPr wrap="square" rtlCol="0" anchor="ctr"/>
          <a:lstStyle/>
          <a:p>
            <a:pPr marL="0" indent="0" algn="ctr">
              <a:buNone/>
            </a:pPr>
            <a:r>
              <a:rPr lang="en-US" sz="1000" dirty="0">
                <a:solidFill>
                  <a:srgbClr val="4A5568"/>
                </a:solidFill>
              </a:rPr>
              <a:t>avg lift from discounts</a:t>
            </a:r>
            <a:endParaRPr lang="en-US" sz="1000" dirty="0"/>
          </a:p>
        </p:txBody>
      </p:sp>
      <p:sp>
        <p:nvSpPr>
          <p:cNvPr id="10" name="Shape 7"/>
          <p:cNvSpPr/>
          <p:nvPr/>
        </p:nvSpPr>
        <p:spPr>
          <a:xfrm>
            <a:off x="6126480" y="2240280"/>
            <a:ext cx="2743200" cy="82296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8"/>
          <p:cNvSpPr/>
          <p:nvPr/>
        </p:nvSpPr>
        <p:spPr>
          <a:xfrm>
            <a:off x="6126480" y="2240280"/>
            <a:ext cx="2743200" cy="54864"/>
          </a:xfrm>
          <a:prstGeom prst="rect">
            <a:avLst/>
          </a:prstGeom>
          <a:solidFill>
            <a:srgbClr val="0D1B2A"/>
          </a:solidFill>
          <a:ln w="12700">
            <a:solidFill>
              <a:srgbClr val="0D1B2A"/>
            </a:solidFill>
            <a:prstDash val="solid"/>
          </a:ln>
        </p:spPr>
      </p:sp>
      <p:sp>
        <p:nvSpPr>
          <p:cNvPr id="12" name="Text 9"/>
          <p:cNvSpPr/>
          <p:nvPr/>
        </p:nvSpPr>
        <p:spPr>
          <a:xfrm>
            <a:off x="6126480" y="2331720"/>
            <a:ext cx="2743200" cy="566928"/>
          </a:xfrm>
          <a:prstGeom prst="rect">
            <a:avLst/>
          </a:prstGeom>
          <a:noFill/>
          <a:ln/>
        </p:spPr>
        <p:txBody>
          <a:bodyPr wrap="square" rtlCol="0" anchor="ctr"/>
          <a:lstStyle/>
          <a:p>
            <a:pPr marL="0" indent="0" algn="ctr">
              <a:buNone/>
            </a:pPr>
            <a:r>
              <a:rPr lang="en-US" sz="2600" b="1" dirty="0">
                <a:solidFill>
                  <a:srgbClr val="0D1B2A"/>
                </a:solidFill>
              </a:rPr>
              <a:t>38%</a:t>
            </a:r>
            <a:endParaRPr lang="en-US" sz="2600" dirty="0"/>
          </a:p>
        </p:txBody>
      </p:sp>
      <p:sp>
        <p:nvSpPr>
          <p:cNvPr id="13" name="Text 10"/>
          <p:cNvSpPr/>
          <p:nvPr/>
        </p:nvSpPr>
        <p:spPr>
          <a:xfrm>
            <a:off x="6217920" y="2898648"/>
            <a:ext cx="2560320" cy="365760"/>
          </a:xfrm>
          <a:prstGeom prst="rect">
            <a:avLst/>
          </a:prstGeom>
          <a:noFill/>
          <a:ln/>
        </p:spPr>
        <p:txBody>
          <a:bodyPr wrap="square" rtlCol="0" anchor="ctr"/>
          <a:lstStyle/>
          <a:p>
            <a:pPr marL="0" indent="0" algn="ctr">
              <a:buNone/>
            </a:pPr>
            <a:r>
              <a:rPr lang="en-US" sz="1000" dirty="0">
                <a:solidFill>
                  <a:srgbClr val="4A5568"/>
                </a:solidFill>
              </a:rPr>
              <a:t>of all orders have a discount</a:t>
            </a:r>
            <a:endParaRPr lang="en-US" sz="1000" dirty="0"/>
          </a:p>
        </p:txBody>
      </p:sp>
      <p:sp>
        <p:nvSpPr>
          <p:cNvPr id="14" name="Shape 11"/>
          <p:cNvSpPr/>
          <p:nvPr/>
        </p:nvSpPr>
        <p:spPr>
          <a:xfrm>
            <a:off x="6126480" y="3200400"/>
            <a:ext cx="2743200" cy="82296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5" name="Shape 12"/>
          <p:cNvSpPr/>
          <p:nvPr/>
        </p:nvSpPr>
        <p:spPr>
          <a:xfrm>
            <a:off x="6126480" y="3200400"/>
            <a:ext cx="2743200" cy="54864"/>
          </a:xfrm>
          <a:prstGeom prst="rect">
            <a:avLst/>
          </a:prstGeom>
          <a:solidFill>
            <a:srgbClr val="B7551A"/>
          </a:solidFill>
          <a:ln w="12700">
            <a:solidFill>
              <a:srgbClr val="B7551A"/>
            </a:solidFill>
            <a:prstDash val="solid"/>
          </a:ln>
        </p:spPr>
      </p:sp>
      <p:sp>
        <p:nvSpPr>
          <p:cNvPr id="16" name="Text 13"/>
          <p:cNvSpPr/>
          <p:nvPr/>
        </p:nvSpPr>
        <p:spPr>
          <a:xfrm>
            <a:off x="6126480" y="3291840"/>
            <a:ext cx="2743200" cy="566928"/>
          </a:xfrm>
          <a:prstGeom prst="rect">
            <a:avLst/>
          </a:prstGeom>
          <a:noFill/>
          <a:ln/>
        </p:spPr>
        <p:txBody>
          <a:bodyPr wrap="square" rtlCol="0" anchor="ctr"/>
          <a:lstStyle/>
          <a:p>
            <a:pPr marL="0" indent="0" algn="ctr">
              <a:buNone/>
            </a:pPr>
            <a:r>
              <a:rPr lang="en-US" sz="2600" b="1" dirty="0">
                <a:solidFill>
                  <a:srgbClr val="B7551A"/>
                </a:solidFill>
              </a:rPr>
              <a:t>15–20%</a:t>
            </a:r>
            <a:endParaRPr lang="en-US" sz="2600" dirty="0"/>
          </a:p>
        </p:txBody>
      </p:sp>
      <p:sp>
        <p:nvSpPr>
          <p:cNvPr id="17" name="Text 14"/>
          <p:cNvSpPr/>
          <p:nvPr/>
        </p:nvSpPr>
        <p:spPr>
          <a:xfrm>
            <a:off x="6217920" y="3858768"/>
            <a:ext cx="2560320" cy="365760"/>
          </a:xfrm>
          <a:prstGeom prst="rect">
            <a:avLst/>
          </a:prstGeom>
          <a:noFill/>
          <a:ln/>
        </p:spPr>
        <p:txBody>
          <a:bodyPr wrap="square" rtlCol="0" anchor="ctr"/>
          <a:lstStyle/>
          <a:p>
            <a:pPr marL="0" indent="0" algn="ctr">
              <a:buNone/>
            </a:pPr>
            <a:r>
              <a:rPr lang="en-US" sz="1000" dirty="0">
                <a:solidFill>
                  <a:srgbClr val="4A5568"/>
                </a:solidFill>
              </a:rPr>
              <a:t>optimal discount range</a:t>
            </a:r>
            <a:endParaRPr lang="en-US" sz="1000" dirty="0"/>
          </a:p>
        </p:txBody>
      </p:sp>
      <p:sp>
        <p:nvSpPr>
          <p:cNvPr id="18" name="Shape 15"/>
          <p:cNvSpPr/>
          <p:nvPr/>
        </p:nvSpPr>
        <p:spPr>
          <a:xfrm>
            <a:off x="457200" y="4462272"/>
            <a:ext cx="8229600" cy="475488"/>
          </a:xfrm>
          <a:prstGeom prst="rect">
            <a:avLst/>
          </a:prstGeom>
          <a:solidFill>
            <a:srgbClr val="E0F4F1"/>
          </a:solidFill>
          <a:ln w="12700">
            <a:solidFill>
              <a:srgbClr val="00A896"/>
            </a:solidFill>
            <a:prstDash val="solid"/>
          </a:ln>
        </p:spPr>
      </p:sp>
      <p:sp>
        <p:nvSpPr>
          <p:cNvPr id="19" name="Text 16"/>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Discounts drive a 26% average increase in purchase amount. Deep discounts (&gt;25%) show diminishing revenue returns — precision targeting is more effective.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Regional &amp; Geographic Sales Performance</a:t>
            </a:r>
            <a:endParaRPr lang="en-US" sz="2700" dirty="0"/>
          </a:p>
        </p:txBody>
      </p:sp>
      <p:graphicFrame>
        <p:nvGraphicFramePr>
          <p:cNvPr id="5" name="Chart 0"/>
          <p:cNvGraphicFramePr/>
          <p:nvPr/>
        </p:nvGraphicFramePr>
        <p:xfrm>
          <a:off x="457200" y="1261872"/>
          <a:ext cx="53949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35040" y="1280160"/>
            <a:ext cx="28346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Text 4"/>
          <p:cNvSpPr/>
          <p:nvPr/>
        </p:nvSpPr>
        <p:spPr>
          <a:xfrm>
            <a:off x="6172200" y="1335024"/>
            <a:ext cx="2560320" cy="256032"/>
          </a:xfrm>
          <a:prstGeom prst="rect">
            <a:avLst/>
          </a:prstGeom>
          <a:noFill/>
          <a:ln/>
        </p:spPr>
        <p:txBody>
          <a:bodyPr wrap="square" rtlCol="0" anchor="ctr"/>
          <a:lstStyle/>
          <a:p>
            <a:pPr marL="0" indent="0">
              <a:buNone/>
            </a:pPr>
            <a:r>
              <a:rPr lang="en-US" sz="1200" b="1" dirty="0">
                <a:solidFill>
                  <a:srgbClr val="0D1B2A"/>
                </a:solidFill>
              </a:rPr>
              <a:t>🏆 West</a:t>
            </a:r>
            <a:endParaRPr lang="en-US" sz="1200" dirty="0"/>
          </a:p>
        </p:txBody>
      </p:sp>
      <p:sp>
        <p:nvSpPr>
          <p:cNvPr id="8" name="Text 5"/>
          <p:cNvSpPr/>
          <p:nvPr/>
        </p:nvSpPr>
        <p:spPr>
          <a:xfrm>
            <a:off x="6172200" y="1627632"/>
            <a:ext cx="2560320" cy="256032"/>
          </a:xfrm>
          <a:prstGeom prst="rect">
            <a:avLst/>
          </a:prstGeom>
          <a:noFill/>
          <a:ln/>
        </p:spPr>
        <p:txBody>
          <a:bodyPr wrap="square" rtlCol="0" anchor="ctr"/>
          <a:lstStyle/>
          <a:p>
            <a:pPr marL="0" indent="0">
              <a:buNone/>
            </a:pPr>
            <a:r>
              <a:rPr lang="en-US" sz="1000" dirty="0">
                <a:solidFill>
                  <a:srgbClr val="4A5568"/>
                </a:solidFill>
              </a:rPr>
              <a:t>Highest revenue ($148K). Electronics &amp; Clothing dominant.</a:t>
            </a:r>
            <a:endParaRPr lang="en-US" sz="1000" dirty="0"/>
          </a:p>
        </p:txBody>
      </p:sp>
      <p:sp>
        <p:nvSpPr>
          <p:cNvPr id="9" name="Shape 6"/>
          <p:cNvSpPr/>
          <p:nvPr/>
        </p:nvSpPr>
        <p:spPr>
          <a:xfrm>
            <a:off x="6035040" y="2029968"/>
            <a:ext cx="28346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0" name="Text 7"/>
          <p:cNvSpPr/>
          <p:nvPr/>
        </p:nvSpPr>
        <p:spPr>
          <a:xfrm>
            <a:off x="6172200" y="2084832"/>
            <a:ext cx="2560320" cy="256032"/>
          </a:xfrm>
          <a:prstGeom prst="rect">
            <a:avLst/>
          </a:prstGeom>
          <a:noFill/>
          <a:ln/>
        </p:spPr>
        <p:txBody>
          <a:bodyPr wrap="square" rtlCol="0" anchor="ctr"/>
          <a:lstStyle/>
          <a:p>
            <a:pPr marL="0" indent="0">
              <a:buNone/>
            </a:pPr>
            <a:r>
              <a:rPr lang="en-US" sz="1200" b="1" dirty="0">
                <a:solidFill>
                  <a:srgbClr val="0D1B2A"/>
                </a:solidFill>
              </a:rPr>
              <a:t>📈 North</a:t>
            </a:r>
            <a:endParaRPr lang="en-US" sz="1200" dirty="0"/>
          </a:p>
        </p:txBody>
      </p:sp>
      <p:sp>
        <p:nvSpPr>
          <p:cNvPr id="11" name="Text 8"/>
          <p:cNvSpPr/>
          <p:nvPr/>
        </p:nvSpPr>
        <p:spPr>
          <a:xfrm>
            <a:off x="6172200" y="2377440"/>
            <a:ext cx="2560320" cy="256032"/>
          </a:xfrm>
          <a:prstGeom prst="rect">
            <a:avLst/>
          </a:prstGeom>
          <a:noFill/>
          <a:ln/>
        </p:spPr>
        <p:txBody>
          <a:bodyPr wrap="square" rtlCol="0" anchor="ctr"/>
          <a:lstStyle/>
          <a:p>
            <a:pPr marL="0" indent="0">
              <a:buNone/>
            </a:pPr>
            <a:r>
              <a:rPr lang="en-US" sz="1000" dirty="0">
                <a:solidFill>
                  <a:srgbClr val="4A5568"/>
                </a:solidFill>
              </a:rPr>
              <a:t>2nd place. Beauty fastest-growing at +22% YoY.</a:t>
            </a:r>
            <a:endParaRPr lang="en-US" sz="1000" dirty="0"/>
          </a:p>
        </p:txBody>
      </p:sp>
      <p:sp>
        <p:nvSpPr>
          <p:cNvPr id="12" name="Shape 9"/>
          <p:cNvSpPr/>
          <p:nvPr/>
        </p:nvSpPr>
        <p:spPr>
          <a:xfrm>
            <a:off x="6035040" y="2779776"/>
            <a:ext cx="28346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3" name="Text 10"/>
          <p:cNvSpPr/>
          <p:nvPr/>
        </p:nvSpPr>
        <p:spPr>
          <a:xfrm>
            <a:off x="6172200" y="2834640"/>
            <a:ext cx="2560320" cy="256032"/>
          </a:xfrm>
          <a:prstGeom prst="rect">
            <a:avLst/>
          </a:prstGeom>
          <a:noFill/>
          <a:ln/>
        </p:spPr>
        <p:txBody>
          <a:bodyPr wrap="square" rtlCol="0" anchor="ctr"/>
          <a:lstStyle/>
          <a:p>
            <a:pPr marL="0" indent="0">
              <a:buNone/>
            </a:pPr>
            <a:r>
              <a:rPr lang="en-US" sz="1200" b="1" dirty="0">
                <a:solidFill>
                  <a:srgbClr val="0D1B2A"/>
                </a:solidFill>
              </a:rPr>
              <a:t>⚠️ Northeast</a:t>
            </a:r>
            <a:endParaRPr lang="en-US" sz="1200" dirty="0"/>
          </a:p>
        </p:txBody>
      </p:sp>
      <p:sp>
        <p:nvSpPr>
          <p:cNvPr id="14" name="Text 11"/>
          <p:cNvSpPr/>
          <p:nvPr/>
        </p:nvSpPr>
        <p:spPr>
          <a:xfrm>
            <a:off x="6172200" y="3127248"/>
            <a:ext cx="2560320" cy="256032"/>
          </a:xfrm>
          <a:prstGeom prst="rect">
            <a:avLst/>
          </a:prstGeom>
          <a:noFill/>
          <a:ln/>
        </p:spPr>
        <p:txBody>
          <a:bodyPr wrap="square" rtlCol="0" anchor="ctr"/>
          <a:lstStyle/>
          <a:p>
            <a:pPr marL="0" indent="0">
              <a:buNone/>
            </a:pPr>
            <a:r>
              <a:rPr lang="en-US" sz="1000" dirty="0">
                <a:solidFill>
                  <a:srgbClr val="4A5568"/>
                </a:solidFill>
              </a:rPr>
              <a:t>Lowest performance. Biggest untapped opportunity.</a:t>
            </a:r>
            <a:endParaRPr lang="en-US" sz="1000" dirty="0"/>
          </a:p>
        </p:txBody>
      </p:sp>
      <p:sp>
        <p:nvSpPr>
          <p:cNvPr id="15" name="Shape 12"/>
          <p:cNvSpPr/>
          <p:nvPr/>
        </p:nvSpPr>
        <p:spPr>
          <a:xfrm>
            <a:off x="6035040" y="3529584"/>
            <a:ext cx="283464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6" name="Text 13"/>
          <p:cNvSpPr/>
          <p:nvPr/>
        </p:nvSpPr>
        <p:spPr>
          <a:xfrm>
            <a:off x="6172200" y="3584448"/>
            <a:ext cx="2560320" cy="256032"/>
          </a:xfrm>
          <a:prstGeom prst="rect">
            <a:avLst/>
          </a:prstGeom>
          <a:noFill/>
          <a:ln/>
        </p:spPr>
        <p:txBody>
          <a:bodyPr wrap="square" rtlCol="0" anchor="ctr"/>
          <a:lstStyle/>
          <a:p>
            <a:pPr marL="0" indent="0">
              <a:buNone/>
            </a:pPr>
            <a:r>
              <a:rPr lang="en-US" sz="1200" b="1" dirty="0">
                <a:solidFill>
                  <a:srgbClr val="0D1B2A"/>
                </a:solidFill>
              </a:rPr>
              <a:t>🚚 Shipping</a:t>
            </a:r>
            <a:endParaRPr lang="en-US" sz="1200" dirty="0"/>
          </a:p>
        </p:txBody>
      </p:sp>
      <p:sp>
        <p:nvSpPr>
          <p:cNvPr id="17" name="Text 14"/>
          <p:cNvSpPr/>
          <p:nvPr/>
        </p:nvSpPr>
        <p:spPr>
          <a:xfrm>
            <a:off x="6172200" y="3877056"/>
            <a:ext cx="2560320" cy="256032"/>
          </a:xfrm>
          <a:prstGeom prst="rect">
            <a:avLst/>
          </a:prstGeom>
          <a:noFill/>
          <a:ln/>
        </p:spPr>
        <p:txBody>
          <a:bodyPr wrap="square" rtlCol="0" anchor="ctr"/>
          <a:lstStyle/>
          <a:p>
            <a:pPr marL="0" indent="0">
              <a:buNone/>
            </a:pPr>
            <a:r>
              <a:rPr lang="en-US" sz="1000" dirty="0">
                <a:solidFill>
                  <a:srgbClr val="4A5568"/>
                </a:solidFill>
              </a:rPr>
              <a:t>Avg shipping cost $8.40. Free shipping boosts West orders.</a:t>
            </a:r>
            <a:endParaRPr lang="en-US" sz="1000" dirty="0"/>
          </a:p>
        </p:txBody>
      </p:sp>
      <p:sp>
        <p:nvSpPr>
          <p:cNvPr id="18" name="Shape 15"/>
          <p:cNvSpPr/>
          <p:nvPr/>
        </p:nvSpPr>
        <p:spPr>
          <a:xfrm>
            <a:off x="457200" y="4462272"/>
            <a:ext cx="8229600" cy="475488"/>
          </a:xfrm>
          <a:prstGeom prst="rect">
            <a:avLst/>
          </a:prstGeom>
          <a:solidFill>
            <a:srgbClr val="E0F4F1"/>
          </a:solidFill>
          <a:ln w="12700">
            <a:solidFill>
              <a:srgbClr val="00A896"/>
            </a:solidFill>
            <a:prstDash val="solid"/>
          </a:ln>
        </p:spPr>
      </p:sp>
      <p:sp>
        <p:nvSpPr>
          <p:cNvPr id="19" name="Text 16"/>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Western region leads in both revenue and order volume. Northeast is the lowest performer — a clear target for regional growth campaigns.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EDA</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Payment Methods &amp; Order Status Analysis</a:t>
            </a:r>
            <a:endParaRPr lang="en-US" sz="2700" dirty="0"/>
          </a:p>
        </p:txBody>
      </p:sp>
      <p:graphicFrame>
        <p:nvGraphicFramePr>
          <p:cNvPr id="5" name="Chart 0"/>
          <p:cNvGraphicFramePr/>
          <p:nvPr/>
        </p:nvGraphicFramePr>
        <p:xfrm>
          <a:off x="457200" y="1234440"/>
          <a:ext cx="384048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480560" y="1234440"/>
          <a:ext cx="438912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457200" y="4462272"/>
            <a:ext cx="8229600" cy="475488"/>
          </a:xfrm>
          <a:prstGeom prst="rect">
            <a:avLst/>
          </a:prstGeom>
          <a:solidFill>
            <a:srgbClr val="E0F4F1"/>
          </a:solidFill>
          <a:ln w="12700">
            <a:solidFill>
              <a:srgbClr val="00A896"/>
            </a:solidFill>
            <a:prstDash val="solid"/>
          </a:ln>
        </p:spPr>
      </p:sp>
      <p:sp>
        <p:nvSpPr>
          <p:cNvPr id="8" name="Text 4"/>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78% of orders are completed. Returns (13%) are highest in Clothing — better product info and size guides can reduce this and recover ~$85K annually.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STEP 5</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Feature Engineering &amp; Selection</a:t>
            </a:r>
            <a:endParaRPr lang="en-US" sz="2700" dirty="0"/>
          </a:p>
        </p:txBody>
      </p:sp>
      <p:sp>
        <p:nvSpPr>
          <p:cNvPr id="5" name="Shape 3"/>
          <p:cNvSpPr/>
          <p:nvPr/>
        </p:nvSpPr>
        <p:spPr>
          <a:xfrm>
            <a:off x="457200" y="1298448"/>
            <a:ext cx="2651760" cy="1298448"/>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6" name="Shape 4"/>
          <p:cNvSpPr/>
          <p:nvPr/>
        </p:nvSpPr>
        <p:spPr>
          <a:xfrm>
            <a:off x="457200" y="1298448"/>
            <a:ext cx="2651760" cy="54864"/>
          </a:xfrm>
          <a:prstGeom prst="rect">
            <a:avLst/>
          </a:prstGeom>
          <a:solidFill>
            <a:srgbClr val="00A896"/>
          </a:solidFill>
          <a:ln w="12700">
            <a:solidFill>
              <a:srgbClr val="00A896"/>
            </a:solidFill>
            <a:prstDash val="solid"/>
          </a:ln>
        </p:spPr>
      </p:sp>
      <p:sp>
        <p:nvSpPr>
          <p:cNvPr id="7" name="Shape 5"/>
          <p:cNvSpPr/>
          <p:nvPr/>
        </p:nvSpPr>
        <p:spPr>
          <a:xfrm>
            <a:off x="2377440" y="1408176"/>
            <a:ext cx="621792" cy="201168"/>
          </a:xfrm>
          <a:prstGeom prst="rect">
            <a:avLst/>
          </a:prstGeom>
          <a:solidFill>
            <a:srgbClr val="E6F7F5"/>
          </a:solidFill>
          <a:ln w="6350">
            <a:solidFill>
              <a:srgbClr val="00A896"/>
            </a:solidFill>
            <a:prstDash val="solid"/>
          </a:ln>
        </p:spPr>
      </p:sp>
      <p:sp>
        <p:nvSpPr>
          <p:cNvPr id="8" name="Text 6"/>
          <p:cNvSpPr/>
          <p:nvPr/>
        </p:nvSpPr>
        <p:spPr>
          <a:xfrm>
            <a:off x="2377440" y="1408176"/>
            <a:ext cx="621792" cy="201168"/>
          </a:xfrm>
          <a:prstGeom prst="rect">
            <a:avLst/>
          </a:prstGeom>
          <a:noFill/>
          <a:ln/>
        </p:spPr>
        <p:txBody>
          <a:bodyPr wrap="square" rtlCol="0" anchor="ctr"/>
          <a:lstStyle/>
          <a:p>
            <a:pPr marL="0" indent="0" algn="ctr">
              <a:buNone/>
            </a:pPr>
            <a:r>
              <a:rPr lang="en-US" sz="800" b="1" dirty="0">
                <a:solidFill>
                  <a:srgbClr val="00A896"/>
                </a:solidFill>
              </a:rPr>
              <a:t>RFM</a:t>
            </a:r>
            <a:endParaRPr lang="en-US" sz="800" dirty="0"/>
          </a:p>
        </p:txBody>
      </p:sp>
      <p:sp>
        <p:nvSpPr>
          <p:cNvPr id="9" name="Text 7"/>
          <p:cNvSpPr/>
          <p:nvPr/>
        </p:nvSpPr>
        <p:spPr>
          <a:xfrm>
            <a:off x="566928" y="1408176"/>
            <a:ext cx="1783080" cy="274320"/>
          </a:xfrm>
          <a:prstGeom prst="rect">
            <a:avLst/>
          </a:prstGeom>
          <a:noFill/>
          <a:ln/>
        </p:spPr>
        <p:txBody>
          <a:bodyPr wrap="square" rtlCol="0" anchor="ctr"/>
          <a:lstStyle/>
          <a:p>
            <a:pPr marL="0" indent="0">
              <a:buNone/>
            </a:pPr>
            <a:r>
              <a:rPr lang="en-US" sz="1200" b="1" dirty="0">
                <a:solidFill>
                  <a:srgbClr val="0D1B2A"/>
                </a:solidFill>
              </a:rPr>
              <a:t>Purchase Frequency</a:t>
            </a:r>
            <a:endParaRPr lang="en-US" sz="1200" dirty="0"/>
          </a:p>
        </p:txBody>
      </p:sp>
      <p:sp>
        <p:nvSpPr>
          <p:cNvPr id="10" name="Text 8"/>
          <p:cNvSpPr/>
          <p:nvPr/>
        </p:nvSpPr>
        <p:spPr>
          <a:xfrm>
            <a:off x="566928" y="1719072"/>
            <a:ext cx="2423160" cy="804672"/>
          </a:xfrm>
          <a:prstGeom prst="rect">
            <a:avLst/>
          </a:prstGeom>
          <a:noFill/>
          <a:ln/>
        </p:spPr>
        <p:txBody>
          <a:bodyPr wrap="square" rtlCol="0" anchor="ctr"/>
          <a:lstStyle/>
          <a:p>
            <a:pPr marL="0" indent="0">
              <a:buNone/>
            </a:pPr>
            <a:r>
              <a:rPr lang="en-US" sz="1000" dirty="0">
                <a:solidFill>
                  <a:srgbClr val="4A5568"/>
                </a:solidFill>
              </a:rPr>
              <a:t>Orders per customer (enabled by retaining all rows per Customer ID). Core input to RFM scoring.</a:t>
            </a:r>
            <a:endParaRPr lang="en-US" sz="1000" dirty="0"/>
          </a:p>
        </p:txBody>
      </p:sp>
      <p:sp>
        <p:nvSpPr>
          <p:cNvPr id="11" name="Shape 9"/>
          <p:cNvSpPr/>
          <p:nvPr/>
        </p:nvSpPr>
        <p:spPr>
          <a:xfrm>
            <a:off x="3291840" y="1298448"/>
            <a:ext cx="2651760" cy="1298448"/>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2" name="Shape 10"/>
          <p:cNvSpPr/>
          <p:nvPr/>
        </p:nvSpPr>
        <p:spPr>
          <a:xfrm>
            <a:off x="3291840" y="1298448"/>
            <a:ext cx="2651760" cy="54864"/>
          </a:xfrm>
          <a:prstGeom prst="rect">
            <a:avLst/>
          </a:prstGeom>
          <a:solidFill>
            <a:srgbClr val="00A896"/>
          </a:solidFill>
          <a:ln w="12700">
            <a:solidFill>
              <a:srgbClr val="00A896"/>
            </a:solidFill>
            <a:prstDash val="solid"/>
          </a:ln>
        </p:spPr>
      </p:sp>
      <p:sp>
        <p:nvSpPr>
          <p:cNvPr id="13" name="Shape 11"/>
          <p:cNvSpPr/>
          <p:nvPr/>
        </p:nvSpPr>
        <p:spPr>
          <a:xfrm>
            <a:off x="5212080" y="1408176"/>
            <a:ext cx="621792" cy="201168"/>
          </a:xfrm>
          <a:prstGeom prst="rect">
            <a:avLst/>
          </a:prstGeom>
          <a:solidFill>
            <a:srgbClr val="E6F7F5"/>
          </a:solidFill>
          <a:ln w="6350">
            <a:solidFill>
              <a:srgbClr val="00A896"/>
            </a:solidFill>
            <a:prstDash val="solid"/>
          </a:ln>
        </p:spPr>
      </p:sp>
      <p:sp>
        <p:nvSpPr>
          <p:cNvPr id="14" name="Text 12"/>
          <p:cNvSpPr/>
          <p:nvPr/>
        </p:nvSpPr>
        <p:spPr>
          <a:xfrm>
            <a:off x="5212080" y="1408176"/>
            <a:ext cx="621792" cy="201168"/>
          </a:xfrm>
          <a:prstGeom prst="rect">
            <a:avLst/>
          </a:prstGeom>
          <a:noFill/>
          <a:ln/>
        </p:spPr>
        <p:txBody>
          <a:bodyPr wrap="square" rtlCol="0" anchor="ctr"/>
          <a:lstStyle/>
          <a:p>
            <a:pPr marL="0" indent="0" algn="ctr">
              <a:buNone/>
            </a:pPr>
            <a:r>
              <a:rPr lang="en-US" sz="800" b="1" dirty="0">
                <a:solidFill>
                  <a:srgbClr val="00A896"/>
                </a:solidFill>
              </a:rPr>
              <a:t>RFM</a:t>
            </a:r>
            <a:endParaRPr lang="en-US" sz="800" dirty="0"/>
          </a:p>
        </p:txBody>
      </p:sp>
      <p:sp>
        <p:nvSpPr>
          <p:cNvPr id="15" name="Text 13"/>
          <p:cNvSpPr/>
          <p:nvPr/>
        </p:nvSpPr>
        <p:spPr>
          <a:xfrm>
            <a:off x="3401568" y="1408176"/>
            <a:ext cx="1783080" cy="274320"/>
          </a:xfrm>
          <a:prstGeom prst="rect">
            <a:avLst/>
          </a:prstGeom>
          <a:noFill/>
          <a:ln/>
        </p:spPr>
        <p:txBody>
          <a:bodyPr wrap="square" rtlCol="0" anchor="ctr"/>
          <a:lstStyle/>
          <a:p>
            <a:pPr marL="0" indent="0">
              <a:buNone/>
            </a:pPr>
            <a:r>
              <a:rPr lang="en-US" sz="1200" b="1" dirty="0">
                <a:solidFill>
                  <a:srgbClr val="0D1B2A"/>
                </a:solidFill>
              </a:rPr>
              <a:t>Days Since Last Order</a:t>
            </a:r>
            <a:endParaRPr lang="en-US" sz="1200" dirty="0"/>
          </a:p>
        </p:txBody>
      </p:sp>
      <p:sp>
        <p:nvSpPr>
          <p:cNvPr id="16" name="Text 14"/>
          <p:cNvSpPr/>
          <p:nvPr/>
        </p:nvSpPr>
        <p:spPr>
          <a:xfrm>
            <a:off x="3401568" y="1719072"/>
            <a:ext cx="2423160" cy="804672"/>
          </a:xfrm>
          <a:prstGeom prst="rect">
            <a:avLst/>
          </a:prstGeom>
          <a:noFill/>
          <a:ln/>
        </p:spPr>
        <p:txBody>
          <a:bodyPr wrap="square" rtlCol="0" anchor="ctr"/>
          <a:lstStyle/>
          <a:p>
            <a:pPr marL="0" indent="0">
              <a:buNone/>
            </a:pPr>
            <a:r>
              <a:rPr lang="en-US" sz="1000" dirty="0">
                <a:solidFill>
                  <a:srgbClr val="4A5568"/>
                </a:solidFill>
              </a:rPr>
              <a:t>Recency metric computed from Order Date. Key predictor in churn and re-engagement models.</a:t>
            </a:r>
            <a:endParaRPr lang="en-US" sz="1000" dirty="0"/>
          </a:p>
        </p:txBody>
      </p:sp>
      <p:sp>
        <p:nvSpPr>
          <p:cNvPr id="17" name="Shape 15"/>
          <p:cNvSpPr/>
          <p:nvPr/>
        </p:nvSpPr>
        <p:spPr>
          <a:xfrm>
            <a:off x="6126480" y="1298448"/>
            <a:ext cx="2651760" cy="1298448"/>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8" name="Shape 16"/>
          <p:cNvSpPr/>
          <p:nvPr/>
        </p:nvSpPr>
        <p:spPr>
          <a:xfrm>
            <a:off x="6126480" y="1298448"/>
            <a:ext cx="2651760" cy="54864"/>
          </a:xfrm>
          <a:prstGeom prst="rect">
            <a:avLst/>
          </a:prstGeom>
          <a:solidFill>
            <a:srgbClr val="00A896"/>
          </a:solidFill>
          <a:ln w="12700">
            <a:solidFill>
              <a:srgbClr val="00A896"/>
            </a:solidFill>
            <a:prstDash val="solid"/>
          </a:ln>
        </p:spPr>
      </p:sp>
      <p:sp>
        <p:nvSpPr>
          <p:cNvPr id="19" name="Shape 17"/>
          <p:cNvSpPr/>
          <p:nvPr/>
        </p:nvSpPr>
        <p:spPr>
          <a:xfrm>
            <a:off x="8046720" y="1408176"/>
            <a:ext cx="621792" cy="201168"/>
          </a:xfrm>
          <a:prstGeom prst="rect">
            <a:avLst/>
          </a:prstGeom>
          <a:solidFill>
            <a:srgbClr val="E6F7F5"/>
          </a:solidFill>
          <a:ln w="6350">
            <a:solidFill>
              <a:srgbClr val="00A896"/>
            </a:solidFill>
            <a:prstDash val="solid"/>
          </a:ln>
        </p:spPr>
      </p:sp>
      <p:sp>
        <p:nvSpPr>
          <p:cNvPr id="20" name="Text 18"/>
          <p:cNvSpPr/>
          <p:nvPr/>
        </p:nvSpPr>
        <p:spPr>
          <a:xfrm>
            <a:off x="8046720" y="1408176"/>
            <a:ext cx="621792" cy="201168"/>
          </a:xfrm>
          <a:prstGeom prst="rect">
            <a:avLst/>
          </a:prstGeom>
          <a:noFill/>
          <a:ln/>
        </p:spPr>
        <p:txBody>
          <a:bodyPr wrap="square" rtlCol="0" anchor="ctr"/>
          <a:lstStyle/>
          <a:p>
            <a:pPr marL="0" indent="0" algn="ctr">
              <a:buNone/>
            </a:pPr>
            <a:r>
              <a:rPr lang="en-US" sz="800" b="1" dirty="0">
                <a:solidFill>
                  <a:srgbClr val="00A896"/>
                </a:solidFill>
              </a:rPr>
              <a:t>RFM</a:t>
            </a:r>
            <a:endParaRPr lang="en-US" sz="800" dirty="0"/>
          </a:p>
        </p:txBody>
      </p:sp>
      <p:sp>
        <p:nvSpPr>
          <p:cNvPr id="21" name="Text 19"/>
          <p:cNvSpPr/>
          <p:nvPr/>
        </p:nvSpPr>
        <p:spPr>
          <a:xfrm>
            <a:off x="6236208" y="1408176"/>
            <a:ext cx="1783080" cy="274320"/>
          </a:xfrm>
          <a:prstGeom prst="rect">
            <a:avLst/>
          </a:prstGeom>
          <a:noFill/>
          <a:ln/>
        </p:spPr>
        <p:txBody>
          <a:bodyPr wrap="square" rtlCol="0" anchor="ctr"/>
          <a:lstStyle/>
          <a:p>
            <a:pPr marL="0" indent="0">
              <a:buNone/>
            </a:pPr>
            <a:r>
              <a:rPr lang="en-US" sz="1200" b="1" dirty="0">
                <a:solidFill>
                  <a:srgbClr val="0D1B2A"/>
                </a:solidFill>
              </a:rPr>
              <a:t>Avg Spend per Order</a:t>
            </a:r>
            <a:endParaRPr lang="en-US" sz="1200" dirty="0"/>
          </a:p>
        </p:txBody>
      </p:sp>
      <p:sp>
        <p:nvSpPr>
          <p:cNvPr id="22" name="Text 20"/>
          <p:cNvSpPr/>
          <p:nvPr/>
        </p:nvSpPr>
        <p:spPr>
          <a:xfrm>
            <a:off x="6236208" y="1719072"/>
            <a:ext cx="2423160" cy="804672"/>
          </a:xfrm>
          <a:prstGeom prst="rect">
            <a:avLst/>
          </a:prstGeom>
          <a:noFill/>
          <a:ln/>
        </p:spPr>
        <p:txBody>
          <a:bodyPr wrap="square" rtlCol="0" anchor="ctr"/>
          <a:lstStyle/>
          <a:p>
            <a:pPr marL="0" indent="0">
              <a:buNone/>
            </a:pPr>
            <a:r>
              <a:rPr lang="en-US" sz="1000" dirty="0">
                <a:solidFill>
                  <a:srgbClr val="4A5568"/>
                </a:solidFill>
              </a:rPr>
              <a:t>Total spend ÷ order count per customer. Separates low-value from high-value buyers.</a:t>
            </a:r>
            <a:endParaRPr lang="en-US" sz="1000" dirty="0"/>
          </a:p>
        </p:txBody>
      </p:sp>
      <p:sp>
        <p:nvSpPr>
          <p:cNvPr id="23" name="Shape 21"/>
          <p:cNvSpPr/>
          <p:nvPr/>
        </p:nvSpPr>
        <p:spPr>
          <a:xfrm>
            <a:off x="457200" y="2715768"/>
            <a:ext cx="2651760" cy="1298448"/>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24" name="Shape 22"/>
          <p:cNvSpPr/>
          <p:nvPr/>
        </p:nvSpPr>
        <p:spPr>
          <a:xfrm>
            <a:off x="457200" y="2715768"/>
            <a:ext cx="2651760" cy="54864"/>
          </a:xfrm>
          <a:prstGeom prst="rect">
            <a:avLst/>
          </a:prstGeom>
          <a:solidFill>
            <a:srgbClr val="0D1B2A"/>
          </a:solidFill>
          <a:ln w="12700">
            <a:solidFill>
              <a:srgbClr val="0D1B2A"/>
            </a:solidFill>
            <a:prstDash val="solid"/>
          </a:ln>
        </p:spPr>
      </p:sp>
      <p:sp>
        <p:nvSpPr>
          <p:cNvPr id="25" name="Shape 23"/>
          <p:cNvSpPr/>
          <p:nvPr/>
        </p:nvSpPr>
        <p:spPr>
          <a:xfrm>
            <a:off x="2377440" y="2825496"/>
            <a:ext cx="621792" cy="201168"/>
          </a:xfrm>
          <a:prstGeom prst="rect">
            <a:avLst/>
          </a:prstGeom>
          <a:solidFill>
            <a:srgbClr val="E6F7F5"/>
          </a:solidFill>
          <a:ln w="6350">
            <a:solidFill>
              <a:srgbClr val="00A896"/>
            </a:solidFill>
            <a:prstDash val="solid"/>
          </a:ln>
        </p:spPr>
      </p:sp>
      <p:sp>
        <p:nvSpPr>
          <p:cNvPr id="26" name="Text 24"/>
          <p:cNvSpPr/>
          <p:nvPr/>
        </p:nvSpPr>
        <p:spPr>
          <a:xfrm>
            <a:off x="2377440" y="2825496"/>
            <a:ext cx="621792" cy="201168"/>
          </a:xfrm>
          <a:prstGeom prst="rect">
            <a:avLst/>
          </a:prstGeom>
          <a:noFill/>
          <a:ln/>
        </p:spPr>
        <p:txBody>
          <a:bodyPr wrap="square" rtlCol="0" anchor="ctr"/>
          <a:lstStyle/>
          <a:p>
            <a:pPr marL="0" indent="0" algn="ctr">
              <a:buNone/>
            </a:pPr>
            <a:r>
              <a:rPr lang="en-US" sz="800" b="1" dirty="0">
                <a:solidFill>
                  <a:srgbClr val="0D1B2A"/>
                </a:solidFill>
              </a:rPr>
              <a:t>Temporal</a:t>
            </a:r>
            <a:endParaRPr lang="en-US" sz="800" dirty="0"/>
          </a:p>
        </p:txBody>
      </p:sp>
      <p:sp>
        <p:nvSpPr>
          <p:cNvPr id="27" name="Text 25"/>
          <p:cNvSpPr/>
          <p:nvPr/>
        </p:nvSpPr>
        <p:spPr>
          <a:xfrm>
            <a:off x="566928" y="2825496"/>
            <a:ext cx="1783080" cy="274320"/>
          </a:xfrm>
          <a:prstGeom prst="rect">
            <a:avLst/>
          </a:prstGeom>
          <a:noFill/>
          <a:ln/>
        </p:spPr>
        <p:txBody>
          <a:bodyPr wrap="square" rtlCol="0" anchor="ctr"/>
          <a:lstStyle/>
          <a:p>
            <a:pPr marL="0" indent="0">
              <a:buNone/>
            </a:pPr>
            <a:r>
              <a:rPr lang="en-US" sz="1200" b="1" dirty="0">
                <a:solidFill>
                  <a:srgbClr val="0D1B2A"/>
                </a:solidFill>
              </a:rPr>
              <a:t>Seasonal Indicator</a:t>
            </a:r>
            <a:endParaRPr lang="en-US" sz="1200" dirty="0"/>
          </a:p>
        </p:txBody>
      </p:sp>
      <p:sp>
        <p:nvSpPr>
          <p:cNvPr id="28" name="Text 26"/>
          <p:cNvSpPr/>
          <p:nvPr/>
        </p:nvSpPr>
        <p:spPr>
          <a:xfrm>
            <a:off x="566928" y="3136392"/>
            <a:ext cx="2423160" cy="804672"/>
          </a:xfrm>
          <a:prstGeom prst="rect">
            <a:avLst/>
          </a:prstGeom>
          <a:noFill/>
          <a:ln/>
        </p:spPr>
        <p:txBody>
          <a:bodyPr wrap="square" rtlCol="0" anchor="ctr"/>
          <a:lstStyle/>
          <a:p>
            <a:pPr marL="0" indent="0">
              <a:buNone/>
            </a:pPr>
            <a:r>
              <a:rPr lang="en-US" sz="1000" dirty="0">
                <a:solidFill>
                  <a:srgbClr val="4A5568"/>
                </a:solidFill>
              </a:rPr>
              <a:t>Binary flags for Q4 holiday, mid-year sale, and back-to-school periods.</a:t>
            </a:r>
            <a:endParaRPr lang="en-US" sz="1000" dirty="0"/>
          </a:p>
        </p:txBody>
      </p:sp>
      <p:sp>
        <p:nvSpPr>
          <p:cNvPr id="29" name="Shape 27"/>
          <p:cNvSpPr/>
          <p:nvPr/>
        </p:nvSpPr>
        <p:spPr>
          <a:xfrm>
            <a:off x="3291840" y="2715768"/>
            <a:ext cx="2651760" cy="1298448"/>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30" name="Shape 28"/>
          <p:cNvSpPr/>
          <p:nvPr/>
        </p:nvSpPr>
        <p:spPr>
          <a:xfrm>
            <a:off x="3291840" y="2715768"/>
            <a:ext cx="2651760" cy="54864"/>
          </a:xfrm>
          <a:prstGeom prst="rect">
            <a:avLst/>
          </a:prstGeom>
          <a:solidFill>
            <a:srgbClr val="B7551A"/>
          </a:solidFill>
          <a:ln w="12700">
            <a:solidFill>
              <a:srgbClr val="B7551A"/>
            </a:solidFill>
            <a:prstDash val="solid"/>
          </a:ln>
        </p:spPr>
      </p:sp>
      <p:sp>
        <p:nvSpPr>
          <p:cNvPr id="31" name="Shape 29"/>
          <p:cNvSpPr/>
          <p:nvPr/>
        </p:nvSpPr>
        <p:spPr>
          <a:xfrm>
            <a:off x="5212080" y="2825496"/>
            <a:ext cx="621792" cy="201168"/>
          </a:xfrm>
          <a:prstGeom prst="rect">
            <a:avLst/>
          </a:prstGeom>
          <a:solidFill>
            <a:srgbClr val="E6F7F5"/>
          </a:solidFill>
          <a:ln w="6350">
            <a:solidFill>
              <a:srgbClr val="00A896"/>
            </a:solidFill>
            <a:prstDash val="solid"/>
          </a:ln>
        </p:spPr>
      </p:sp>
      <p:sp>
        <p:nvSpPr>
          <p:cNvPr id="32" name="Text 30"/>
          <p:cNvSpPr/>
          <p:nvPr/>
        </p:nvSpPr>
        <p:spPr>
          <a:xfrm>
            <a:off x="5212080" y="2825496"/>
            <a:ext cx="621792" cy="201168"/>
          </a:xfrm>
          <a:prstGeom prst="rect">
            <a:avLst/>
          </a:prstGeom>
          <a:noFill/>
          <a:ln/>
        </p:spPr>
        <p:txBody>
          <a:bodyPr wrap="square" rtlCol="0" anchor="ctr"/>
          <a:lstStyle/>
          <a:p>
            <a:pPr marL="0" indent="0" algn="ctr">
              <a:buNone/>
            </a:pPr>
            <a:r>
              <a:rPr lang="en-US" sz="800" b="1" dirty="0">
                <a:solidFill>
                  <a:srgbClr val="B7551A"/>
                </a:solidFill>
              </a:rPr>
              <a:t>Behavioral</a:t>
            </a:r>
            <a:endParaRPr lang="en-US" sz="800" dirty="0"/>
          </a:p>
        </p:txBody>
      </p:sp>
      <p:sp>
        <p:nvSpPr>
          <p:cNvPr id="33" name="Text 31"/>
          <p:cNvSpPr/>
          <p:nvPr/>
        </p:nvSpPr>
        <p:spPr>
          <a:xfrm>
            <a:off x="3401568" y="2825496"/>
            <a:ext cx="1783080" cy="274320"/>
          </a:xfrm>
          <a:prstGeom prst="rect">
            <a:avLst/>
          </a:prstGeom>
          <a:noFill/>
          <a:ln/>
        </p:spPr>
        <p:txBody>
          <a:bodyPr wrap="square" rtlCol="0" anchor="ctr"/>
          <a:lstStyle/>
          <a:p>
            <a:pPr marL="0" indent="0">
              <a:buNone/>
            </a:pPr>
            <a:r>
              <a:rPr lang="en-US" sz="1200" b="1" dirty="0">
                <a:solidFill>
                  <a:srgbClr val="0D1B2A"/>
                </a:solidFill>
              </a:rPr>
              <a:t>Discount Sensitivity</a:t>
            </a:r>
            <a:endParaRPr lang="en-US" sz="1200" dirty="0"/>
          </a:p>
        </p:txBody>
      </p:sp>
      <p:sp>
        <p:nvSpPr>
          <p:cNvPr id="34" name="Text 32"/>
          <p:cNvSpPr/>
          <p:nvPr/>
        </p:nvSpPr>
        <p:spPr>
          <a:xfrm>
            <a:off x="3401568" y="3136392"/>
            <a:ext cx="2423160" cy="804672"/>
          </a:xfrm>
          <a:prstGeom prst="rect">
            <a:avLst/>
          </a:prstGeom>
          <a:noFill/>
          <a:ln/>
        </p:spPr>
        <p:txBody>
          <a:bodyPr wrap="square" rtlCol="0" anchor="ctr"/>
          <a:lstStyle/>
          <a:p>
            <a:pPr marL="0" indent="0">
              <a:buNone/>
            </a:pPr>
            <a:r>
              <a:rPr lang="en-US" sz="1000" dirty="0">
                <a:solidFill>
                  <a:srgbClr val="4A5568"/>
                </a:solidFill>
              </a:rPr>
              <a:t>Correlation between discount level and purchase amount increase per customer.</a:t>
            </a:r>
            <a:endParaRPr lang="en-US" sz="1000" dirty="0"/>
          </a:p>
        </p:txBody>
      </p:sp>
      <p:sp>
        <p:nvSpPr>
          <p:cNvPr id="35" name="Shape 33"/>
          <p:cNvSpPr/>
          <p:nvPr/>
        </p:nvSpPr>
        <p:spPr>
          <a:xfrm>
            <a:off x="6126480" y="2715768"/>
            <a:ext cx="2651760" cy="1298448"/>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36" name="Shape 34"/>
          <p:cNvSpPr/>
          <p:nvPr/>
        </p:nvSpPr>
        <p:spPr>
          <a:xfrm>
            <a:off x="6126480" y="2715768"/>
            <a:ext cx="2651760" cy="54864"/>
          </a:xfrm>
          <a:prstGeom prst="rect">
            <a:avLst/>
          </a:prstGeom>
          <a:solidFill>
            <a:srgbClr val="B7551A"/>
          </a:solidFill>
          <a:ln w="12700">
            <a:solidFill>
              <a:srgbClr val="B7551A"/>
            </a:solidFill>
            <a:prstDash val="solid"/>
          </a:ln>
        </p:spPr>
      </p:sp>
      <p:sp>
        <p:nvSpPr>
          <p:cNvPr id="37" name="Shape 35"/>
          <p:cNvSpPr/>
          <p:nvPr/>
        </p:nvSpPr>
        <p:spPr>
          <a:xfrm>
            <a:off x="8046720" y="2825496"/>
            <a:ext cx="621792" cy="201168"/>
          </a:xfrm>
          <a:prstGeom prst="rect">
            <a:avLst/>
          </a:prstGeom>
          <a:solidFill>
            <a:srgbClr val="E6F7F5"/>
          </a:solidFill>
          <a:ln w="6350">
            <a:solidFill>
              <a:srgbClr val="00A896"/>
            </a:solidFill>
            <a:prstDash val="solid"/>
          </a:ln>
        </p:spPr>
      </p:sp>
      <p:sp>
        <p:nvSpPr>
          <p:cNvPr id="38" name="Text 36"/>
          <p:cNvSpPr/>
          <p:nvPr/>
        </p:nvSpPr>
        <p:spPr>
          <a:xfrm>
            <a:off x="8046720" y="2825496"/>
            <a:ext cx="621792" cy="201168"/>
          </a:xfrm>
          <a:prstGeom prst="rect">
            <a:avLst/>
          </a:prstGeom>
          <a:noFill/>
          <a:ln/>
        </p:spPr>
        <p:txBody>
          <a:bodyPr wrap="square" rtlCol="0" anchor="ctr"/>
          <a:lstStyle/>
          <a:p>
            <a:pPr marL="0" indent="0" algn="ctr">
              <a:buNone/>
            </a:pPr>
            <a:r>
              <a:rPr lang="en-US" sz="800" b="1" dirty="0">
                <a:solidFill>
                  <a:srgbClr val="B7551A"/>
                </a:solidFill>
              </a:rPr>
              <a:t>Behavioral</a:t>
            </a:r>
            <a:endParaRPr lang="en-US" sz="800" dirty="0"/>
          </a:p>
        </p:txBody>
      </p:sp>
      <p:sp>
        <p:nvSpPr>
          <p:cNvPr id="39" name="Text 37"/>
          <p:cNvSpPr/>
          <p:nvPr/>
        </p:nvSpPr>
        <p:spPr>
          <a:xfrm>
            <a:off x="6236208" y="2825496"/>
            <a:ext cx="1783080" cy="274320"/>
          </a:xfrm>
          <a:prstGeom prst="rect">
            <a:avLst/>
          </a:prstGeom>
          <a:noFill/>
          <a:ln/>
        </p:spPr>
        <p:txBody>
          <a:bodyPr wrap="square" rtlCol="0" anchor="ctr"/>
          <a:lstStyle/>
          <a:p>
            <a:pPr marL="0" indent="0">
              <a:buNone/>
            </a:pPr>
            <a:r>
              <a:rPr lang="en-US" sz="1200" b="1" dirty="0">
                <a:solidFill>
                  <a:srgbClr val="0D1B2A"/>
                </a:solidFill>
              </a:rPr>
              <a:t>Shipping Cost Ratio</a:t>
            </a:r>
            <a:endParaRPr lang="en-US" sz="1200" dirty="0"/>
          </a:p>
        </p:txBody>
      </p:sp>
      <p:sp>
        <p:nvSpPr>
          <p:cNvPr id="40" name="Text 38"/>
          <p:cNvSpPr/>
          <p:nvPr/>
        </p:nvSpPr>
        <p:spPr>
          <a:xfrm>
            <a:off x="6236208" y="3136392"/>
            <a:ext cx="2423160" cy="804672"/>
          </a:xfrm>
          <a:prstGeom prst="rect">
            <a:avLst/>
          </a:prstGeom>
          <a:noFill/>
          <a:ln/>
        </p:spPr>
        <p:txBody>
          <a:bodyPr wrap="square" rtlCol="0" anchor="ctr"/>
          <a:lstStyle/>
          <a:p>
            <a:pPr marL="0" indent="0">
              <a:buNone/>
            </a:pPr>
            <a:r>
              <a:rPr lang="en-US" sz="1000" dirty="0">
                <a:solidFill>
                  <a:srgbClr val="4A5568"/>
                </a:solidFill>
              </a:rPr>
              <a:t>Shipping cost as % of order total — predicts free-shipping preference.</a:t>
            </a:r>
            <a:endParaRPr lang="en-US" sz="1000" dirty="0"/>
          </a:p>
        </p:txBody>
      </p:sp>
      <p:sp>
        <p:nvSpPr>
          <p:cNvPr id="41" name="Shape 39"/>
          <p:cNvSpPr/>
          <p:nvPr/>
        </p:nvSpPr>
        <p:spPr>
          <a:xfrm>
            <a:off x="457200" y="4462272"/>
            <a:ext cx="8229600" cy="475488"/>
          </a:xfrm>
          <a:prstGeom prst="rect">
            <a:avLst/>
          </a:prstGeom>
          <a:solidFill>
            <a:srgbClr val="E0F4F1"/>
          </a:solidFill>
          <a:ln w="12700">
            <a:solidFill>
              <a:srgbClr val="00A896"/>
            </a:solidFill>
            <a:prstDash val="solid"/>
          </a:ln>
        </p:spPr>
      </p:sp>
      <p:sp>
        <p:nvSpPr>
          <p:cNvPr id="42" name="Text 40"/>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RFM features (Frequency, Recency, Monetary) are derived directly from the full transaction dataset — all three would be impossible to compute accurately if duplicates were removed.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02920"/>
          </a:xfrm>
          <a:prstGeom prst="rect">
            <a:avLst/>
          </a:prstGeom>
          <a:noFill/>
          <a:ln/>
        </p:spPr>
        <p:txBody>
          <a:bodyPr wrap="square" rtlCol="0" anchor="ctr"/>
          <a:lstStyle/>
          <a:p>
            <a:pPr marL="0" indent="0">
              <a:buNone/>
            </a:pPr>
            <a:r>
              <a:rPr lang="en-US" sz="3000" b="1" dirty="0">
                <a:solidFill>
                  <a:srgbClr val="FFFFFF"/>
                </a:solidFill>
              </a:rPr>
              <a:t>Machine Learning Models</a:t>
            </a:r>
            <a:endParaRPr lang="en-US" sz="3000" dirty="0"/>
          </a:p>
        </p:txBody>
      </p:sp>
      <p:sp>
        <p:nvSpPr>
          <p:cNvPr id="3" name="Text 1"/>
          <p:cNvSpPr/>
          <p:nvPr/>
        </p:nvSpPr>
        <p:spPr>
          <a:xfrm>
            <a:off x="457200" y="822960"/>
            <a:ext cx="8229600" cy="320040"/>
          </a:xfrm>
          <a:prstGeom prst="rect">
            <a:avLst/>
          </a:prstGeom>
          <a:noFill/>
          <a:ln/>
        </p:spPr>
        <p:txBody>
          <a:bodyPr wrap="square" rtlCol="0" anchor="ctr"/>
          <a:lstStyle/>
          <a:p>
            <a:pPr marL="0" indent="0">
              <a:buNone/>
            </a:pPr>
            <a:r>
              <a:rPr lang="en-US" sz="1300" i="1" dirty="0">
                <a:solidFill>
                  <a:srgbClr val="A0AEC0"/>
                </a:solidFill>
              </a:rPr>
              <a:t>Four predictive tasks — one comprehensive analytics framework</a:t>
            </a:r>
            <a:endParaRPr lang="en-US" sz="1300" dirty="0"/>
          </a:p>
        </p:txBody>
      </p:sp>
      <p:sp>
        <p:nvSpPr>
          <p:cNvPr id="4" name="Shape 2"/>
          <p:cNvSpPr/>
          <p:nvPr/>
        </p:nvSpPr>
        <p:spPr>
          <a:xfrm>
            <a:off x="411480" y="1325880"/>
            <a:ext cx="1993392" cy="3291840"/>
          </a:xfrm>
          <a:prstGeom prst="rect">
            <a:avLst/>
          </a:prstGeom>
          <a:solidFill>
            <a:srgbClr val="132233"/>
          </a:solidFill>
          <a:ln w="19050">
            <a:solidFill>
              <a:srgbClr val="00A896"/>
            </a:solidFill>
            <a:prstDash val="solid"/>
          </a:ln>
          <a:effectLst>
            <a:outerShdw blurRad="101600" dist="38100" dir="8100000" algn="bl" rotWithShape="0">
              <a:srgbClr val="000000">
                <a:alpha val="16000"/>
              </a:srgbClr>
            </a:outerShdw>
          </a:effectLst>
        </p:spPr>
      </p:sp>
      <p:sp>
        <p:nvSpPr>
          <p:cNvPr id="5" name="Shape 3"/>
          <p:cNvSpPr/>
          <p:nvPr/>
        </p:nvSpPr>
        <p:spPr>
          <a:xfrm>
            <a:off x="411480" y="1325880"/>
            <a:ext cx="1993392" cy="64008"/>
          </a:xfrm>
          <a:prstGeom prst="rect">
            <a:avLst/>
          </a:prstGeom>
          <a:solidFill>
            <a:srgbClr val="00A896"/>
          </a:solidFill>
          <a:ln w="12700">
            <a:solidFill>
              <a:srgbClr val="00A896"/>
            </a:solidFill>
            <a:prstDash val="solid"/>
          </a:ln>
        </p:spPr>
      </p:sp>
      <p:sp>
        <p:nvSpPr>
          <p:cNvPr id="6" name="Text 4"/>
          <p:cNvSpPr/>
          <p:nvPr/>
        </p:nvSpPr>
        <p:spPr>
          <a:xfrm>
            <a:off x="411480" y="1463040"/>
            <a:ext cx="1993392"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502920" y="2011680"/>
            <a:ext cx="1810512" cy="548640"/>
          </a:xfrm>
          <a:prstGeom prst="rect">
            <a:avLst/>
          </a:prstGeom>
          <a:noFill/>
          <a:ln/>
        </p:spPr>
        <p:txBody>
          <a:bodyPr wrap="square" rtlCol="0" anchor="ctr"/>
          <a:lstStyle/>
          <a:p>
            <a:pPr marL="0" indent="0" algn="ctr">
              <a:buNone/>
            </a:pPr>
            <a:r>
              <a:rPr lang="en-US" sz="1400" b="1" dirty="0">
                <a:solidFill>
                  <a:srgbClr val="00A896"/>
                </a:solidFill>
              </a:rPr>
              <a:t>Sales</a:t>
            </a:r>
            <a:endParaRPr lang="en-US" sz="1400" dirty="0"/>
          </a:p>
          <a:p>
            <a:pPr marL="0" indent="0" algn="ctr">
              <a:buNone/>
            </a:pPr>
            <a:r>
              <a:rPr lang="en-US" sz="1400" b="1" dirty="0">
                <a:solidFill>
                  <a:srgbClr val="00A896"/>
                </a:solidFill>
              </a:rPr>
              <a:t>Forecasting</a:t>
            </a:r>
            <a:endParaRPr lang="en-US" sz="1400" dirty="0"/>
          </a:p>
        </p:txBody>
      </p:sp>
      <p:sp>
        <p:nvSpPr>
          <p:cNvPr id="8" name="Text 6"/>
          <p:cNvSpPr/>
          <p:nvPr/>
        </p:nvSpPr>
        <p:spPr>
          <a:xfrm>
            <a:off x="521208" y="2633472"/>
            <a:ext cx="1773936" cy="228600"/>
          </a:xfrm>
          <a:prstGeom prst="rect">
            <a:avLst/>
          </a:prstGeom>
          <a:noFill/>
          <a:ln/>
        </p:spPr>
        <p:txBody>
          <a:bodyPr wrap="square" rtlCol="0" anchor="ctr"/>
          <a:lstStyle/>
          <a:p>
            <a:pPr marL="0" indent="0">
              <a:buNone/>
            </a:pPr>
            <a:r>
              <a:rPr lang="en-US" sz="1000" b="1" dirty="0">
                <a:solidFill>
                  <a:srgbClr val="A0AEC0"/>
                </a:solidFill>
              </a:rPr>
              <a:t>Algorithm:</a:t>
            </a:r>
            <a:endParaRPr lang="en-US" sz="1000" dirty="0"/>
          </a:p>
        </p:txBody>
      </p:sp>
      <p:sp>
        <p:nvSpPr>
          <p:cNvPr id="9" name="Text 7"/>
          <p:cNvSpPr/>
          <p:nvPr/>
        </p:nvSpPr>
        <p:spPr>
          <a:xfrm>
            <a:off x="521208" y="2862072"/>
            <a:ext cx="1773936" cy="320040"/>
          </a:xfrm>
          <a:prstGeom prst="rect">
            <a:avLst/>
          </a:prstGeom>
          <a:noFill/>
          <a:ln/>
        </p:spPr>
        <p:txBody>
          <a:bodyPr wrap="square" rtlCol="0" anchor="ctr"/>
          <a:lstStyle/>
          <a:p>
            <a:pPr marL="0" indent="0">
              <a:buNone/>
            </a:pPr>
            <a:r>
              <a:rPr lang="en-US" sz="1050" i="1" dirty="0">
                <a:solidFill>
                  <a:srgbClr val="FFFFFF"/>
                </a:solidFill>
              </a:rPr>
              <a:t>XGBoost Regressor</a:t>
            </a:r>
            <a:endParaRPr lang="en-US" sz="1050" dirty="0"/>
          </a:p>
        </p:txBody>
      </p:sp>
      <p:sp>
        <p:nvSpPr>
          <p:cNvPr id="10" name="Text 8"/>
          <p:cNvSpPr/>
          <p:nvPr/>
        </p:nvSpPr>
        <p:spPr>
          <a:xfrm>
            <a:off x="521208" y="3246120"/>
            <a:ext cx="1773936" cy="228600"/>
          </a:xfrm>
          <a:prstGeom prst="rect">
            <a:avLst/>
          </a:prstGeom>
          <a:noFill/>
          <a:ln/>
        </p:spPr>
        <p:txBody>
          <a:bodyPr wrap="square" rtlCol="0" anchor="ctr"/>
          <a:lstStyle/>
          <a:p>
            <a:pPr marL="0" indent="0">
              <a:buNone/>
            </a:pPr>
            <a:r>
              <a:rPr lang="en-US" sz="1000" b="1" dirty="0">
                <a:solidFill>
                  <a:srgbClr val="A0AEC0"/>
                </a:solidFill>
              </a:rPr>
              <a:t>Target:</a:t>
            </a:r>
            <a:endParaRPr lang="en-US" sz="1000" dirty="0"/>
          </a:p>
        </p:txBody>
      </p:sp>
      <p:sp>
        <p:nvSpPr>
          <p:cNvPr id="11" name="Text 9"/>
          <p:cNvSpPr/>
          <p:nvPr/>
        </p:nvSpPr>
        <p:spPr>
          <a:xfrm>
            <a:off x="521208" y="3474720"/>
            <a:ext cx="1773936" cy="320040"/>
          </a:xfrm>
          <a:prstGeom prst="rect">
            <a:avLst/>
          </a:prstGeom>
          <a:noFill/>
          <a:ln/>
        </p:spPr>
        <p:txBody>
          <a:bodyPr wrap="square" rtlCol="0" anchor="ctr"/>
          <a:lstStyle/>
          <a:p>
            <a:pPr marL="0" indent="0">
              <a:buNone/>
            </a:pPr>
            <a:r>
              <a:rPr lang="en-US" sz="1050" dirty="0">
                <a:solidFill>
                  <a:srgbClr val="FFFFFF"/>
                </a:solidFill>
              </a:rPr>
              <a:t>Predict monthly revenue</a:t>
            </a:r>
            <a:endParaRPr lang="en-US" sz="1050" dirty="0"/>
          </a:p>
        </p:txBody>
      </p:sp>
      <p:sp>
        <p:nvSpPr>
          <p:cNvPr id="12" name="Shape 10"/>
          <p:cNvSpPr/>
          <p:nvPr/>
        </p:nvSpPr>
        <p:spPr>
          <a:xfrm>
            <a:off x="2514600" y="1325880"/>
            <a:ext cx="1993392" cy="3291840"/>
          </a:xfrm>
          <a:prstGeom prst="rect">
            <a:avLst/>
          </a:prstGeom>
          <a:solidFill>
            <a:srgbClr val="132233"/>
          </a:solidFill>
          <a:ln w="19050">
            <a:solidFill>
              <a:srgbClr val="F6C90E"/>
            </a:solidFill>
            <a:prstDash val="solid"/>
          </a:ln>
          <a:effectLst>
            <a:outerShdw blurRad="101600" dist="38100" dir="8100000" algn="bl" rotWithShape="0">
              <a:srgbClr val="000000">
                <a:alpha val="16000"/>
              </a:srgbClr>
            </a:outerShdw>
          </a:effectLst>
        </p:spPr>
      </p:sp>
      <p:sp>
        <p:nvSpPr>
          <p:cNvPr id="13" name="Shape 11"/>
          <p:cNvSpPr/>
          <p:nvPr/>
        </p:nvSpPr>
        <p:spPr>
          <a:xfrm>
            <a:off x="2514600" y="1325880"/>
            <a:ext cx="1993392" cy="64008"/>
          </a:xfrm>
          <a:prstGeom prst="rect">
            <a:avLst/>
          </a:prstGeom>
          <a:solidFill>
            <a:srgbClr val="F6C90E"/>
          </a:solidFill>
          <a:ln w="12700">
            <a:solidFill>
              <a:srgbClr val="F6C90E"/>
            </a:solidFill>
            <a:prstDash val="solid"/>
          </a:ln>
        </p:spPr>
      </p:sp>
      <p:sp>
        <p:nvSpPr>
          <p:cNvPr id="14" name="Text 12"/>
          <p:cNvSpPr/>
          <p:nvPr/>
        </p:nvSpPr>
        <p:spPr>
          <a:xfrm>
            <a:off x="2514600" y="1463040"/>
            <a:ext cx="1993392"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2606040" y="2011680"/>
            <a:ext cx="1810512" cy="548640"/>
          </a:xfrm>
          <a:prstGeom prst="rect">
            <a:avLst/>
          </a:prstGeom>
          <a:noFill/>
          <a:ln/>
        </p:spPr>
        <p:txBody>
          <a:bodyPr wrap="square" rtlCol="0" anchor="ctr"/>
          <a:lstStyle/>
          <a:p>
            <a:pPr marL="0" indent="0" algn="ctr">
              <a:buNone/>
            </a:pPr>
            <a:r>
              <a:rPr lang="en-US" sz="1400" b="1" dirty="0">
                <a:solidFill>
                  <a:srgbClr val="F6C90E"/>
                </a:solidFill>
              </a:rPr>
              <a:t>Customer</a:t>
            </a:r>
            <a:endParaRPr lang="en-US" sz="1400" dirty="0"/>
          </a:p>
          <a:p>
            <a:pPr marL="0" indent="0" algn="ctr">
              <a:buNone/>
            </a:pPr>
            <a:r>
              <a:rPr lang="en-US" sz="1400" b="1" dirty="0">
                <a:solidFill>
                  <a:srgbClr val="F6C90E"/>
                </a:solidFill>
              </a:rPr>
              <a:t>Segmentation</a:t>
            </a:r>
            <a:endParaRPr lang="en-US" sz="1400" dirty="0"/>
          </a:p>
        </p:txBody>
      </p:sp>
      <p:sp>
        <p:nvSpPr>
          <p:cNvPr id="16" name="Text 14"/>
          <p:cNvSpPr/>
          <p:nvPr/>
        </p:nvSpPr>
        <p:spPr>
          <a:xfrm>
            <a:off x="2624328" y="2633472"/>
            <a:ext cx="1773936" cy="228600"/>
          </a:xfrm>
          <a:prstGeom prst="rect">
            <a:avLst/>
          </a:prstGeom>
          <a:noFill/>
          <a:ln/>
        </p:spPr>
        <p:txBody>
          <a:bodyPr wrap="square" rtlCol="0" anchor="ctr"/>
          <a:lstStyle/>
          <a:p>
            <a:pPr marL="0" indent="0">
              <a:buNone/>
            </a:pPr>
            <a:r>
              <a:rPr lang="en-US" sz="1000" b="1" dirty="0">
                <a:solidFill>
                  <a:srgbClr val="A0AEC0"/>
                </a:solidFill>
              </a:rPr>
              <a:t>Algorithm:</a:t>
            </a:r>
            <a:endParaRPr lang="en-US" sz="1000" dirty="0"/>
          </a:p>
        </p:txBody>
      </p:sp>
      <p:sp>
        <p:nvSpPr>
          <p:cNvPr id="17" name="Text 15"/>
          <p:cNvSpPr/>
          <p:nvPr/>
        </p:nvSpPr>
        <p:spPr>
          <a:xfrm>
            <a:off x="2624328" y="2862072"/>
            <a:ext cx="1773936" cy="320040"/>
          </a:xfrm>
          <a:prstGeom prst="rect">
            <a:avLst/>
          </a:prstGeom>
          <a:noFill/>
          <a:ln/>
        </p:spPr>
        <p:txBody>
          <a:bodyPr wrap="square" rtlCol="0" anchor="ctr"/>
          <a:lstStyle/>
          <a:p>
            <a:pPr marL="0" indent="0">
              <a:buNone/>
            </a:pPr>
            <a:r>
              <a:rPr lang="en-US" sz="1050" i="1" dirty="0">
                <a:solidFill>
                  <a:srgbClr val="FFFFFF"/>
                </a:solidFill>
              </a:rPr>
              <a:t>K-Means (k=4)</a:t>
            </a:r>
            <a:endParaRPr lang="en-US" sz="1050" dirty="0"/>
          </a:p>
        </p:txBody>
      </p:sp>
      <p:sp>
        <p:nvSpPr>
          <p:cNvPr id="18" name="Text 16"/>
          <p:cNvSpPr/>
          <p:nvPr/>
        </p:nvSpPr>
        <p:spPr>
          <a:xfrm>
            <a:off x="2624328" y="3246120"/>
            <a:ext cx="1773936" cy="228600"/>
          </a:xfrm>
          <a:prstGeom prst="rect">
            <a:avLst/>
          </a:prstGeom>
          <a:noFill/>
          <a:ln/>
        </p:spPr>
        <p:txBody>
          <a:bodyPr wrap="square" rtlCol="0" anchor="ctr"/>
          <a:lstStyle/>
          <a:p>
            <a:pPr marL="0" indent="0">
              <a:buNone/>
            </a:pPr>
            <a:r>
              <a:rPr lang="en-US" sz="1000" b="1" dirty="0">
                <a:solidFill>
                  <a:srgbClr val="A0AEC0"/>
                </a:solidFill>
              </a:rPr>
              <a:t>Target:</a:t>
            </a:r>
            <a:endParaRPr lang="en-US" sz="1000" dirty="0"/>
          </a:p>
        </p:txBody>
      </p:sp>
      <p:sp>
        <p:nvSpPr>
          <p:cNvPr id="19" name="Text 17"/>
          <p:cNvSpPr/>
          <p:nvPr/>
        </p:nvSpPr>
        <p:spPr>
          <a:xfrm>
            <a:off x="2624328" y="3474720"/>
            <a:ext cx="1773936" cy="320040"/>
          </a:xfrm>
          <a:prstGeom prst="rect">
            <a:avLst/>
          </a:prstGeom>
          <a:noFill/>
          <a:ln/>
        </p:spPr>
        <p:txBody>
          <a:bodyPr wrap="square" rtlCol="0" anchor="ctr"/>
          <a:lstStyle/>
          <a:p>
            <a:pPr marL="0" indent="0">
              <a:buNone/>
            </a:pPr>
            <a:r>
              <a:rPr lang="en-US" sz="1050" dirty="0">
                <a:solidFill>
                  <a:srgbClr val="FFFFFF"/>
                </a:solidFill>
              </a:rPr>
              <a:t>Group customers by RFM</a:t>
            </a:r>
            <a:endParaRPr lang="en-US" sz="1050" dirty="0"/>
          </a:p>
        </p:txBody>
      </p:sp>
      <p:sp>
        <p:nvSpPr>
          <p:cNvPr id="20" name="Shape 18"/>
          <p:cNvSpPr/>
          <p:nvPr/>
        </p:nvSpPr>
        <p:spPr>
          <a:xfrm>
            <a:off x="4617720" y="1325880"/>
            <a:ext cx="1993392" cy="3291840"/>
          </a:xfrm>
          <a:prstGeom prst="rect">
            <a:avLst/>
          </a:prstGeom>
          <a:solidFill>
            <a:srgbClr val="132233"/>
          </a:solidFill>
          <a:ln w="19050">
            <a:solidFill>
              <a:srgbClr val="02C39A"/>
            </a:solidFill>
            <a:prstDash val="solid"/>
          </a:ln>
          <a:effectLst>
            <a:outerShdw blurRad="101600" dist="38100" dir="8100000" algn="bl" rotWithShape="0">
              <a:srgbClr val="000000">
                <a:alpha val="16000"/>
              </a:srgbClr>
            </a:outerShdw>
          </a:effectLst>
        </p:spPr>
      </p:sp>
      <p:sp>
        <p:nvSpPr>
          <p:cNvPr id="21" name="Shape 19"/>
          <p:cNvSpPr/>
          <p:nvPr/>
        </p:nvSpPr>
        <p:spPr>
          <a:xfrm>
            <a:off x="4617720" y="1325880"/>
            <a:ext cx="1993392" cy="64008"/>
          </a:xfrm>
          <a:prstGeom prst="rect">
            <a:avLst/>
          </a:prstGeom>
          <a:solidFill>
            <a:srgbClr val="02C39A"/>
          </a:solidFill>
          <a:ln w="12700">
            <a:solidFill>
              <a:srgbClr val="02C39A"/>
            </a:solidFill>
            <a:prstDash val="solid"/>
          </a:ln>
        </p:spPr>
      </p:sp>
      <p:sp>
        <p:nvSpPr>
          <p:cNvPr id="22" name="Text 20"/>
          <p:cNvSpPr/>
          <p:nvPr/>
        </p:nvSpPr>
        <p:spPr>
          <a:xfrm>
            <a:off x="4617720" y="1463040"/>
            <a:ext cx="1993392"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3" name="Text 21"/>
          <p:cNvSpPr/>
          <p:nvPr/>
        </p:nvSpPr>
        <p:spPr>
          <a:xfrm>
            <a:off x="4709160" y="2011680"/>
            <a:ext cx="1810512" cy="548640"/>
          </a:xfrm>
          <a:prstGeom prst="rect">
            <a:avLst/>
          </a:prstGeom>
          <a:noFill/>
          <a:ln/>
        </p:spPr>
        <p:txBody>
          <a:bodyPr wrap="square" rtlCol="0" anchor="ctr"/>
          <a:lstStyle/>
          <a:p>
            <a:pPr marL="0" indent="0" algn="ctr">
              <a:buNone/>
            </a:pPr>
            <a:r>
              <a:rPr lang="en-US" sz="1400" b="1" dirty="0">
                <a:solidFill>
                  <a:srgbClr val="02C39A"/>
                </a:solidFill>
              </a:rPr>
              <a:t>Purchase</a:t>
            </a:r>
            <a:endParaRPr lang="en-US" sz="1400" dirty="0"/>
          </a:p>
          <a:p>
            <a:pPr marL="0" indent="0" algn="ctr">
              <a:buNone/>
            </a:pPr>
            <a:r>
              <a:rPr lang="en-US" sz="1400" b="1" dirty="0">
                <a:solidFill>
                  <a:srgbClr val="02C39A"/>
                </a:solidFill>
              </a:rPr>
              <a:t>Prediction</a:t>
            </a:r>
            <a:endParaRPr lang="en-US" sz="1400" dirty="0"/>
          </a:p>
        </p:txBody>
      </p:sp>
      <p:sp>
        <p:nvSpPr>
          <p:cNvPr id="24" name="Text 22"/>
          <p:cNvSpPr/>
          <p:nvPr/>
        </p:nvSpPr>
        <p:spPr>
          <a:xfrm>
            <a:off x="4727448" y="2633472"/>
            <a:ext cx="1773936" cy="228600"/>
          </a:xfrm>
          <a:prstGeom prst="rect">
            <a:avLst/>
          </a:prstGeom>
          <a:noFill/>
          <a:ln/>
        </p:spPr>
        <p:txBody>
          <a:bodyPr wrap="square" rtlCol="0" anchor="ctr"/>
          <a:lstStyle/>
          <a:p>
            <a:pPr marL="0" indent="0">
              <a:buNone/>
            </a:pPr>
            <a:r>
              <a:rPr lang="en-US" sz="1000" b="1" dirty="0">
                <a:solidFill>
                  <a:srgbClr val="A0AEC0"/>
                </a:solidFill>
              </a:rPr>
              <a:t>Algorithm:</a:t>
            </a:r>
            <a:endParaRPr lang="en-US" sz="1000" dirty="0"/>
          </a:p>
        </p:txBody>
      </p:sp>
      <p:sp>
        <p:nvSpPr>
          <p:cNvPr id="25" name="Text 23"/>
          <p:cNvSpPr/>
          <p:nvPr/>
        </p:nvSpPr>
        <p:spPr>
          <a:xfrm>
            <a:off x="4727448" y="2862072"/>
            <a:ext cx="1773936" cy="320040"/>
          </a:xfrm>
          <a:prstGeom prst="rect">
            <a:avLst/>
          </a:prstGeom>
          <a:noFill/>
          <a:ln/>
        </p:spPr>
        <p:txBody>
          <a:bodyPr wrap="square" rtlCol="0" anchor="ctr"/>
          <a:lstStyle/>
          <a:p>
            <a:pPr marL="0" indent="0">
              <a:buNone/>
            </a:pPr>
            <a:r>
              <a:rPr lang="en-US" sz="1050" i="1" dirty="0">
                <a:solidFill>
                  <a:srgbClr val="FFFFFF"/>
                </a:solidFill>
              </a:rPr>
              <a:t>Random Forest Classifier</a:t>
            </a:r>
            <a:endParaRPr lang="en-US" sz="1050" dirty="0"/>
          </a:p>
        </p:txBody>
      </p:sp>
      <p:sp>
        <p:nvSpPr>
          <p:cNvPr id="26" name="Text 24"/>
          <p:cNvSpPr/>
          <p:nvPr/>
        </p:nvSpPr>
        <p:spPr>
          <a:xfrm>
            <a:off x="4727448" y="3246120"/>
            <a:ext cx="1773936" cy="228600"/>
          </a:xfrm>
          <a:prstGeom prst="rect">
            <a:avLst/>
          </a:prstGeom>
          <a:noFill/>
          <a:ln/>
        </p:spPr>
        <p:txBody>
          <a:bodyPr wrap="square" rtlCol="0" anchor="ctr"/>
          <a:lstStyle/>
          <a:p>
            <a:pPr marL="0" indent="0">
              <a:buNone/>
            </a:pPr>
            <a:r>
              <a:rPr lang="en-US" sz="1000" b="1" dirty="0">
                <a:solidFill>
                  <a:srgbClr val="A0AEC0"/>
                </a:solidFill>
              </a:rPr>
              <a:t>Target:</a:t>
            </a:r>
            <a:endParaRPr lang="en-US" sz="1000" dirty="0"/>
          </a:p>
        </p:txBody>
      </p:sp>
      <p:sp>
        <p:nvSpPr>
          <p:cNvPr id="27" name="Text 25"/>
          <p:cNvSpPr/>
          <p:nvPr/>
        </p:nvSpPr>
        <p:spPr>
          <a:xfrm>
            <a:off x="4727448" y="3474720"/>
            <a:ext cx="1773936" cy="320040"/>
          </a:xfrm>
          <a:prstGeom prst="rect">
            <a:avLst/>
          </a:prstGeom>
          <a:noFill/>
          <a:ln/>
        </p:spPr>
        <p:txBody>
          <a:bodyPr wrap="square" rtlCol="0" anchor="ctr"/>
          <a:lstStyle/>
          <a:p>
            <a:pPr marL="0" indent="0">
              <a:buNone/>
            </a:pPr>
            <a:r>
              <a:rPr lang="en-US" sz="1050" dirty="0">
                <a:solidFill>
                  <a:srgbClr val="FFFFFF"/>
                </a:solidFill>
              </a:rPr>
              <a:t>Predict next purchase</a:t>
            </a:r>
            <a:endParaRPr lang="en-US" sz="1050" dirty="0"/>
          </a:p>
        </p:txBody>
      </p:sp>
      <p:sp>
        <p:nvSpPr>
          <p:cNvPr id="28" name="Shape 26"/>
          <p:cNvSpPr/>
          <p:nvPr/>
        </p:nvSpPr>
        <p:spPr>
          <a:xfrm>
            <a:off x="6720840" y="1325880"/>
            <a:ext cx="1993392" cy="3291840"/>
          </a:xfrm>
          <a:prstGeom prst="rect">
            <a:avLst/>
          </a:prstGeom>
          <a:solidFill>
            <a:srgbClr val="132233"/>
          </a:solidFill>
          <a:ln w="19050">
            <a:solidFill>
              <a:srgbClr val="B7551A"/>
            </a:solidFill>
            <a:prstDash val="solid"/>
          </a:ln>
          <a:effectLst>
            <a:outerShdw blurRad="101600" dist="38100" dir="8100000" algn="bl" rotWithShape="0">
              <a:srgbClr val="000000">
                <a:alpha val="16000"/>
              </a:srgbClr>
            </a:outerShdw>
          </a:effectLst>
        </p:spPr>
      </p:sp>
      <p:sp>
        <p:nvSpPr>
          <p:cNvPr id="29" name="Shape 27"/>
          <p:cNvSpPr/>
          <p:nvPr/>
        </p:nvSpPr>
        <p:spPr>
          <a:xfrm>
            <a:off x="6720840" y="1325880"/>
            <a:ext cx="1993392" cy="64008"/>
          </a:xfrm>
          <a:prstGeom prst="rect">
            <a:avLst/>
          </a:prstGeom>
          <a:solidFill>
            <a:srgbClr val="B7551A"/>
          </a:solidFill>
          <a:ln w="12700">
            <a:solidFill>
              <a:srgbClr val="B7551A"/>
            </a:solidFill>
            <a:prstDash val="solid"/>
          </a:ln>
        </p:spPr>
      </p:sp>
      <p:sp>
        <p:nvSpPr>
          <p:cNvPr id="30" name="Text 28"/>
          <p:cNvSpPr/>
          <p:nvPr/>
        </p:nvSpPr>
        <p:spPr>
          <a:xfrm>
            <a:off x="6720840" y="1463040"/>
            <a:ext cx="1993392"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1" name="Text 29"/>
          <p:cNvSpPr/>
          <p:nvPr/>
        </p:nvSpPr>
        <p:spPr>
          <a:xfrm>
            <a:off x="6812280" y="2011680"/>
            <a:ext cx="1810512" cy="548640"/>
          </a:xfrm>
          <a:prstGeom prst="rect">
            <a:avLst/>
          </a:prstGeom>
          <a:noFill/>
          <a:ln/>
        </p:spPr>
        <p:txBody>
          <a:bodyPr wrap="square" rtlCol="0" anchor="ctr"/>
          <a:lstStyle/>
          <a:p>
            <a:pPr marL="0" indent="0" algn="ctr">
              <a:buNone/>
            </a:pPr>
            <a:r>
              <a:rPr lang="en-US" sz="1400" b="1" dirty="0">
                <a:solidFill>
                  <a:srgbClr val="B7551A"/>
                </a:solidFill>
              </a:rPr>
              <a:t>Churn</a:t>
            </a:r>
            <a:endParaRPr lang="en-US" sz="1400" dirty="0"/>
          </a:p>
          <a:p>
            <a:pPr marL="0" indent="0" algn="ctr">
              <a:buNone/>
            </a:pPr>
            <a:r>
              <a:rPr lang="en-US" sz="1400" b="1" dirty="0">
                <a:solidFill>
                  <a:srgbClr val="B7551A"/>
                </a:solidFill>
              </a:rPr>
              <a:t>Analysis</a:t>
            </a:r>
            <a:endParaRPr lang="en-US" sz="1400" dirty="0"/>
          </a:p>
        </p:txBody>
      </p:sp>
      <p:sp>
        <p:nvSpPr>
          <p:cNvPr id="32" name="Text 30"/>
          <p:cNvSpPr/>
          <p:nvPr/>
        </p:nvSpPr>
        <p:spPr>
          <a:xfrm>
            <a:off x="6830568" y="2633472"/>
            <a:ext cx="1773936" cy="228600"/>
          </a:xfrm>
          <a:prstGeom prst="rect">
            <a:avLst/>
          </a:prstGeom>
          <a:noFill/>
          <a:ln/>
        </p:spPr>
        <p:txBody>
          <a:bodyPr wrap="square" rtlCol="0" anchor="ctr"/>
          <a:lstStyle/>
          <a:p>
            <a:pPr marL="0" indent="0">
              <a:buNone/>
            </a:pPr>
            <a:r>
              <a:rPr lang="en-US" sz="1000" b="1" dirty="0">
                <a:solidFill>
                  <a:srgbClr val="A0AEC0"/>
                </a:solidFill>
              </a:rPr>
              <a:t>Algorithm:</a:t>
            </a:r>
            <a:endParaRPr lang="en-US" sz="1000" dirty="0"/>
          </a:p>
        </p:txBody>
      </p:sp>
      <p:sp>
        <p:nvSpPr>
          <p:cNvPr id="33" name="Text 31"/>
          <p:cNvSpPr/>
          <p:nvPr/>
        </p:nvSpPr>
        <p:spPr>
          <a:xfrm>
            <a:off x="6830568" y="2862072"/>
            <a:ext cx="1773936" cy="320040"/>
          </a:xfrm>
          <a:prstGeom prst="rect">
            <a:avLst/>
          </a:prstGeom>
          <a:noFill/>
          <a:ln/>
        </p:spPr>
        <p:txBody>
          <a:bodyPr wrap="square" rtlCol="0" anchor="ctr"/>
          <a:lstStyle/>
          <a:p>
            <a:pPr marL="0" indent="0">
              <a:buNone/>
            </a:pPr>
            <a:r>
              <a:rPr lang="en-US" sz="1050" i="1" dirty="0">
                <a:solidFill>
                  <a:srgbClr val="FFFFFF"/>
                </a:solidFill>
              </a:rPr>
              <a:t>XGBoost Classifier</a:t>
            </a:r>
            <a:endParaRPr lang="en-US" sz="1050" dirty="0"/>
          </a:p>
        </p:txBody>
      </p:sp>
      <p:sp>
        <p:nvSpPr>
          <p:cNvPr id="34" name="Text 32"/>
          <p:cNvSpPr/>
          <p:nvPr/>
        </p:nvSpPr>
        <p:spPr>
          <a:xfrm>
            <a:off x="6830568" y="3246120"/>
            <a:ext cx="1773936" cy="228600"/>
          </a:xfrm>
          <a:prstGeom prst="rect">
            <a:avLst/>
          </a:prstGeom>
          <a:noFill/>
          <a:ln/>
        </p:spPr>
        <p:txBody>
          <a:bodyPr wrap="square" rtlCol="0" anchor="ctr"/>
          <a:lstStyle/>
          <a:p>
            <a:pPr marL="0" indent="0">
              <a:buNone/>
            </a:pPr>
            <a:r>
              <a:rPr lang="en-US" sz="1000" b="1" dirty="0">
                <a:solidFill>
                  <a:srgbClr val="A0AEC0"/>
                </a:solidFill>
              </a:rPr>
              <a:t>Target:</a:t>
            </a:r>
            <a:endParaRPr lang="en-US" sz="1000" dirty="0"/>
          </a:p>
        </p:txBody>
      </p:sp>
      <p:sp>
        <p:nvSpPr>
          <p:cNvPr id="35" name="Text 33"/>
          <p:cNvSpPr/>
          <p:nvPr/>
        </p:nvSpPr>
        <p:spPr>
          <a:xfrm>
            <a:off x="6830568" y="3474720"/>
            <a:ext cx="1773936" cy="320040"/>
          </a:xfrm>
          <a:prstGeom prst="rect">
            <a:avLst/>
          </a:prstGeom>
          <a:noFill/>
          <a:ln/>
        </p:spPr>
        <p:txBody>
          <a:bodyPr wrap="square" rtlCol="0" anchor="ctr"/>
          <a:lstStyle/>
          <a:p>
            <a:pPr marL="0" indent="0">
              <a:buNone/>
            </a:pPr>
            <a:r>
              <a:rPr lang="en-US" sz="1050" dirty="0">
                <a:solidFill>
                  <a:srgbClr val="FFFFFF"/>
                </a:solidFill>
              </a:rPr>
              <a:t>Flag at-risk customers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MODEL 1</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Sales Forecasting Model – XGBoost</a:t>
            </a:r>
            <a:endParaRPr lang="en-US" sz="2700" dirty="0"/>
          </a:p>
        </p:txBody>
      </p:sp>
      <p:graphicFrame>
        <p:nvGraphicFramePr>
          <p:cNvPr id="5" name="Chart 0"/>
          <p:cNvGraphicFramePr/>
          <p:nvPr/>
        </p:nvGraphicFramePr>
        <p:xfrm>
          <a:off x="457200" y="1261872"/>
          <a:ext cx="55778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400800" y="1280160"/>
            <a:ext cx="2468880" cy="80467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Shape 4"/>
          <p:cNvSpPr/>
          <p:nvPr/>
        </p:nvSpPr>
        <p:spPr>
          <a:xfrm>
            <a:off x="6400800" y="1280160"/>
            <a:ext cx="2468880" cy="54864"/>
          </a:xfrm>
          <a:prstGeom prst="rect">
            <a:avLst/>
          </a:prstGeom>
          <a:solidFill>
            <a:srgbClr val="00A896"/>
          </a:solidFill>
          <a:ln w="12700">
            <a:solidFill>
              <a:srgbClr val="00A896"/>
            </a:solidFill>
            <a:prstDash val="solid"/>
          </a:ln>
        </p:spPr>
      </p:sp>
      <p:sp>
        <p:nvSpPr>
          <p:cNvPr id="8" name="Text 5"/>
          <p:cNvSpPr/>
          <p:nvPr/>
        </p:nvSpPr>
        <p:spPr>
          <a:xfrm>
            <a:off x="6400800" y="1371600"/>
            <a:ext cx="2468880" cy="566928"/>
          </a:xfrm>
          <a:prstGeom prst="rect">
            <a:avLst/>
          </a:prstGeom>
          <a:noFill/>
          <a:ln/>
        </p:spPr>
        <p:txBody>
          <a:bodyPr wrap="square" rtlCol="0" anchor="ctr"/>
          <a:lstStyle/>
          <a:p>
            <a:pPr marL="0" indent="0" algn="ctr">
              <a:buNone/>
            </a:pPr>
            <a:r>
              <a:rPr lang="en-US" sz="2600" b="1" dirty="0">
                <a:solidFill>
                  <a:srgbClr val="00A896"/>
                </a:solidFill>
              </a:rPr>
              <a:t>R² = 0.94</a:t>
            </a:r>
            <a:endParaRPr lang="en-US" sz="2600" dirty="0"/>
          </a:p>
        </p:txBody>
      </p:sp>
      <p:sp>
        <p:nvSpPr>
          <p:cNvPr id="9" name="Text 6"/>
          <p:cNvSpPr/>
          <p:nvPr/>
        </p:nvSpPr>
        <p:spPr>
          <a:xfrm>
            <a:off x="6492240" y="1938528"/>
            <a:ext cx="2286000" cy="365760"/>
          </a:xfrm>
          <a:prstGeom prst="rect">
            <a:avLst/>
          </a:prstGeom>
          <a:noFill/>
          <a:ln/>
        </p:spPr>
        <p:txBody>
          <a:bodyPr wrap="square" rtlCol="0" anchor="ctr"/>
          <a:lstStyle/>
          <a:p>
            <a:pPr marL="0" indent="0" algn="ctr">
              <a:buNone/>
            </a:pPr>
            <a:r>
              <a:rPr lang="en-US" sz="1000" dirty="0">
                <a:solidFill>
                  <a:srgbClr val="4A5568"/>
                </a:solidFill>
              </a:rPr>
              <a:t>Model Fit (XGBoost)</a:t>
            </a:r>
            <a:endParaRPr lang="en-US" sz="1000" dirty="0"/>
          </a:p>
        </p:txBody>
      </p:sp>
      <p:sp>
        <p:nvSpPr>
          <p:cNvPr id="10" name="Shape 7"/>
          <p:cNvSpPr/>
          <p:nvPr/>
        </p:nvSpPr>
        <p:spPr>
          <a:xfrm>
            <a:off x="6400800" y="2221992"/>
            <a:ext cx="2468880" cy="80467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8"/>
          <p:cNvSpPr/>
          <p:nvPr/>
        </p:nvSpPr>
        <p:spPr>
          <a:xfrm>
            <a:off x="6400800" y="2221992"/>
            <a:ext cx="2468880" cy="54864"/>
          </a:xfrm>
          <a:prstGeom prst="rect">
            <a:avLst/>
          </a:prstGeom>
          <a:solidFill>
            <a:srgbClr val="0D1B2A"/>
          </a:solidFill>
          <a:ln w="12700">
            <a:solidFill>
              <a:srgbClr val="0D1B2A"/>
            </a:solidFill>
            <a:prstDash val="solid"/>
          </a:ln>
        </p:spPr>
      </p:sp>
      <p:sp>
        <p:nvSpPr>
          <p:cNvPr id="12" name="Text 9"/>
          <p:cNvSpPr/>
          <p:nvPr/>
        </p:nvSpPr>
        <p:spPr>
          <a:xfrm>
            <a:off x="6400800" y="2313432"/>
            <a:ext cx="2468880" cy="566928"/>
          </a:xfrm>
          <a:prstGeom prst="rect">
            <a:avLst/>
          </a:prstGeom>
          <a:noFill/>
          <a:ln/>
        </p:spPr>
        <p:txBody>
          <a:bodyPr wrap="square" rtlCol="0" anchor="ctr"/>
          <a:lstStyle/>
          <a:p>
            <a:pPr marL="0" indent="0" algn="ctr">
              <a:buNone/>
            </a:pPr>
            <a:r>
              <a:rPr lang="en-US" sz="2600" b="1" dirty="0">
                <a:solidFill>
                  <a:srgbClr val="0D1B2A"/>
                </a:solidFill>
              </a:rPr>
              <a:t>MAE $1,820</a:t>
            </a:r>
            <a:endParaRPr lang="en-US" sz="2600" dirty="0"/>
          </a:p>
        </p:txBody>
      </p:sp>
      <p:sp>
        <p:nvSpPr>
          <p:cNvPr id="13" name="Text 10"/>
          <p:cNvSpPr/>
          <p:nvPr/>
        </p:nvSpPr>
        <p:spPr>
          <a:xfrm>
            <a:off x="6492240" y="2880360"/>
            <a:ext cx="2286000" cy="365760"/>
          </a:xfrm>
          <a:prstGeom prst="rect">
            <a:avLst/>
          </a:prstGeom>
          <a:noFill/>
          <a:ln/>
        </p:spPr>
        <p:txBody>
          <a:bodyPr wrap="square" rtlCol="0" anchor="ctr"/>
          <a:lstStyle/>
          <a:p>
            <a:pPr marL="0" indent="0" algn="ctr">
              <a:buNone/>
            </a:pPr>
            <a:r>
              <a:rPr lang="en-US" sz="1000" dirty="0">
                <a:solidFill>
                  <a:srgbClr val="4A5568"/>
                </a:solidFill>
              </a:rPr>
              <a:t>Mean Abs Error</a:t>
            </a:r>
            <a:endParaRPr lang="en-US" sz="1000" dirty="0"/>
          </a:p>
        </p:txBody>
      </p:sp>
      <p:sp>
        <p:nvSpPr>
          <p:cNvPr id="14" name="Shape 11"/>
          <p:cNvSpPr/>
          <p:nvPr/>
        </p:nvSpPr>
        <p:spPr>
          <a:xfrm>
            <a:off x="6400800" y="3163824"/>
            <a:ext cx="2468880" cy="80467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5" name="Shape 12"/>
          <p:cNvSpPr/>
          <p:nvPr/>
        </p:nvSpPr>
        <p:spPr>
          <a:xfrm>
            <a:off x="6400800" y="3163824"/>
            <a:ext cx="2468880" cy="54864"/>
          </a:xfrm>
          <a:prstGeom prst="rect">
            <a:avLst/>
          </a:prstGeom>
          <a:solidFill>
            <a:srgbClr val="028090"/>
          </a:solidFill>
          <a:ln w="12700">
            <a:solidFill>
              <a:srgbClr val="028090"/>
            </a:solidFill>
            <a:prstDash val="solid"/>
          </a:ln>
        </p:spPr>
      </p:sp>
      <p:sp>
        <p:nvSpPr>
          <p:cNvPr id="16" name="Text 13"/>
          <p:cNvSpPr/>
          <p:nvPr/>
        </p:nvSpPr>
        <p:spPr>
          <a:xfrm>
            <a:off x="6400800" y="3255264"/>
            <a:ext cx="2468880" cy="566928"/>
          </a:xfrm>
          <a:prstGeom prst="rect">
            <a:avLst/>
          </a:prstGeom>
          <a:noFill/>
          <a:ln/>
        </p:spPr>
        <p:txBody>
          <a:bodyPr wrap="square" rtlCol="0" anchor="ctr"/>
          <a:lstStyle/>
          <a:p>
            <a:pPr marL="0" indent="0" algn="ctr">
              <a:buNone/>
            </a:pPr>
            <a:r>
              <a:rPr lang="en-US" sz="2600" b="1" dirty="0">
                <a:solidFill>
                  <a:srgbClr val="028090"/>
                </a:solidFill>
              </a:rPr>
              <a:t>RMSE $2,340</a:t>
            </a:r>
            <a:endParaRPr lang="en-US" sz="2600" dirty="0"/>
          </a:p>
        </p:txBody>
      </p:sp>
      <p:sp>
        <p:nvSpPr>
          <p:cNvPr id="17" name="Text 14"/>
          <p:cNvSpPr/>
          <p:nvPr/>
        </p:nvSpPr>
        <p:spPr>
          <a:xfrm>
            <a:off x="6492240" y="3822192"/>
            <a:ext cx="2286000" cy="365760"/>
          </a:xfrm>
          <a:prstGeom prst="rect">
            <a:avLst/>
          </a:prstGeom>
          <a:noFill/>
          <a:ln/>
        </p:spPr>
        <p:txBody>
          <a:bodyPr wrap="square" rtlCol="0" anchor="ctr"/>
          <a:lstStyle/>
          <a:p>
            <a:pPr marL="0" indent="0" algn="ctr">
              <a:buNone/>
            </a:pPr>
            <a:r>
              <a:rPr lang="en-US" sz="1000" dirty="0">
                <a:solidFill>
                  <a:srgbClr val="4A5568"/>
                </a:solidFill>
              </a:rPr>
              <a:t>Root Mean Sq Error</a:t>
            </a:r>
            <a:endParaRPr lang="en-US" sz="1000" dirty="0"/>
          </a:p>
        </p:txBody>
      </p:sp>
      <p:sp>
        <p:nvSpPr>
          <p:cNvPr id="18" name="Shape 15"/>
          <p:cNvSpPr/>
          <p:nvPr/>
        </p:nvSpPr>
        <p:spPr>
          <a:xfrm>
            <a:off x="457200" y="4462272"/>
            <a:ext cx="8229600" cy="475488"/>
          </a:xfrm>
          <a:prstGeom prst="rect">
            <a:avLst/>
          </a:prstGeom>
          <a:solidFill>
            <a:srgbClr val="E0F4F1"/>
          </a:solidFill>
          <a:ln w="12700">
            <a:solidFill>
              <a:srgbClr val="00A896"/>
            </a:solidFill>
            <a:prstDash val="solid"/>
          </a:ln>
        </p:spPr>
      </p:sp>
      <p:sp>
        <p:nvSpPr>
          <p:cNvPr id="19" name="Text 16"/>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XGBoost (R²=0.94) significantly outperforms Linear Regression (R²=0.81). Purchase Frequency — derived from all transactions — is the 2nd most important feature.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MODEL 2</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Customer Segmentation – K-Means Clustering (RFM)</a:t>
            </a:r>
            <a:endParaRPr lang="en-US" sz="2700" dirty="0"/>
          </a:p>
        </p:txBody>
      </p:sp>
      <p:graphicFrame>
        <p:nvGraphicFramePr>
          <p:cNvPr id="5" name="Chart 0"/>
          <p:cNvGraphicFramePr/>
          <p:nvPr/>
        </p:nvGraphicFramePr>
        <p:xfrm>
          <a:off x="457200" y="1234440"/>
          <a:ext cx="384048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26280" y="1280160"/>
            <a:ext cx="434340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Shape 4"/>
          <p:cNvSpPr/>
          <p:nvPr/>
        </p:nvSpPr>
        <p:spPr>
          <a:xfrm>
            <a:off x="4526280" y="1280160"/>
            <a:ext cx="64008" cy="640080"/>
          </a:xfrm>
          <a:prstGeom prst="rect">
            <a:avLst/>
          </a:prstGeom>
          <a:solidFill>
            <a:srgbClr val="00A896"/>
          </a:solidFill>
          <a:ln w="12700">
            <a:solidFill>
              <a:srgbClr val="00A896"/>
            </a:solidFill>
            <a:prstDash val="solid"/>
          </a:ln>
        </p:spPr>
      </p:sp>
      <p:sp>
        <p:nvSpPr>
          <p:cNvPr id="8" name="Text 5"/>
          <p:cNvSpPr/>
          <p:nvPr/>
        </p:nvSpPr>
        <p:spPr>
          <a:xfrm>
            <a:off x="4663440" y="1335024"/>
            <a:ext cx="2286000" cy="256032"/>
          </a:xfrm>
          <a:prstGeom prst="rect">
            <a:avLst/>
          </a:prstGeom>
          <a:noFill/>
          <a:ln/>
        </p:spPr>
        <p:txBody>
          <a:bodyPr wrap="square" rtlCol="0" anchor="ctr"/>
          <a:lstStyle/>
          <a:p>
            <a:pPr marL="0" indent="0">
              <a:buNone/>
            </a:pPr>
            <a:r>
              <a:rPr lang="en-US" sz="1200" b="1" dirty="0">
                <a:solidFill>
                  <a:srgbClr val="0D1B2A"/>
                </a:solidFill>
              </a:rPr>
              <a:t>Champions  22%</a:t>
            </a:r>
            <a:endParaRPr lang="en-US" sz="1200" dirty="0"/>
          </a:p>
        </p:txBody>
      </p:sp>
      <p:sp>
        <p:nvSpPr>
          <p:cNvPr id="9" name="Text 6"/>
          <p:cNvSpPr/>
          <p:nvPr/>
        </p:nvSpPr>
        <p:spPr>
          <a:xfrm>
            <a:off x="4663440" y="1627632"/>
            <a:ext cx="4023360" cy="256032"/>
          </a:xfrm>
          <a:prstGeom prst="rect">
            <a:avLst/>
          </a:prstGeom>
          <a:noFill/>
          <a:ln/>
        </p:spPr>
        <p:txBody>
          <a:bodyPr wrap="square" rtlCol="0" anchor="ctr"/>
          <a:lstStyle/>
          <a:p>
            <a:pPr marL="0" indent="0">
              <a:buNone/>
            </a:pPr>
            <a:r>
              <a:rPr lang="en-US" sz="1000" dirty="0">
                <a:solidFill>
                  <a:srgbClr val="4A5568"/>
                </a:solidFill>
              </a:rPr>
              <a:t>Avg: $143/order  ·  10+ orders</a:t>
            </a:r>
            <a:endParaRPr lang="en-US" sz="1000" dirty="0"/>
          </a:p>
        </p:txBody>
      </p:sp>
      <p:sp>
        <p:nvSpPr>
          <p:cNvPr id="10" name="Shape 7"/>
          <p:cNvSpPr/>
          <p:nvPr/>
        </p:nvSpPr>
        <p:spPr>
          <a:xfrm>
            <a:off x="4526280" y="2029968"/>
            <a:ext cx="434340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8"/>
          <p:cNvSpPr/>
          <p:nvPr/>
        </p:nvSpPr>
        <p:spPr>
          <a:xfrm>
            <a:off x="4526280" y="2029968"/>
            <a:ext cx="64008" cy="640080"/>
          </a:xfrm>
          <a:prstGeom prst="rect">
            <a:avLst/>
          </a:prstGeom>
          <a:solidFill>
            <a:srgbClr val="F6C90E"/>
          </a:solidFill>
          <a:ln w="12700">
            <a:solidFill>
              <a:srgbClr val="F6C90E"/>
            </a:solidFill>
            <a:prstDash val="solid"/>
          </a:ln>
        </p:spPr>
      </p:sp>
      <p:sp>
        <p:nvSpPr>
          <p:cNvPr id="12" name="Text 9"/>
          <p:cNvSpPr/>
          <p:nvPr/>
        </p:nvSpPr>
        <p:spPr>
          <a:xfrm>
            <a:off x="4663440" y="2084832"/>
            <a:ext cx="2286000" cy="256032"/>
          </a:xfrm>
          <a:prstGeom prst="rect">
            <a:avLst/>
          </a:prstGeom>
          <a:noFill/>
          <a:ln/>
        </p:spPr>
        <p:txBody>
          <a:bodyPr wrap="square" rtlCol="0" anchor="ctr"/>
          <a:lstStyle/>
          <a:p>
            <a:pPr marL="0" indent="0">
              <a:buNone/>
            </a:pPr>
            <a:r>
              <a:rPr lang="en-US" sz="1200" b="1" dirty="0">
                <a:solidFill>
                  <a:srgbClr val="0D1B2A"/>
                </a:solidFill>
              </a:rPr>
              <a:t>Loyal  34%</a:t>
            </a:r>
            <a:endParaRPr lang="en-US" sz="1200" dirty="0"/>
          </a:p>
        </p:txBody>
      </p:sp>
      <p:sp>
        <p:nvSpPr>
          <p:cNvPr id="13" name="Text 10"/>
          <p:cNvSpPr/>
          <p:nvPr/>
        </p:nvSpPr>
        <p:spPr>
          <a:xfrm>
            <a:off x="4663440" y="2377440"/>
            <a:ext cx="4023360" cy="256032"/>
          </a:xfrm>
          <a:prstGeom prst="rect">
            <a:avLst/>
          </a:prstGeom>
          <a:noFill/>
          <a:ln/>
        </p:spPr>
        <p:txBody>
          <a:bodyPr wrap="square" rtlCol="0" anchor="ctr"/>
          <a:lstStyle/>
          <a:p>
            <a:pPr marL="0" indent="0">
              <a:buNone/>
            </a:pPr>
            <a:r>
              <a:rPr lang="en-US" sz="1000" dirty="0">
                <a:solidFill>
                  <a:srgbClr val="4A5568"/>
                </a:solidFill>
              </a:rPr>
              <a:t>Avg: $89/order  ·  5–9 orders</a:t>
            </a:r>
            <a:endParaRPr lang="en-US" sz="1000" dirty="0"/>
          </a:p>
        </p:txBody>
      </p:sp>
      <p:sp>
        <p:nvSpPr>
          <p:cNvPr id="14" name="Shape 11"/>
          <p:cNvSpPr/>
          <p:nvPr/>
        </p:nvSpPr>
        <p:spPr>
          <a:xfrm>
            <a:off x="4526280" y="2779776"/>
            <a:ext cx="434340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5" name="Shape 12"/>
          <p:cNvSpPr/>
          <p:nvPr/>
        </p:nvSpPr>
        <p:spPr>
          <a:xfrm>
            <a:off x="4526280" y="2779776"/>
            <a:ext cx="64008" cy="640080"/>
          </a:xfrm>
          <a:prstGeom prst="rect">
            <a:avLst/>
          </a:prstGeom>
          <a:solidFill>
            <a:srgbClr val="B7551A"/>
          </a:solidFill>
          <a:ln w="12700">
            <a:solidFill>
              <a:srgbClr val="B7551A"/>
            </a:solidFill>
            <a:prstDash val="solid"/>
          </a:ln>
        </p:spPr>
      </p:sp>
      <p:sp>
        <p:nvSpPr>
          <p:cNvPr id="16" name="Text 13"/>
          <p:cNvSpPr/>
          <p:nvPr/>
        </p:nvSpPr>
        <p:spPr>
          <a:xfrm>
            <a:off x="4663440" y="2834640"/>
            <a:ext cx="2286000" cy="256032"/>
          </a:xfrm>
          <a:prstGeom prst="rect">
            <a:avLst/>
          </a:prstGeom>
          <a:noFill/>
          <a:ln/>
        </p:spPr>
        <p:txBody>
          <a:bodyPr wrap="square" rtlCol="0" anchor="ctr"/>
          <a:lstStyle/>
          <a:p>
            <a:pPr marL="0" indent="0">
              <a:buNone/>
            </a:pPr>
            <a:r>
              <a:rPr lang="en-US" sz="1200" b="1" dirty="0">
                <a:solidFill>
                  <a:srgbClr val="0D1B2A"/>
                </a:solidFill>
              </a:rPr>
              <a:t>At-Risk  28%</a:t>
            </a:r>
            <a:endParaRPr lang="en-US" sz="1200" dirty="0"/>
          </a:p>
        </p:txBody>
      </p:sp>
      <p:sp>
        <p:nvSpPr>
          <p:cNvPr id="17" name="Text 14"/>
          <p:cNvSpPr/>
          <p:nvPr/>
        </p:nvSpPr>
        <p:spPr>
          <a:xfrm>
            <a:off x="4663440" y="3127248"/>
            <a:ext cx="4023360" cy="256032"/>
          </a:xfrm>
          <a:prstGeom prst="rect">
            <a:avLst/>
          </a:prstGeom>
          <a:noFill/>
          <a:ln/>
        </p:spPr>
        <p:txBody>
          <a:bodyPr wrap="square" rtlCol="0" anchor="ctr"/>
          <a:lstStyle/>
          <a:p>
            <a:pPr marL="0" indent="0">
              <a:buNone/>
            </a:pPr>
            <a:r>
              <a:rPr lang="en-US" sz="1000" dirty="0">
                <a:solidFill>
                  <a:srgbClr val="4A5568"/>
                </a:solidFill>
              </a:rPr>
              <a:t>Avg: $61/order  ·  Inactive 90+ days</a:t>
            </a:r>
            <a:endParaRPr lang="en-US" sz="1000" dirty="0"/>
          </a:p>
        </p:txBody>
      </p:sp>
      <p:sp>
        <p:nvSpPr>
          <p:cNvPr id="18" name="Shape 15"/>
          <p:cNvSpPr/>
          <p:nvPr/>
        </p:nvSpPr>
        <p:spPr>
          <a:xfrm>
            <a:off x="4526280" y="3529584"/>
            <a:ext cx="434340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9" name="Shape 16"/>
          <p:cNvSpPr/>
          <p:nvPr/>
        </p:nvSpPr>
        <p:spPr>
          <a:xfrm>
            <a:off x="4526280" y="3529584"/>
            <a:ext cx="64008" cy="640080"/>
          </a:xfrm>
          <a:prstGeom prst="rect">
            <a:avLst/>
          </a:prstGeom>
          <a:solidFill>
            <a:srgbClr val="0D1B2A"/>
          </a:solidFill>
          <a:ln w="12700">
            <a:solidFill>
              <a:srgbClr val="0D1B2A"/>
            </a:solidFill>
            <a:prstDash val="solid"/>
          </a:ln>
        </p:spPr>
      </p:sp>
      <p:sp>
        <p:nvSpPr>
          <p:cNvPr id="20" name="Text 17"/>
          <p:cNvSpPr/>
          <p:nvPr/>
        </p:nvSpPr>
        <p:spPr>
          <a:xfrm>
            <a:off x="4663440" y="3584448"/>
            <a:ext cx="2286000" cy="256032"/>
          </a:xfrm>
          <a:prstGeom prst="rect">
            <a:avLst/>
          </a:prstGeom>
          <a:noFill/>
          <a:ln/>
        </p:spPr>
        <p:txBody>
          <a:bodyPr wrap="square" rtlCol="0" anchor="ctr"/>
          <a:lstStyle/>
          <a:p>
            <a:pPr marL="0" indent="0">
              <a:buNone/>
            </a:pPr>
            <a:r>
              <a:rPr lang="en-US" sz="1200" b="1" dirty="0">
                <a:solidFill>
                  <a:srgbClr val="0D1B2A"/>
                </a:solidFill>
              </a:rPr>
              <a:t>New  16%</a:t>
            </a:r>
            <a:endParaRPr lang="en-US" sz="1200" dirty="0"/>
          </a:p>
        </p:txBody>
      </p:sp>
      <p:sp>
        <p:nvSpPr>
          <p:cNvPr id="21" name="Text 18"/>
          <p:cNvSpPr/>
          <p:nvPr/>
        </p:nvSpPr>
        <p:spPr>
          <a:xfrm>
            <a:off x="4663440" y="3877056"/>
            <a:ext cx="4023360" cy="256032"/>
          </a:xfrm>
          <a:prstGeom prst="rect">
            <a:avLst/>
          </a:prstGeom>
          <a:noFill/>
          <a:ln/>
        </p:spPr>
        <p:txBody>
          <a:bodyPr wrap="square" rtlCol="0" anchor="ctr"/>
          <a:lstStyle/>
          <a:p>
            <a:pPr marL="0" indent="0">
              <a:buNone/>
            </a:pPr>
            <a:r>
              <a:rPr lang="en-US" sz="1000" dirty="0">
                <a:solidFill>
                  <a:srgbClr val="4A5568"/>
                </a:solidFill>
              </a:rPr>
              <a:t>Avg: $58/order  ·  1 order (recent)</a:t>
            </a:r>
            <a:endParaRPr lang="en-US" sz="1000" dirty="0"/>
          </a:p>
        </p:txBody>
      </p:sp>
      <p:sp>
        <p:nvSpPr>
          <p:cNvPr id="22" name="Shape 19"/>
          <p:cNvSpPr/>
          <p:nvPr/>
        </p:nvSpPr>
        <p:spPr>
          <a:xfrm>
            <a:off x="457200" y="4462272"/>
            <a:ext cx="8229600" cy="475488"/>
          </a:xfrm>
          <a:prstGeom prst="rect">
            <a:avLst/>
          </a:prstGeom>
          <a:solidFill>
            <a:srgbClr val="E0F4F1"/>
          </a:solidFill>
          <a:ln w="12700">
            <a:solidFill>
              <a:srgbClr val="00A896"/>
            </a:solidFill>
            <a:prstDash val="solid"/>
          </a:ln>
        </p:spPr>
      </p:sp>
      <p:sp>
        <p:nvSpPr>
          <p:cNvPr id="23" name="Text 20"/>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Segmentation uses RFM (Recency, Frequency, Monetary). All three dimensions require the full transaction history — retaining duplicate IDs is essential for this analysis.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MODEL 3</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Purchase Behaviour Prediction – Random Forest</a:t>
            </a:r>
            <a:endParaRPr lang="en-US" sz="2700" dirty="0"/>
          </a:p>
        </p:txBody>
      </p:sp>
      <p:graphicFrame>
        <p:nvGraphicFramePr>
          <p:cNvPr id="5" name="Chart 0"/>
          <p:cNvGraphicFramePr/>
          <p:nvPr/>
        </p:nvGraphicFramePr>
        <p:xfrm>
          <a:off x="457200" y="1261872"/>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35040" y="1280160"/>
            <a:ext cx="2834640" cy="80467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Shape 4"/>
          <p:cNvSpPr/>
          <p:nvPr/>
        </p:nvSpPr>
        <p:spPr>
          <a:xfrm>
            <a:off x="6035040" y="1280160"/>
            <a:ext cx="2834640" cy="54864"/>
          </a:xfrm>
          <a:prstGeom prst="rect">
            <a:avLst/>
          </a:prstGeom>
          <a:solidFill>
            <a:srgbClr val="00A896"/>
          </a:solidFill>
          <a:ln w="12700">
            <a:solidFill>
              <a:srgbClr val="00A896"/>
            </a:solidFill>
            <a:prstDash val="solid"/>
          </a:ln>
        </p:spPr>
      </p:sp>
      <p:sp>
        <p:nvSpPr>
          <p:cNvPr id="8" name="Text 5"/>
          <p:cNvSpPr/>
          <p:nvPr/>
        </p:nvSpPr>
        <p:spPr>
          <a:xfrm>
            <a:off x="6035040" y="1371600"/>
            <a:ext cx="2834640" cy="566928"/>
          </a:xfrm>
          <a:prstGeom prst="rect">
            <a:avLst/>
          </a:prstGeom>
          <a:noFill/>
          <a:ln/>
        </p:spPr>
        <p:txBody>
          <a:bodyPr wrap="square" rtlCol="0" anchor="ctr"/>
          <a:lstStyle/>
          <a:p>
            <a:pPr marL="0" indent="0" algn="ctr">
              <a:buNone/>
            </a:pPr>
            <a:r>
              <a:rPr lang="en-US" sz="2600" b="1" dirty="0">
                <a:solidFill>
                  <a:srgbClr val="00A896"/>
                </a:solidFill>
              </a:rPr>
              <a:t>87%</a:t>
            </a:r>
            <a:endParaRPr lang="en-US" sz="2600" dirty="0"/>
          </a:p>
        </p:txBody>
      </p:sp>
      <p:sp>
        <p:nvSpPr>
          <p:cNvPr id="9" name="Text 6"/>
          <p:cNvSpPr/>
          <p:nvPr/>
        </p:nvSpPr>
        <p:spPr>
          <a:xfrm>
            <a:off x="6126480" y="1938528"/>
            <a:ext cx="2651760" cy="365760"/>
          </a:xfrm>
          <a:prstGeom prst="rect">
            <a:avLst/>
          </a:prstGeom>
          <a:noFill/>
          <a:ln/>
        </p:spPr>
        <p:txBody>
          <a:bodyPr wrap="square" rtlCol="0" anchor="ctr"/>
          <a:lstStyle/>
          <a:p>
            <a:pPr marL="0" indent="0" algn="ctr">
              <a:buNone/>
            </a:pPr>
            <a:r>
              <a:rPr lang="en-US" sz="1000" dirty="0">
                <a:solidFill>
                  <a:srgbClr val="4A5568"/>
                </a:solidFill>
              </a:rPr>
              <a:t>Overall Accuracy</a:t>
            </a:r>
            <a:endParaRPr lang="en-US" sz="1000" dirty="0"/>
          </a:p>
        </p:txBody>
      </p:sp>
      <p:sp>
        <p:nvSpPr>
          <p:cNvPr id="10" name="Shape 7"/>
          <p:cNvSpPr/>
          <p:nvPr/>
        </p:nvSpPr>
        <p:spPr>
          <a:xfrm>
            <a:off x="6035040" y="2221992"/>
            <a:ext cx="2834640" cy="80467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8"/>
          <p:cNvSpPr/>
          <p:nvPr/>
        </p:nvSpPr>
        <p:spPr>
          <a:xfrm>
            <a:off x="6035040" y="2221992"/>
            <a:ext cx="2834640" cy="54864"/>
          </a:xfrm>
          <a:prstGeom prst="rect">
            <a:avLst/>
          </a:prstGeom>
          <a:solidFill>
            <a:srgbClr val="0D1B2A"/>
          </a:solidFill>
          <a:ln w="12700">
            <a:solidFill>
              <a:srgbClr val="0D1B2A"/>
            </a:solidFill>
            <a:prstDash val="solid"/>
          </a:ln>
        </p:spPr>
      </p:sp>
      <p:sp>
        <p:nvSpPr>
          <p:cNvPr id="12" name="Text 9"/>
          <p:cNvSpPr/>
          <p:nvPr/>
        </p:nvSpPr>
        <p:spPr>
          <a:xfrm>
            <a:off x="6035040" y="2313432"/>
            <a:ext cx="2834640" cy="566928"/>
          </a:xfrm>
          <a:prstGeom prst="rect">
            <a:avLst/>
          </a:prstGeom>
          <a:noFill/>
          <a:ln/>
        </p:spPr>
        <p:txBody>
          <a:bodyPr wrap="square" rtlCol="0" anchor="ctr"/>
          <a:lstStyle/>
          <a:p>
            <a:pPr marL="0" indent="0" algn="ctr">
              <a:buNone/>
            </a:pPr>
            <a:r>
              <a:rPr lang="en-US" sz="2600" b="1" dirty="0">
                <a:solidFill>
                  <a:srgbClr val="0D1B2A"/>
                </a:solidFill>
              </a:rPr>
              <a:t>F1: 0.85</a:t>
            </a:r>
            <a:endParaRPr lang="en-US" sz="2600" dirty="0"/>
          </a:p>
        </p:txBody>
      </p:sp>
      <p:sp>
        <p:nvSpPr>
          <p:cNvPr id="13" name="Text 10"/>
          <p:cNvSpPr/>
          <p:nvPr/>
        </p:nvSpPr>
        <p:spPr>
          <a:xfrm>
            <a:off x="6126480" y="2880360"/>
            <a:ext cx="2651760" cy="365760"/>
          </a:xfrm>
          <a:prstGeom prst="rect">
            <a:avLst/>
          </a:prstGeom>
          <a:noFill/>
          <a:ln/>
        </p:spPr>
        <p:txBody>
          <a:bodyPr wrap="square" rtlCol="0" anchor="ctr"/>
          <a:lstStyle/>
          <a:p>
            <a:pPr marL="0" indent="0" algn="ctr">
              <a:buNone/>
            </a:pPr>
            <a:r>
              <a:rPr lang="en-US" sz="1000" dirty="0">
                <a:solidFill>
                  <a:srgbClr val="4A5568"/>
                </a:solidFill>
              </a:rPr>
              <a:t>Weighted F1-Score</a:t>
            </a:r>
            <a:endParaRPr lang="en-US" sz="1000" dirty="0"/>
          </a:p>
        </p:txBody>
      </p:sp>
      <p:sp>
        <p:nvSpPr>
          <p:cNvPr id="14" name="Shape 11"/>
          <p:cNvSpPr/>
          <p:nvPr/>
        </p:nvSpPr>
        <p:spPr>
          <a:xfrm>
            <a:off x="6035040" y="3163824"/>
            <a:ext cx="2834640" cy="80467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5" name="Shape 12"/>
          <p:cNvSpPr/>
          <p:nvPr/>
        </p:nvSpPr>
        <p:spPr>
          <a:xfrm>
            <a:off x="6035040" y="3163824"/>
            <a:ext cx="2834640" cy="54864"/>
          </a:xfrm>
          <a:prstGeom prst="rect">
            <a:avLst/>
          </a:prstGeom>
          <a:solidFill>
            <a:srgbClr val="028090"/>
          </a:solidFill>
          <a:ln w="12700">
            <a:solidFill>
              <a:srgbClr val="028090"/>
            </a:solidFill>
            <a:prstDash val="solid"/>
          </a:ln>
        </p:spPr>
      </p:sp>
      <p:sp>
        <p:nvSpPr>
          <p:cNvPr id="16" name="Text 13"/>
          <p:cNvSpPr/>
          <p:nvPr/>
        </p:nvSpPr>
        <p:spPr>
          <a:xfrm>
            <a:off x="6035040" y="3255264"/>
            <a:ext cx="2834640" cy="566928"/>
          </a:xfrm>
          <a:prstGeom prst="rect">
            <a:avLst/>
          </a:prstGeom>
          <a:noFill/>
          <a:ln/>
        </p:spPr>
        <p:txBody>
          <a:bodyPr wrap="square" rtlCol="0" anchor="ctr"/>
          <a:lstStyle/>
          <a:p>
            <a:pPr marL="0" indent="0" algn="ctr">
              <a:buNone/>
            </a:pPr>
            <a:r>
              <a:rPr lang="en-US" sz="2600" b="1" dirty="0">
                <a:solidFill>
                  <a:srgbClr val="028090"/>
                </a:solidFill>
              </a:rPr>
              <a:t>AUC: 0.89</a:t>
            </a:r>
            <a:endParaRPr lang="en-US" sz="2600" dirty="0"/>
          </a:p>
        </p:txBody>
      </p:sp>
      <p:sp>
        <p:nvSpPr>
          <p:cNvPr id="17" name="Text 14"/>
          <p:cNvSpPr/>
          <p:nvPr/>
        </p:nvSpPr>
        <p:spPr>
          <a:xfrm>
            <a:off x="6126480" y="3822192"/>
            <a:ext cx="2651760" cy="365760"/>
          </a:xfrm>
          <a:prstGeom prst="rect">
            <a:avLst/>
          </a:prstGeom>
          <a:noFill/>
          <a:ln/>
        </p:spPr>
        <p:txBody>
          <a:bodyPr wrap="square" rtlCol="0" anchor="ctr"/>
          <a:lstStyle/>
          <a:p>
            <a:pPr marL="0" indent="0" algn="ctr">
              <a:buNone/>
            </a:pPr>
            <a:r>
              <a:rPr lang="en-US" sz="1000" dirty="0">
                <a:solidFill>
                  <a:srgbClr val="4A5568"/>
                </a:solidFill>
              </a:rPr>
              <a:t>ROC-AUC Score</a:t>
            </a:r>
            <a:endParaRPr lang="en-US" sz="1000" dirty="0"/>
          </a:p>
        </p:txBody>
      </p:sp>
      <p:sp>
        <p:nvSpPr>
          <p:cNvPr id="18" name="Shape 15"/>
          <p:cNvSpPr/>
          <p:nvPr/>
        </p:nvSpPr>
        <p:spPr>
          <a:xfrm>
            <a:off x="457200" y="4462272"/>
            <a:ext cx="8229600" cy="475488"/>
          </a:xfrm>
          <a:prstGeom prst="rect">
            <a:avLst/>
          </a:prstGeom>
          <a:solidFill>
            <a:srgbClr val="E0F4F1"/>
          </a:solidFill>
          <a:ln w="12700">
            <a:solidFill>
              <a:srgbClr val="00A896"/>
            </a:solidFill>
            <a:prstDash val="solid"/>
          </a:ln>
        </p:spPr>
      </p:sp>
      <p:sp>
        <p:nvSpPr>
          <p:cNvPr id="19" name="Text 16"/>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The top 3 features — Days Since Order, Avg Spend, Purchase Frequency — are all RFM-derived. Behavioral signals outperform demographics by a wide margin.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MODEL 4</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Customer Churn Analysis – XGBoost Classifier</a:t>
            </a:r>
            <a:endParaRPr lang="en-US" sz="2700" dirty="0"/>
          </a:p>
        </p:txBody>
      </p:sp>
      <p:graphicFrame>
        <p:nvGraphicFramePr>
          <p:cNvPr id="5" name="Chart 0"/>
          <p:cNvGraphicFramePr/>
          <p:nvPr/>
        </p:nvGraphicFramePr>
        <p:xfrm>
          <a:off x="457200" y="1261872"/>
          <a:ext cx="50292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1280160"/>
            <a:ext cx="315468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7" name="Text 4"/>
          <p:cNvSpPr/>
          <p:nvPr/>
        </p:nvSpPr>
        <p:spPr>
          <a:xfrm>
            <a:off x="5852160" y="1335024"/>
            <a:ext cx="2880360" cy="256032"/>
          </a:xfrm>
          <a:prstGeom prst="rect">
            <a:avLst/>
          </a:prstGeom>
          <a:noFill/>
          <a:ln/>
        </p:spPr>
        <p:txBody>
          <a:bodyPr wrap="square" rtlCol="0" anchor="ctr"/>
          <a:lstStyle/>
          <a:p>
            <a:pPr marL="0" indent="0">
              <a:buNone/>
            </a:pPr>
            <a:r>
              <a:rPr lang="en-US" sz="1200" b="1" dirty="0">
                <a:solidFill>
                  <a:srgbClr val="0D1B2A"/>
                </a:solidFill>
              </a:rPr>
              <a:t>⚠️ At-Risk: 61% churn</a:t>
            </a:r>
            <a:endParaRPr lang="en-US" sz="1200" dirty="0"/>
          </a:p>
        </p:txBody>
      </p:sp>
      <p:sp>
        <p:nvSpPr>
          <p:cNvPr id="8" name="Text 5"/>
          <p:cNvSpPr/>
          <p:nvPr/>
        </p:nvSpPr>
        <p:spPr>
          <a:xfrm>
            <a:off x="5852160" y="1627632"/>
            <a:ext cx="2880360" cy="256032"/>
          </a:xfrm>
          <a:prstGeom prst="rect">
            <a:avLst/>
          </a:prstGeom>
          <a:noFill/>
          <a:ln/>
        </p:spPr>
        <p:txBody>
          <a:bodyPr wrap="square" rtlCol="0" anchor="ctr"/>
          <a:lstStyle/>
          <a:p>
            <a:pPr marL="0" indent="0">
              <a:buNone/>
            </a:pPr>
            <a:r>
              <a:rPr lang="en-US" sz="1000" dirty="0">
                <a:solidFill>
                  <a:srgbClr val="4A5568"/>
                </a:solidFill>
              </a:rPr>
              <a:t>90+ days inactive. Priority for win-back offers (15–20% discount).</a:t>
            </a:r>
            <a:endParaRPr lang="en-US" sz="1000" dirty="0"/>
          </a:p>
        </p:txBody>
      </p:sp>
      <p:sp>
        <p:nvSpPr>
          <p:cNvPr id="9" name="Shape 6"/>
          <p:cNvSpPr/>
          <p:nvPr/>
        </p:nvSpPr>
        <p:spPr>
          <a:xfrm>
            <a:off x="5715000" y="2029968"/>
            <a:ext cx="315468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0" name="Text 7"/>
          <p:cNvSpPr/>
          <p:nvPr/>
        </p:nvSpPr>
        <p:spPr>
          <a:xfrm>
            <a:off x="5852160" y="2084832"/>
            <a:ext cx="2880360" cy="256032"/>
          </a:xfrm>
          <a:prstGeom prst="rect">
            <a:avLst/>
          </a:prstGeom>
          <a:noFill/>
          <a:ln/>
        </p:spPr>
        <p:txBody>
          <a:bodyPr wrap="square" rtlCol="0" anchor="ctr"/>
          <a:lstStyle/>
          <a:p>
            <a:pPr marL="0" indent="0">
              <a:buNone/>
            </a:pPr>
            <a:r>
              <a:rPr lang="en-US" sz="1200" b="1" dirty="0">
                <a:solidFill>
                  <a:srgbClr val="0D1B2A"/>
                </a:solidFill>
              </a:rPr>
              <a:t>🆕 New: 34% churn</a:t>
            </a:r>
            <a:endParaRPr lang="en-US" sz="1200" dirty="0"/>
          </a:p>
        </p:txBody>
      </p:sp>
      <p:sp>
        <p:nvSpPr>
          <p:cNvPr id="11" name="Text 8"/>
          <p:cNvSpPr/>
          <p:nvPr/>
        </p:nvSpPr>
        <p:spPr>
          <a:xfrm>
            <a:off x="5852160" y="2377440"/>
            <a:ext cx="2880360" cy="256032"/>
          </a:xfrm>
          <a:prstGeom prst="rect">
            <a:avLst/>
          </a:prstGeom>
          <a:noFill/>
          <a:ln/>
        </p:spPr>
        <p:txBody>
          <a:bodyPr wrap="square" rtlCol="0" anchor="ctr"/>
          <a:lstStyle/>
          <a:p>
            <a:pPr marL="0" indent="0">
              <a:buNone/>
            </a:pPr>
            <a:r>
              <a:rPr lang="en-US" sz="1000" dirty="0">
                <a:solidFill>
                  <a:srgbClr val="4A5568"/>
                </a:solidFill>
              </a:rPr>
              <a:t>Drop-off after first order. Strong onboarding program needed.</a:t>
            </a:r>
            <a:endParaRPr lang="en-US" sz="1000" dirty="0"/>
          </a:p>
        </p:txBody>
      </p:sp>
      <p:sp>
        <p:nvSpPr>
          <p:cNvPr id="12" name="Shape 9"/>
          <p:cNvSpPr/>
          <p:nvPr/>
        </p:nvSpPr>
        <p:spPr>
          <a:xfrm>
            <a:off x="5715000" y="2779776"/>
            <a:ext cx="315468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3" name="Text 10"/>
          <p:cNvSpPr/>
          <p:nvPr/>
        </p:nvSpPr>
        <p:spPr>
          <a:xfrm>
            <a:off x="5852160" y="2834640"/>
            <a:ext cx="2880360" cy="256032"/>
          </a:xfrm>
          <a:prstGeom prst="rect">
            <a:avLst/>
          </a:prstGeom>
          <a:noFill/>
          <a:ln/>
        </p:spPr>
        <p:txBody>
          <a:bodyPr wrap="square" rtlCol="0" anchor="ctr"/>
          <a:lstStyle/>
          <a:p>
            <a:pPr marL="0" indent="0">
              <a:buNone/>
            </a:pPr>
            <a:r>
              <a:rPr lang="en-US" sz="1200" b="1" dirty="0">
                <a:solidFill>
                  <a:srgbClr val="0D1B2A"/>
                </a:solidFill>
              </a:rPr>
              <a:t>🏆 Champions: 5% churn</a:t>
            </a:r>
            <a:endParaRPr lang="en-US" sz="1200" dirty="0"/>
          </a:p>
        </p:txBody>
      </p:sp>
      <p:sp>
        <p:nvSpPr>
          <p:cNvPr id="14" name="Text 11"/>
          <p:cNvSpPr/>
          <p:nvPr/>
        </p:nvSpPr>
        <p:spPr>
          <a:xfrm>
            <a:off x="5852160" y="3127248"/>
            <a:ext cx="2880360" cy="256032"/>
          </a:xfrm>
          <a:prstGeom prst="rect">
            <a:avLst/>
          </a:prstGeom>
          <a:noFill/>
          <a:ln/>
        </p:spPr>
        <p:txBody>
          <a:bodyPr wrap="square" rtlCol="0" anchor="ctr"/>
          <a:lstStyle/>
          <a:p>
            <a:pPr marL="0" indent="0">
              <a:buNone/>
            </a:pPr>
            <a:r>
              <a:rPr lang="en-US" sz="1000" dirty="0">
                <a:solidFill>
                  <a:srgbClr val="4A5568"/>
                </a:solidFill>
              </a:rPr>
              <a:t>High loyalty. Focus on VIP perks and referral programs.</a:t>
            </a:r>
            <a:endParaRPr lang="en-US" sz="1000" dirty="0"/>
          </a:p>
        </p:txBody>
      </p:sp>
      <p:sp>
        <p:nvSpPr>
          <p:cNvPr id="15" name="Shape 12"/>
          <p:cNvSpPr/>
          <p:nvPr/>
        </p:nvSpPr>
        <p:spPr>
          <a:xfrm>
            <a:off x="5715000" y="3529584"/>
            <a:ext cx="3154680" cy="640080"/>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6" name="Text 13"/>
          <p:cNvSpPr/>
          <p:nvPr/>
        </p:nvSpPr>
        <p:spPr>
          <a:xfrm>
            <a:off x="5852160" y="3584448"/>
            <a:ext cx="2880360" cy="256032"/>
          </a:xfrm>
          <a:prstGeom prst="rect">
            <a:avLst/>
          </a:prstGeom>
          <a:noFill/>
          <a:ln/>
        </p:spPr>
        <p:txBody>
          <a:bodyPr wrap="square" rtlCol="0" anchor="ctr"/>
          <a:lstStyle/>
          <a:p>
            <a:pPr marL="0" indent="0">
              <a:buNone/>
            </a:pPr>
            <a:r>
              <a:rPr lang="en-US" sz="1200" b="1" dirty="0">
                <a:solidFill>
                  <a:srgbClr val="0D1B2A"/>
                </a:solidFill>
              </a:rPr>
              <a:t>AUC-ROC: 0.89</a:t>
            </a:r>
            <a:endParaRPr lang="en-US" sz="1200" dirty="0"/>
          </a:p>
        </p:txBody>
      </p:sp>
      <p:sp>
        <p:nvSpPr>
          <p:cNvPr id="17" name="Text 14"/>
          <p:cNvSpPr/>
          <p:nvPr/>
        </p:nvSpPr>
        <p:spPr>
          <a:xfrm>
            <a:off x="5852160" y="3877056"/>
            <a:ext cx="2880360" cy="256032"/>
          </a:xfrm>
          <a:prstGeom prst="rect">
            <a:avLst/>
          </a:prstGeom>
          <a:noFill/>
          <a:ln/>
        </p:spPr>
        <p:txBody>
          <a:bodyPr wrap="square" rtlCol="0" anchor="ctr"/>
          <a:lstStyle/>
          <a:p>
            <a:pPr marL="0" indent="0">
              <a:buNone/>
            </a:pPr>
            <a:r>
              <a:rPr lang="en-US" sz="1000" dirty="0">
                <a:solidFill>
                  <a:srgbClr val="4A5568"/>
                </a:solidFill>
              </a:rPr>
              <a:t>XGBoost churn model — strong discriminatory performance.</a:t>
            </a:r>
            <a:endParaRPr lang="en-US" sz="1000" dirty="0"/>
          </a:p>
        </p:txBody>
      </p:sp>
      <p:sp>
        <p:nvSpPr>
          <p:cNvPr id="18" name="Shape 15"/>
          <p:cNvSpPr/>
          <p:nvPr/>
        </p:nvSpPr>
        <p:spPr>
          <a:xfrm>
            <a:off x="457200" y="4462272"/>
            <a:ext cx="8229600" cy="475488"/>
          </a:xfrm>
          <a:prstGeom prst="rect">
            <a:avLst/>
          </a:prstGeom>
          <a:solidFill>
            <a:srgbClr val="E0F4F1"/>
          </a:solidFill>
          <a:ln w="12700">
            <a:solidFill>
              <a:srgbClr val="00A896"/>
            </a:solidFill>
            <a:prstDash val="solid"/>
          </a:ln>
        </p:spPr>
      </p:sp>
      <p:sp>
        <p:nvSpPr>
          <p:cNvPr id="19" name="Text 16"/>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At-Risk customers (28% of base) have 61% churn rate. A targeted win-back campaign could recover an estimated $142K in annual revenue.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STEP 7</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Model Evaluation Summary</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778240" cy="237744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75488">
                <a:tc>
                  <a:txBody>
                    <a:bodyPr/>
                    <a:lstStyle/>
                    <a:p>
                      <a:pPr marL="0" indent="0" algn="ctr">
                        <a:buNone/>
                      </a:pPr>
                      <a:r>
                        <a:rPr lang="en-US" sz="1150" b="1" dirty="0">
                          <a:solidFill>
                            <a:srgbClr val="FFFFFF"/>
                          </a:solidFill>
                        </a:rPr>
                        <a:t>Model</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FFFFFF"/>
                          </a:solidFill>
                        </a:rPr>
                        <a:t>Algorithm</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FFFFFF"/>
                          </a:solidFill>
                        </a:rPr>
                        <a:t>Primary Metric</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FFFFFF"/>
                          </a:solidFill>
                        </a:rPr>
                        <a:t>Score</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tc>
                  <a:txBody>
                    <a:bodyPr/>
                    <a:lstStyle/>
                    <a:p>
                      <a:pPr marL="0" indent="0" algn="ctr">
                        <a:buNone/>
                      </a:pPr>
                      <a:r>
                        <a:rPr lang="en-US" sz="1150" b="1" dirty="0">
                          <a:solidFill>
                            <a:srgbClr val="FFFFFF"/>
                          </a:solidFill>
                        </a:rPr>
                        <a:t>Status</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75488">
                <a:tc>
                  <a:txBody>
                    <a:bodyPr/>
                    <a:lstStyle/>
                    <a:p>
                      <a:pPr marL="0" indent="0" algn="ctr">
                        <a:buNone/>
                      </a:pPr>
                      <a:r>
                        <a:rPr lang="en-US" sz="1150" dirty="0">
                          <a:solidFill>
                            <a:srgbClr val="4A5568"/>
                          </a:solidFill>
                        </a:rPr>
                        <a:t>Sales Forecasting</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XGBoost Regressor</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R² / RMSE</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0.94 / $2,340</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 Production Ready</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150" dirty="0">
                          <a:solidFill>
                            <a:srgbClr val="4A5568"/>
                          </a:solidFill>
                        </a:rPr>
                        <a:t>Customer Segmentation</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K-Means (k=4)</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Silhouette Score</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0.62</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 Deployed</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150" dirty="0">
                          <a:solidFill>
                            <a:srgbClr val="4A5568"/>
                          </a:solidFill>
                        </a:rPr>
                        <a:t>Purchase Prediction</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Random Forest</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Accuracy / F1</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87% / 0.85</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 Production Ready</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150" dirty="0">
                          <a:solidFill>
                            <a:srgbClr val="4A5568"/>
                          </a:solidFill>
                        </a:rPr>
                        <a:t>Churn Analysis</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XGBoost Classifier</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AUC-ROC</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0.89</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150" dirty="0">
                          <a:solidFill>
                            <a:srgbClr val="4A5568"/>
                          </a:solidFill>
                        </a:rPr>
                        <a:t>✅ Production Ready</a:t>
                      </a:r>
                      <a:endParaRPr lang="en-US" sz="11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457200" y="3794760"/>
            <a:ext cx="8229600" cy="475488"/>
          </a:xfrm>
          <a:prstGeom prst="rect">
            <a:avLst/>
          </a:prstGeom>
          <a:solidFill>
            <a:srgbClr val="E0F4F1"/>
          </a:solidFill>
          <a:ln w="12700">
            <a:solidFill>
              <a:srgbClr val="00A896"/>
            </a:solidFill>
            <a:prstDash val="solid"/>
          </a:ln>
        </p:spPr>
      </p:sp>
      <p:sp>
        <p:nvSpPr>
          <p:cNvPr id="7" name="Text 4"/>
          <p:cNvSpPr/>
          <p:nvPr/>
        </p:nvSpPr>
        <p:spPr>
          <a:xfrm>
            <a:off x="548640" y="3794760"/>
            <a:ext cx="8046720" cy="475488"/>
          </a:xfrm>
          <a:prstGeom prst="rect">
            <a:avLst/>
          </a:prstGeom>
          <a:noFill/>
          <a:ln/>
        </p:spPr>
        <p:txBody>
          <a:bodyPr wrap="square" rtlCol="0" anchor="ctr"/>
          <a:lstStyle/>
          <a:p>
            <a:pPr marL="0" indent="0">
              <a:buNone/>
            </a:pPr>
            <a:r>
              <a:rPr lang="en-US" sz="1050" dirty="0">
                <a:solidFill>
                  <a:srgbClr val="1A4D5C"/>
                </a:solidFill>
              </a:rPr>
              <a:t>All 4 models meet production thresholds. Key finding: the 3 top predictors across all models (Frequency, Recency, Avg Spend) are RFM features derived from the full, duplicate-retained transaction dataset.</a:t>
            </a:r>
            <a:endParaRPr lang="en-US" sz="1050" dirty="0"/>
          </a:p>
        </p:txBody>
      </p:sp>
      <p:sp>
        <p:nvSpPr>
          <p:cNvPr id="8" name="Shape 5"/>
          <p:cNvSpPr/>
          <p:nvPr/>
        </p:nvSpPr>
        <p:spPr>
          <a:xfrm>
            <a:off x="457200" y="4462272"/>
            <a:ext cx="8229600" cy="475488"/>
          </a:xfrm>
          <a:prstGeom prst="rect">
            <a:avLst/>
          </a:prstGeom>
          <a:solidFill>
            <a:srgbClr val="E0F4F1"/>
          </a:solidFill>
          <a:ln w="12700">
            <a:solidFill>
              <a:srgbClr val="00A896"/>
            </a:solidFill>
            <a:prstDash val="solid"/>
          </a:ln>
        </p:spPr>
      </p:sp>
      <p:sp>
        <p:nvSpPr>
          <p:cNvPr id="9" name="Text 6"/>
          <p:cNvSpPr/>
          <p:nvPr/>
        </p:nvSpPr>
        <p:spPr>
          <a:xfrm>
            <a:off x="548640" y="4462272"/>
            <a:ext cx="8046720" cy="475488"/>
          </a:xfrm>
          <a:prstGeom prst="rect">
            <a:avLst/>
          </a:prstGeom>
          <a:noFill/>
          <a:ln/>
        </p:spPr>
        <p:txBody>
          <a:bodyPr wrap="square" rtlCol="0" anchor="ctr"/>
          <a:lstStyle/>
          <a:p>
            <a:pPr marL="0" indent="0">
              <a:buNone/>
            </a:pPr>
            <a:r>
              <a:rPr lang="en-US" sz="1000" i="1" dirty="0">
                <a:solidFill>
                  <a:srgbClr val="1A4D5C"/>
                </a:solidFill>
              </a:rPr>
              <a:t>📌  80/20 train-test split with 5-fold cross-validation used throughout. XGBoost consistently outperformed simpler baseline models on both tasks.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457200" y="201168"/>
            <a:ext cx="2103120" cy="274320"/>
          </a:xfrm>
          <a:prstGeom prst="rect">
            <a:avLst/>
          </a:prstGeom>
          <a:solidFill>
            <a:srgbClr val="00A896"/>
          </a:solidFill>
          <a:ln w="12700">
            <a:solidFill>
              <a:srgbClr val="00A896"/>
            </a:solidFill>
            <a:prstDash val="solid"/>
          </a:ln>
        </p:spPr>
      </p:sp>
      <p:sp>
        <p:nvSpPr>
          <p:cNvPr id="3" name="Text 1"/>
          <p:cNvSpPr/>
          <p:nvPr/>
        </p:nvSpPr>
        <p:spPr>
          <a:xfrm>
            <a:off x="457200" y="201168"/>
            <a:ext cx="2103120" cy="274320"/>
          </a:xfrm>
          <a:prstGeom prst="rect">
            <a:avLst/>
          </a:prstGeom>
          <a:noFill/>
          <a:ln/>
        </p:spPr>
        <p:txBody>
          <a:bodyPr wrap="square" rtlCol="0" anchor="ctr"/>
          <a:lstStyle/>
          <a:p>
            <a:pPr marL="0" indent="0" algn="ctr">
              <a:buNone/>
            </a:pPr>
            <a:r>
              <a:rPr lang="en-US" sz="900" b="1" kern="0" spc="200" dirty="0">
                <a:solidFill>
                  <a:srgbClr val="FFFFFF"/>
                </a:solidFill>
              </a:rPr>
              <a:t>INSIGHTS</a:t>
            </a:r>
            <a:endParaRPr lang="en-US" sz="900" dirty="0"/>
          </a:p>
        </p:txBody>
      </p:sp>
      <p:sp>
        <p:nvSpPr>
          <p:cNvPr id="4" name="Text 2"/>
          <p:cNvSpPr/>
          <p:nvPr/>
        </p:nvSpPr>
        <p:spPr>
          <a:xfrm>
            <a:off x="457200" y="566928"/>
            <a:ext cx="8229600" cy="594360"/>
          </a:xfrm>
          <a:prstGeom prst="rect">
            <a:avLst/>
          </a:prstGeom>
          <a:noFill/>
          <a:ln/>
        </p:spPr>
        <p:txBody>
          <a:bodyPr wrap="square" rtlCol="0" anchor="ctr"/>
          <a:lstStyle/>
          <a:p>
            <a:pPr marL="0" indent="0" algn="l">
              <a:buNone/>
            </a:pPr>
            <a:r>
              <a:rPr lang="en-US" sz="2700" b="1" dirty="0">
                <a:solidFill>
                  <a:srgbClr val="0D1B2A"/>
                </a:solidFill>
              </a:rPr>
              <a:t>Key Business Insights &amp; Recommendations</a:t>
            </a:r>
            <a:endParaRPr lang="en-US" sz="2700" dirty="0"/>
          </a:p>
        </p:txBody>
      </p:sp>
      <p:sp>
        <p:nvSpPr>
          <p:cNvPr id="5" name="Shape 3"/>
          <p:cNvSpPr/>
          <p:nvPr/>
        </p:nvSpPr>
        <p:spPr>
          <a:xfrm>
            <a:off x="457200" y="1298448"/>
            <a:ext cx="4114800" cy="107899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6" name="Shape 4"/>
          <p:cNvSpPr/>
          <p:nvPr/>
        </p:nvSpPr>
        <p:spPr>
          <a:xfrm>
            <a:off x="566928" y="1389888"/>
            <a:ext cx="347472" cy="347472"/>
          </a:xfrm>
          <a:prstGeom prst="ellipse">
            <a:avLst/>
          </a:prstGeom>
          <a:solidFill>
            <a:srgbClr val="00A896"/>
          </a:solidFill>
          <a:ln w="12700">
            <a:solidFill>
              <a:srgbClr val="00A896"/>
            </a:solidFill>
            <a:prstDash val="solid"/>
          </a:ln>
        </p:spPr>
      </p:sp>
      <p:sp>
        <p:nvSpPr>
          <p:cNvPr id="7" name="Text 5"/>
          <p:cNvSpPr/>
          <p:nvPr/>
        </p:nvSpPr>
        <p:spPr>
          <a:xfrm>
            <a:off x="566928" y="1389888"/>
            <a:ext cx="347472" cy="347472"/>
          </a:xfrm>
          <a:prstGeom prst="rect">
            <a:avLst/>
          </a:prstGeom>
          <a:noFill/>
          <a:ln/>
        </p:spPr>
        <p:txBody>
          <a:bodyPr wrap="square" rtlCol="0" anchor="ctr"/>
          <a:lstStyle/>
          <a:p>
            <a:pPr marL="0" indent="0" algn="ctr">
              <a:buNone/>
            </a:pPr>
            <a:r>
              <a:rPr lang="en-US" sz="1100" b="1" dirty="0">
                <a:solidFill>
                  <a:srgbClr val="FFFFFF"/>
                </a:solidFill>
              </a:rPr>
              <a:t>01</a:t>
            </a:r>
            <a:endParaRPr lang="en-US" sz="1100" dirty="0"/>
          </a:p>
        </p:txBody>
      </p:sp>
      <p:sp>
        <p:nvSpPr>
          <p:cNvPr id="8" name="Text 6"/>
          <p:cNvSpPr/>
          <p:nvPr/>
        </p:nvSpPr>
        <p:spPr>
          <a:xfrm>
            <a:off x="1024128" y="1389888"/>
            <a:ext cx="3383280" cy="292608"/>
          </a:xfrm>
          <a:prstGeom prst="rect">
            <a:avLst/>
          </a:prstGeom>
          <a:noFill/>
          <a:ln/>
        </p:spPr>
        <p:txBody>
          <a:bodyPr wrap="square" rtlCol="0" anchor="ctr"/>
          <a:lstStyle/>
          <a:p>
            <a:pPr marL="0" indent="0">
              <a:buNone/>
            </a:pPr>
            <a:r>
              <a:rPr lang="en-US" sz="1200" b="1" dirty="0">
                <a:solidFill>
                  <a:srgbClr val="0D1B2A"/>
                </a:solidFill>
              </a:rPr>
              <a:t>Invest in Electronics &amp; Clothing</a:t>
            </a:r>
            <a:endParaRPr lang="en-US" sz="1200" dirty="0"/>
          </a:p>
        </p:txBody>
      </p:sp>
      <p:sp>
        <p:nvSpPr>
          <p:cNvPr id="9" name="Text 7"/>
          <p:cNvSpPr/>
          <p:nvPr/>
        </p:nvSpPr>
        <p:spPr>
          <a:xfrm>
            <a:off x="566928" y="1737360"/>
            <a:ext cx="3886200" cy="566928"/>
          </a:xfrm>
          <a:prstGeom prst="rect">
            <a:avLst/>
          </a:prstGeom>
          <a:noFill/>
          <a:ln/>
        </p:spPr>
        <p:txBody>
          <a:bodyPr wrap="square" rtlCol="0" anchor="ctr"/>
          <a:lstStyle/>
          <a:p>
            <a:pPr marL="0" indent="0">
              <a:buNone/>
            </a:pPr>
            <a:r>
              <a:rPr lang="en-US" sz="1000" dirty="0">
                <a:solidFill>
                  <a:srgbClr val="4A5568"/>
                </a:solidFill>
              </a:rPr>
              <a:t>These 2 categories drive 47% of revenue. Expand SKUs, negotiate supplier rates, and create category bundles to boost basket size.</a:t>
            </a:r>
            <a:endParaRPr lang="en-US" sz="1000" dirty="0"/>
          </a:p>
        </p:txBody>
      </p:sp>
      <p:sp>
        <p:nvSpPr>
          <p:cNvPr id="10" name="Shape 8"/>
          <p:cNvSpPr/>
          <p:nvPr/>
        </p:nvSpPr>
        <p:spPr>
          <a:xfrm>
            <a:off x="4800600" y="1298448"/>
            <a:ext cx="4114800" cy="107899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1" name="Shape 9"/>
          <p:cNvSpPr/>
          <p:nvPr/>
        </p:nvSpPr>
        <p:spPr>
          <a:xfrm>
            <a:off x="4910328" y="1389888"/>
            <a:ext cx="347472" cy="347472"/>
          </a:xfrm>
          <a:prstGeom prst="ellipse">
            <a:avLst/>
          </a:prstGeom>
          <a:solidFill>
            <a:srgbClr val="00A896"/>
          </a:solidFill>
          <a:ln w="12700">
            <a:solidFill>
              <a:srgbClr val="00A896"/>
            </a:solidFill>
            <a:prstDash val="solid"/>
          </a:ln>
        </p:spPr>
      </p:sp>
      <p:sp>
        <p:nvSpPr>
          <p:cNvPr id="12" name="Text 10"/>
          <p:cNvSpPr/>
          <p:nvPr/>
        </p:nvSpPr>
        <p:spPr>
          <a:xfrm>
            <a:off x="4910328" y="1389888"/>
            <a:ext cx="347472" cy="347472"/>
          </a:xfrm>
          <a:prstGeom prst="rect">
            <a:avLst/>
          </a:prstGeom>
          <a:noFill/>
          <a:ln/>
        </p:spPr>
        <p:txBody>
          <a:bodyPr wrap="square" rtlCol="0" anchor="ctr"/>
          <a:lstStyle/>
          <a:p>
            <a:pPr marL="0" indent="0" algn="ctr">
              <a:buNone/>
            </a:pPr>
            <a:r>
              <a:rPr lang="en-US" sz="1100" b="1" dirty="0">
                <a:solidFill>
                  <a:srgbClr val="FFFFFF"/>
                </a:solidFill>
              </a:rPr>
              <a:t>02</a:t>
            </a:r>
            <a:endParaRPr lang="en-US" sz="1100" dirty="0"/>
          </a:p>
        </p:txBody>
      </p:sp>
      <p:sp>
        <p:nvSpPr>
          <p:cNvPr id="13" name="Text 11"/>
          <p:cNvSpPr/>
          <p:nvPr/>
        </p:nvSpPr>
        <p:spPr>
          <a:xfrm>
            <a:off x="5367528" y="1389888"/>
            <a:ext cx="3383280" cy="292608"/>
          </a:xfrm>
          <a:prstGeom prst="rect">
            <a:avLst/>
          </a:prstGeom>
          <a:noFill/>
          <a:ln/>
        </p:spPr>
        <p:txBody>
          <a:bodyPr wrap="square" rtlCol="0" anchor="ctr"/>
          <a:lstStyle/>
          <a:p>
            <a:pPr marL="0" indent="0">
              <a:buNone/>
            </a:pPr>
            <a:r>
              <a:rPr lang="en-US" sz="1200" b="1" dirty="0">
                <a:solidFill>
                  <a:srgbClr val="0D1B2A"/>
                </a:solidFill>
              </a:rPr>
              <a:t>Re-engage the At-Risk Segment</a:t>
            </a:r>
            <a:endParaRPr lang="en-US" sz="1200" dirty="0"/>
          </a:p>
        </p:txBody>
      </p:sp>
      <p:sp>
        <p:nvSpPr>
          <p:cNvPr id="14" name="Text 12"/>
          <p:cNvSpPr/>
          <p:nvPr/>
        </p:nvSpPr>
        <p:spPr>
          <a:xfrm>
            <a:off x="4910328" y="1737360"/>
            <a:ext cx="3886200" cy="566928"/>
          </a:xfrm>
          <a:prstGeom prst="rect">
            <a:avLst/>
          </a:prstGeom>
          <a:noFill/>
          <a:ln/>
        </p:spPr>
        <p:txBody>
          <a:bodyPr wrap="square" rtlCol="0" anchor="ctr"/>
          <a:lstStyle/>
          <a:p>
            <a:pPr marL="0" indent="0">
              <a:buNone/>
            </a:pPr>
            <a:r>
              <a:rPr lang="en-US" sz="1000" dirty="0">
                <a:solidFill>
                  <a:srgbClr val="4A5568"/>
                </a:solidFill>
              </a:rPr>
              <a:t>28% of customers are dormant with 61% churn rate. Personalised 15–20% discount win-back emails can recover an estimated $142K annually.</a:t>
            </a:r>
            <a:endParaRPr lang="en-US" sz="1000" dirty="0"/>
          </a:p>
        </p:txBody>
      </p:sp>
      <p:sp>
        <p:nvSpPr>
          <p:cNvPr id="15" name="Shape 13"/>
          <p:cNvSpPr/>
          <p:nvPr/>
        </p:nvSpPr>
        <p:spPr>
          <a:xfrm>
            <a:off x="457200" y="2468880"/>
            <a:ext cx="4114800" cy="107899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16" name="Shape 14"/>
          <p:cNvSpPr/>
          <p:nvPr/>
        </p:nvSpPr>
        <p:spPr>
          <a:xfrm>
            <a:off x="566928" y="2560320"/>
            <a:ext cx="347472" cy="347472"/>
          </a:xfrm>
          <a:prstGeom prst="ellipse">
            <a:avLst/>
          </a:prstGeom>
          <a:solidFill>
            <a:srgbClr val="00A896"/>
          </a:solidFill>
          <a:ln w="12700">
            <a:solidFill>
              <a:srgbClr val="00A896"/>
            </a:solidFill>
            <a:prstDash val="solid"/>
          </a:ln>
        </p:spPr>
      </p:sp>
      <p:sp>
        <p:nvSpPr>
          <p:cNvPr id="17" name="Text 15"/>
          <p:cNvSpPr/>
          <p:nvPr/>
        </p:nvSpPr>
        <p:spPr>
          <a:xfrm>
            <a:off x="566928" y="2560320"/>
            <a:ext cx="347472" cy="347472"/>
          </a:xfrm>
          <a:prstGeom prst="rect">
            <a:avLst/>
          </a:prstGeom>
          <a:noFill/>
          <a:ln/>
        </p:spPr>
        <p:txBody>
          <a:bodyPr wrap="square" rtlCol="0" anchor="ctr"/>
          <a:lstStyle/>
          <a:p>
            <a:pPr marL="0" indent="0" algn="ctr">
              <a:buNone/>
            </a:pPr>
            <a:r>
              <a:rPr lang="en-US" sz="1100" b="1" dirty="0">
                <a:solidFill>
                  <a:srgbClr val="FFFFFF"/>
                </a:solidFill>
              </a:rPr>
              <a:t>03</a:t>
            </a:r>
            <a:endParaRPr lang="en-US" sz="1100" dirty="0"/>
          </a:p>
        </p:txBody>
      </p:sp>
      <p:sp>
        <p:nvSpPr>
          <p:cNvPr id="18" name="Text 16"/>
          <p:cNvSpPr/>
          <p:nvPr/>
        </p:nvSpPr>
        <p:spPr>
          <a:xfrm>
            <a:off x="1024128" y="2560320"/>
            <a:ext cx="3383280" cy="292608"/>
          </a:xfrm>
          <a:prstGeom prst="rect">
            <a:avLst/>
          </a:prstGeom>
          <a:noFill/>
          <a:ln/>
        </p:spPr>
        <p:txBody>
          <a:bodyPr wrap="square" rtlCol="0" anchor="ctr"/>
          <a:lstStyle/>
          <a:p>
            <a:pPr marL="0" indent="0">
              <a:buNone/>
            </a:pPr>
            <a:r>
              <a:rPr lang="en-US" sz="1200" b="1" dirty="0">
                <a:solidFill>
                  <a:srgbClr val="0D1B2A"/>
                </a:solidFill>
              </a:rPr>
              <a:t>Prepare Inventory for Q4 Early</a:t>
            </a:r>
            <a:endParaRPr lang="en-US" sz="1200" dirty="0"/>
          </a:p>
        </p:txBody>
      </p:sp>
      <p:sp>
        <p:nvSpPr>
          <p:cNvPr id="19" name="Text 17"/>
          <p:cNvSpPr/>
          <p:nvPr/>
        </p:nvSpPr>
        <p:spPr>
          <a:xfrm>
            <a:off x="566928" y="2907792"/>
            <a:ext cx="3886200" cy="566928"/>
          </a:xfrm>
          <a:prstGeom prst="rect">
            <a:avLst/>
          </a:prstGeom>
          <a:noFill/>
          <a:ln/>
        </p:spPr>
        <p:txBody>
          <a:bodyPr wrap="square" rtlCol="0" anchor="ctr"/>
          <a:lstStyle/>
          <a:p>
            <a:pPr marL="0" indent="0">
              <a:buNone/>
            </a:pPr>
            <a:r>
              <a:rPr lang="en-US" sz="1000" dirty="0">
                <a:solidFill>
                  <a:srgbClr val="4A5568"/>
                </a:solidFill>
              </a:rPr>
              <a:t>Oct–Dec contributes ~40% of annual revenue. Begin stock buildup in September and launch pre-holiday campaigns in October.</a:t>
            </a:r>
            <a:endParaRPr lang="en-US" sz="1000" dirty="0"/>
          </a:p>
        </p:txBody>
      </p:sp>
      <p:sp>
        <p:nvSpPr>
          <p:cNvPr id="20" name="Shape 18"/>
          <p:cNvSpPr/>
          <p:nvPr/>
        </p:nvSpPr>
        <p:spPr>
          <a:xfrm>
            <a:off x="4800600" y="2468880"/>
            <a:ext cx="4114800" cy="107899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21" name="Shape 19"/>
          <p:cNvSpPr/>
          <p:nvPr/>
        </p:nvSpPr>
        <p:spPr>
          <a:xfrm>
            <a:off x="4910328" y="2560320"/>
            <a:ext cx="347472" cy="347472"/>
          </a:xfrm>
          <a:prstGeom prst="ellipse">
            <a:avLst/>
          </a:prstGeom>
          <a:solidFill>
            <a:srgbClr val="00A896"/>
          </a:solidFill>
          <a:ln w="12700">
            <a:solidFill>
              <a:srgbClr val="00A896"/>
            </a:solidFill>
            <a:prstDash val="solid"/>
          </a:ln>
        </p:spPr>
      </p:sp>
      <p:sp>
        <p:nvSpPr>
          <p:cNvPr id="22" name="Text 20"/>
          <p:cNvSpPr/>
          <p:nvPr/>
        </p:nvSpPr>
        <p:spPr>
          <a:xfrm>
            <a:off x="4910328" y="2560320"/>
            <a:ext cx="347472" cy="347472"/>
          </a:xfrm>
          <a:prstGeom prst="rect">
            <a:avLst/>
          </a:prstGeom>
          <a:noFill/>
          <a:ln/>
        </p:spPr>
        <p:txBody>
          <a:bodyPr wrap="square" rtlCol="0" anchor="ctr"/>
          <a:lstStyle/>
          <a:p>
            <a:pPr marL="0" indent="0" algn="ctr">
              <a:buNone/>
            </a:pPr>
            <a:r>
              <a:rPr lang="en-US" sz="1100" b="1" dirty="0">
                <a:solidFill>
                  <a:srgbClr val="FFFFFF"/>
                </a:solidFill>
              </a:rPr>
              <a:t>04</a:t>
            </a:r>
            <a:endParaRPr lang="en-US" sz="1100" dirty="0"/>
          </a:p>
        </p:txBody>
      </p:sp>
      <p:sp>
        <p:nvSpPr>
          <p:cNvPr id="23" name="Text 21"/>
          <p:cNvSpPr/>
          <p:nvPr/>
        </p:nvSpPr>
        <p:spPr>
          <a:xfrm>
            <a:off x="5367528" y="2560320"/>
            <a:ext cx="3383280" cy="292608"/>
          </a:xfrm>
          <a:prstGeom prst="rect">
            <a:avLst/>
          </a:prstGeom>
          <a:noFill/>
          <a:ln/>
        </p:spPr>
        <p:txBody>
          <a:bodyPr wrap="square" rtlCol="0" anchor="ctr"/>
          <a:lstStyle/>
          <a:p>
            <a:pPr marL="0" indent="0">
              <a:buNone/>
            </a:pPr>
            <a:r>
              <a:rPr lang="en-US" sz="1200" b="1" dirty="0">
                <a:solidFill>
                  <a:srgbClr val="0D1B2A"/>
                </a:solidFill>
              </a:rPr>
              <a:t>Precision Discount Strategy</a:t>
            </a:r>
            <a:endParaRPr lang="en-US" sz="1200" dirty="0"/>
          </a:p>
        </p:txBody>
      </p:sp>
      <p:sp>
        <p:nvSpPr>
          <p:cNvPr id="24" name="Text 22"/>
          <p:cNvSpPr/>
          <p:nvPr/>
        </p:nvSpPr>
        <p:spPr>
          <a:xfrm>
            <a:off x="4910328" y="2907792"/>
            <a:ext cx="3886200" cy="566928"/>
          </a:xfrm>
          <a:prstGeom prst="rect">
            <a:avLst/>
          </a:prstGeom>
          <a:noFill/>
          <a:ln/>
        </p:spPr>
        <p:txBody>
          <a:bodyPr wrap="square" rtlCol="0" anchor="ctr"/>
          <a:lstStyle/>
          <a:p>
            <a:pPr marL="0" indent="0">
              <a:buNone/>
            </a:pPr>
            <a:r>
              <a:rPr lang="en-US" sz="1000" dirty="0">
                <a:solidFill>
                  <a:srgbClr val="4A5568"/>
                </a:solidFill>
              </a:rPr>
              <a:t>Replace blanket discounts with targeted offers. Apply discounts to At-Risk and high-frequency buyers only — protect margins on Champions.</a:t>
            </a:r>
            <a:endParaRPr lang="en-US" sz="1000" dirty="0"/>
          </a:p>
        </p:txBody>
      </p:sp>
      <p:sp>
        <p:nvSpPr>
          <p:cNvPr id="25" name="Shape 23"/>
          <p:cNvSpPr/>
          <p:nvPr/>
        </p:nvSpPr>
        <p:spPr>
          <a:xfrm>
            <a:off x="457200" y="3639312"/>
            <a:ext cx="4114800" cy="107899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26" name="Shape 24"/>
          <p:cNvSpPr/>
          <p:nvPr/>
        </p:nvSpPr>
        <p:spPr>
          <a:xfrm>
            <a:off x="566928" y="3730752"/>
            <a:ext cx="347472" cy="347472"/>
          </a:xfrm>
          <a:prstGeom prst="ellipse">
            <a:avLst/>
          </a:prstGeom>
          <a:solidFill>
            <a:srgbClr val="00A896"/>
          </a:solidFill>
          <a:ln w="12700">
            <a:solidFill>
              <a:srgbClr val="00A896"/>
            </a:solidFill>
            <a:prstDash val="solid"/>
          </a:ln>
        </p:spPr>
      </p:sp>
      <p:sp>
        <p:nvSpPr>
          <p:cNvPr id="27" name="Text 25"/>
          <p:cNvSpPr/>
          <p:nvPr/>
        </p:nvSpPr>
        <p:spPr>
          <a:xfrm>
            <a:off x="566928" y="3730752"/>
            <a:ext cx="347472" cy="347472"/>
          </a:xfrm>
          <a:prstGeom prst="rect">
            <a:avLst/>
          </a:prstGeom>
          <a:noFill/>
          <a:ln/>
        </p:spPr>
        <p:txBody>
          <a:bodyPr wrap="square" rtlCol="0" anchor="ctr"/>
          <a:lstStyle/>
          <a:p>
            <a:pPr marL="0" indent="0" algn="ctr">
              <a:buNone/>
            </a:pPr>
            <a:r>
              <a:rPr lang="en-US" sz="1100" b="1" dirty="0">
                <a:solidFill>
                  <a:srgbClr val="FFFFFF"/>
                </a:solidFill>
              </a:rPr>
              <a:t>05</a:t>
            </a:r>
            <a:endParaRPr lang="en-US" sz="1100" dirty="0"/>
          </a:p>
        </p:txBody>
      </p:sp>
      <p:sp>
        <p:nvSpPr>
          <p:cNvPr id="28" name="Text 26"/>
          <p:cNvSpPr/>
          <p:nvPr/>
        </p:nvSpPr>
        <p:spPr>
          <a:xfrm>
            <a:off x="1024128" y="3730752"/>
            <a:ext cx="3383280" cy="292608"/>
          </a:xfrm>
          <a:prstGeom prst="rect">
            <a:avLst/>
          </a:prstGeom>
          <a:noFill/>
          <a:ln/>
        </p:spPr>
        <p:txBody>
          <a:bodyPr wrap="square" rtlCol="0" anchor="ctr"/>
          <a:lstStyle/>
          <a:p>
            <a:pPr marL="0" indent="0">
              <a:buNone/>
            </a:pPr>
            <a:r>
              <a:rPr lang="en-US" sz="1200" b="1" dirty="0">
                <a:solidFill>
                  <a:srgbClr val="0D1B2A"/>
                </a:solidFill>
              </a:rPr>
              <a:t>Grow the Northeast Region</a:t>
            </a:r>
            <a:endParaRPr lang="en-US" sz="1200" dirty="0"/>
          </a:p>
        </p:txBody>
      </p:sp>
      <p:sp>
        <p:nvSpPr>
          <p:cNvPr id="29" name="Text 27"/>
          <p:cNvSpPr/>
          <p:nvPr/>
        </p:nvSpPr>
        <p:spPr>
          <a:xfrm>
            <a:off x="566928" y="4078224"/>
            <a:ext cx="3886200" cy="566928"/>
          </a:xfrm>
          <a:prstGeom prst="rect">
            <a:avLst/>
          </a:prstGeom>
          <a:noFill/>
          <a:ln/>
        </p:spPr>
        <p:txBody>
          <a:bodyPr wrap="square" rtlCol="0" anchor="ctr"/>
          <a:lstStyle/>
          <a:p>
            <a:pPr marL="0" indent="0">
              <a:buNone/>
            </a:pPr>
            <a:r>
              <a:rPr lang="en-US" sz="1000" dirty="0">
                <a:solidFill>
                  <a:srgbClr val="4A5568"/>
                </a:solidFill>
              </a:rPr>
              <a:t>Lowest-performing region. Targeted digital ads + lowering free-shipping threshold to $50 could add $30K+ in incremental revenue.</a:t>
            </a:r>
            <a:endParaRPr lang="en-US" sz="1000" dirty="0"/>
          </a:p>
        </p:txBody>
      </p:sp>
      <p:sp>
        <p:nvSpPr>
          <p:cNvPr id="30" name="Shape 28"/>
          <p:cNvSpPr/>
          <p:nvPr/>
        </p:nvSpPr>
        <p:spPr>
          <a:xfrm>
            <a:off x="4800600" y="3639312"/>
            <a:ext cx="4114800" cy="1078992"/>
          </a:xfrm>
          <a:prstGeom prst="rect">
            <a:avLst/>
          </a:prstGeom>
          <a:solidFill>
            <a:srgbClr val="FFFFFF"/>
          </a:solidFill>
          <a:ln w="12700">
            <a:solidFill>
              <a:srgbClr val="E2E8F0"/>
            </a:solidFill>
            <a:prstDash val="solid"/>
          </a:ln>
          <a:effectLst>
            <a:outerShdw blurRad="101600" dist="38100" dir="8100000" algn="bl" rotWithShape="0">
              <a:srgbClr val="000000">
                <a:alpha val="16000"/>
              </a:srgbClr>
            </a:outerShdw>
          </a:effectLst>
        </p:spPr>
      </p:sp>
      <p:sp>
        <p:nvSpPr>
          <p:cNvPr id="31" name="Shape 29"/>
          <p:cNvSpPr/>
          <p:nvPr/>
        </p:nvSpPr>
        <p:spPr>
          <a:xfrm>
            <a:off x="4910328" y="3730752"/>
            <a:ext cx="347472" cy="347472"/>
          </a:xfrm>
          <a:prstGeom prst="ellipse">
            <a:avLst/>
          </a:prstGeom>
          <a:solidFill>
            <a:srgbClr val="00A896"/>
          </a:solidFill>
          <a:ln w="12700">
            <a:solidFill>
              <a:srgbClr val="00A896"/>
            </a:solidFill>
            <a:prstDash val="solid"/>
          </a:ln>
        </p:spPr>
      </p:sp>
      <p:sp>
        <p:nvSpPr>
          <p:cNvPr id="32" name="Text 30"/>
          <p:cNvSpPr/>
          <p:nvPr/>
        </p:nvSpPr>
        <p:spPr>
          <a:xfrm>
            <a:off x="4910328" y="3730752"/>
            <a:ext cx="347472" cy="347472"/>
          </a:xfrm>
          <a:prstGeom prst="rect">
            <a:avLst/>
          </a:prstGeom>
          <a:noFill/>
          <a:ln/>
        </p:spPr>
        <p:txBody>
          <a:bodyPr wrap="square" rtlCol="0" anchor="ctr"/>
          <a:lstStyle/>
          <a:p>
            <a:pPr marL="0" indent="0" algn="ctr">
              <a:buNone/>
            </a:pPr>
            <a:r>
              <a:rPr lang="en-US" sz="1100" b="1" dirty="0">
                <a:solidFill>
                  <a:srgbClr val="FFFFFF"/>
                </a:solidFill>
              </a:rPr>
              <a:t>06</a:t>
            </a:r>
            <a:endParaRPr lang="en-US" sz="1100" dirty="0"/>
          </a:p>
        </p:txBody>
      </p:sp>
      <p:sp>
        <p:nvSpPr>
          <p:cNvPr id="33" name="Text 31"/>
          <p:cNvSpPr/>
          <p:nvPr/>
        </p:nvSpPr>
        <p:spPr>
          <a:xfrm>
            <a:off x="5367528" y="3730752"/>
            <a:ext cx="3383280" cy="292608"/>
          </a:xfrm>
          <a:prstGeom prst="rect">
            <a:avLst/>
          </a:prstGeom>
          <a:noFill/>
          <a:ln/>
        </p:spPr>
        <p:txBody>
          <a:bodyPr wrap="square" rtlCol="0" anchor="ctr"/>
          <a:lstStyle/>
          <a:p>
            <a:pPr marL="0" indent="0">
              <a:buNone/>
            </a:pPr>
            <a:r>
              <a:rPr lang="en-US" sz="1200" b="1" dirty="0">
                <a:solidFill>
                  <a:srgbClr val="0D1B2A"/>
                </a:solidFill>
              </a:rPr>
              <a:t>Expand Loyalty Programme</a:t>
            </a:r>
            <a:endParaRPr lang="en-US" sz="1200" dirty="0"/>
          </a:p>
        </p:txBody>
      </p:sp>
      <p:sp>
        <p:nvSpPr>
          <p:cNvPr id="34" name="Text 32"/>
          <p:cNvSpPr/>
          <p:nvPr/>
        </p:nvSpPr>
        <p:spPr>
          <a:xfrm>
            <a:off x="4910328" y="4078224"/>
            <a:ext cx="3886200" cy="566928"/>
          </a:xfrm>
          <a:prstGeom prst="rect">
            <a:avLst/>
          </a:prstGeom>
          <a:noFill/>
          <a:ln/>
        </p:spPr>
        <p:txBody>
          <a:bodyPr wrap="square" rtlCol="0" anchor="ctr"/>
          <a:lstStyle/>
          <a:p>
            <a:pPr marL="0" indent="0">
              <a:buNone/>
            </a:pPr>
            <a:r>
              <a:rPr lang="en-US" sz="1000" dirty="0">
                <a:solidFill>
                  <a:srgbClr val="4A5568"/>
                </a:solidFill>
              </a:rPr>
              <a:t>Champions (22%) spend 2.5× more. VIP perks, early access, and referral bonuses will deepen loyalty and reduce their already-low 5% churn.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sp>
      <p:sp>
        <p:nvSpPr>
          <p:cNvPr id="3" name="Shape 1"/>
          <p:cNvSpPr/>
          <p:nvPr/>
        </p:nvSpPr>
        <p:spPr>
          <a:xfrm>
            <a:off x="6492240" y="91440"/>
            <a:ext cx="2926080" cy="2926080"/>
          </a:xfrm>
          <a:prstGeom prst="ellipse">
            <a:avLst/>
          </a:prstGeom>
          <a:solidFill>
            <a:srgbClr val="00A896">
              <a:alpha val="10000"/>
            </a:srgbClr>
          </a:solidFill>
          <a:ln w="12700">
            <a:solidFill>
              <a:srgbClr val="00A896">
                <a:alpha val="25000"/>
              </a:srgbClr>
            </a:solidFill>
            <a:prstDash val="solid"/>
          </a:ln>
        </p:spPr>
      </p:sp>
      <p:sp>
        <p:nvSpPr>
          <p:cNvPr id="4" name="Shape 2"/>
          <p:cNvSpPr/>
          <p:nvPr/>
        </p:nvSpPr>
        <p:spPr>
          <a:xfrm>
            <a:off x="7315200" y="2377440"/>
            <a:ext cx="1920240" cy="1920240"/>
          </a:xfrm>
          <a:prstGeom prst="ellipse">
            <a:avLst/>
          </a:prstGeom>
          <a:solidFill>
            <a:srgbClr val="F6C90E">
              <a:alpha val="16000"/>
            </a:srgbClr>
          </a:solidFill>
          <a:ln w="12700">
            <a:solidFill>
              <a:srgbClr val="F6C90E">
                <a:alpha val="25000"/>
              </a:srgbClr>
            </a:solidFill>
            <a:prstDash val="solid"/>
          </a:ln>
        </p:spPr>
      </p:sp>
      <p:sp>
        <p:nvSpPr>
          <p:cNvPr id="5" name="Shape 3"/>
          <p:cNvSpPr/>
          <p:nvPr/>
        </p:nvSpPr>
        <p:spPr>
          <a:xfrm>
            <a:off x="457200" y="685800"/>
            <a:ext cx="2103120" cy="301752"/>
          </a:xfrm>
          <a:prstGeom prst="rect">
            <a:avLst/>
          </a:prstGeom>
          <a:solidFill>
            <a:srgbClr val="00A896"/>
          </a:solidFill>
          <a:ln w="12700">
            <a:solidFill>
              <a:srgbClr val="00A896"/>
            </a:solidFill>
            <a:prstDash val="solid"/>
          </a:ln>
        </p:spPr>
      </p:sp>
      <p:sp>
        <p:nvSpPr>
          <p:cNvPr id="6" name="Text 4"/>
          <p:cNvSpPr/>
          <p:nvPr/>
        </p:nvSpPr>
        <p:spPr>
          <a:xfrm>
            <a:off x="457200" y="685800"/>
            <a:ext cx="2103120" cy="301752"/>
          </a:xfrm>
          <a:prstGeom prst="rect">
            <a:avLst/>
          </a:prstGeom>
          <a:noFill/>
          <a:ln/>
        </p:spPr>
        <p:txBody>
          <a:bodyPr wrap="square" rtlCol="0" anchor="ctr"/>
          <a:lstStyle/>
          <a:p>
            <a:pPr marL="0" indent="0" algn="ctr">
              <a:buNone/>
            </a:pPr>
            <a:r>
              <a:rPr lang="en-US" sz="1000" b="1" kern="0" spc="300" dirty="0">
                <a:solidFill>
                  <a:srgbClr val="FFFFFF"/>
                </a:solidFill>
              </a:rPr>
              <a:t>CONCLUSION</a:t>
            </a:r>
            <a:endParaRPr lang="en-US" sz="1000" dirty="0"/>
          </a:p>
        </p:txBody>
      </p:sp>
      <p:sp>
        <p:nvSpPr>
          <p:cNvPr id="7" name="Text 5"/>
          <p:cNvSpPr/>
          <p:nvPr/>
        </p:nvSpPr>
        <p:spPr>
          <a:xfrm>
            <a:off x="457200" y="1078992"/>
            <a:ext cx="6583680" cy="1463040"/>
          </a:xfrm>
          <a:prstGeom prst="rect">
            <a:avLst/>
          </a:prstGeom>
          <a:noFill/>
          <a:ln/>
        </p:spPr>
        <p:txBody>
          <a:bodyPr wrap="square" rtlCol="0" anchor="ctr"/>
          <a:lstStyle/>
          <a:p>
            <a:pPr marL="0" indent="0">
              <a:buNone/>
            </a:pPr>
            <a:r>
              <a:rPr lang="en-US" sz="3600" b="1" dirty="0">
                <a:solidFill>
                  <a:srgbClr val="FFFFFF"/>
                </a:solidFill>
              </a:rPr>
              <a:t>Transforming Data</a:t>
            </a:r>
            <a:endParaRPr lang="en-US" sz="3600" dirty="0"/>
          </a:p>
          <a:p>
            <a:pPr marL="0" indent="0">
              <a:buNone/>
            </a:pPr>
            <a:r>
              <a:rPr lang="en-US" sz="3600" b="1" dirty="0">
                <a:solidFill>
                  <a:srgbClr val="FFFFFF"/>
                </a:solidFill>
              </a:rPr>
              <a:t>into Business Value</a:t>
            </a:r>
            <a:endParaRPr lang="en-US" sz="3600" dirty="0"/>
          </a:p>
        </p:txBody>
      </p:sp>
      <p:sp>
        <p:nvSpPr>
          <p:cNvPr id="8" name="Text 6"/>
          <p:cNvSpPr/>
          <p:nvPr/>
        </p:nvSpPr>
        <p:spPr>
          <a:xfrm>
            <a:off x="457200" y="2633472"/>
            <a:ext cx="6858000" cy="1920240"/>
          </a:xfrm>
          <a:prstGeom prst="rect">
            <a:avLst/>
          </a:prstGeom>
          <a:noFill/>
          <a:ln/>
        </p:spPr>
        <p:txBody>
          <a:bodyPr wrap="square" rtlCol="0" anchor="ctr"/>
          <a:lstStyle/>
          <a:p>
            <a:pPr marL="0" indent="0">
              <a:buNone/>
            </a:pPr>
            <a:r>
              <a:rPr lang="en-US" sz="1200" dirty="0">
                <a:solidFill>
                  <a:srgbClr val="A0AEC0"/>
                </a:solidFill>
              </a:rPr>
              <a:t>✅  Retained all ~10,000 transaction rows — duplicate IDs analysed, not discarded</a:t>
            </a:r>
            <a:endParaRPr lang="en-US" sz="1200" dirty="0"/>
          </a:p>
          <a:p>
            <a:pPr marL="0" indent="0">
              <a:buNone/>
            </a:pPr>
            <a:r>
              <a:rPr lang="en-US" sz="1200" dirty="0">
                <a:solidFill>
                  <a:srgbClr val="A0AEC0"/>
                </a:solidFill>
              </a:rPr>
              <a:t>✅  Identified key sales drivers: seasonality, product category, and discount strategy</a:t>
            </a:r>
            <a:endParaRPr lang="en-US" sz="1200" dirty="0"/>
          </a:p>
          <a:p>
            <a:pPr marL="0" indent="0">
              <a:buNone/>
            </a:pPr>
            <a:r>
              <a:rPr lang="en-US" sz="1200" dirty="0">
                <a:solidFill>
                  <a:srgbClr val="A0AEC0"/>
                </a:solidFill>
              </a:rPr>
              <a:t>✅  Built RFM profiles; segmented customers into 4 actionable groups with K-Means</a:t>
            </a:r>
            <a:endParaRPr lang="en-US" sz="1200" dirty="0"/>
          </a:p>
          <a:p>
            <a:pPr marL="0" indent="0">
              <a:buNone/>
            </a:pPr>
            <a:r>
              <a:rPr lang="en-US" sz="1200" dirty="0">
                <a:solidFill>
                  <a:srgbClr val="A0AEC0"/>
                </a:solidFill>
              </a:rPr>
              <a:t>✅  Delivered 4 production-ready ML models (best: R²=0.94, AUC=0.89)</a:t>
            </a:r>
            <a:endParaRPr lang="en-US" sz="1200" dirty="0"/>
          </a:p>
          <a:p>
            <a:pPr marL="0" indent="0">
              <a:buNone/>
            </a:pPr>
            <a:r>
              <a:rPr lang="en-US" sz="1200" dirty="0">
                <a:solidFill>
                  <a:srgbClr val="A0AEC0"/>
                </a:solidFill>
              </a:rPr>
              <a:t>✅  Generated 6 quantifiable, data-driven business recommendations</a:t>
            </a:r>
            <a:endParaRPr lang="en-US" sz="1200" dirty="0"/>
          </a:p>
        </p:txBody>
      </p:sp>
      <p:sp>
        <p:nvSpPr>
          <p:cNvPr id="9" name="Text 7"/>
          <p:cNvSpPr/>
          <p:nvPr/>
        </p:nvSpPr>
        <p:spPr>
          <a:xfrm>
            <a:off x="457200" y="4663440"/>
            <a:ext cx="8229600" cy="320040"/>
          </a:xfrm>
          <a:prstGeom prst="rect">
            <a:avLst/>
          </a:prstGeom>
          <a:noFill/>
          <a:ln/>
        </p:spPr>
        <p:txBody>
          <a:bodyPr wrap="square" rtlCol="0" anchor="ctr"/>
          <a:lstStyle/>
          <a:p>
            <a:pPr marL="0" indent="0">
              <a:buNone/>
            </a:pPr>
            <a:r>
              <a:rPr lang="en-US" sz="1000" i="1" dirty="0">
                <a:solidFill>
                  <a:srgbClr val="A0AEC0"/>
                </a:solidFill>
              </a:rPr>
              <a:t>E-commerce analytics enables smarter decisions — from demand planning to customer retention — driving sustainable revenue growth.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2488</Words>
  <Application>Microsoft Office PowerPoint</Application>
  <PresentationFormat>On-screen Show (16:9)</PresentationFormat>
  <Paragraphs>361</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Data Analysis – Capstone Project</dc:title>
  <dc:subject>PptxGenJS Presentation</dc:subject>
  <dc:creator>Capstone Team</dc:creator>
  <cp:lastModifiedBy>AlchymedSolutions Leren</cp:lastModifiedBy>
  <cp:revision>1</cp:revision>
  <dcterms:created xsi:type="dcterms:W3CDTF">2026-05-26T11:39:32Z</dcterms:created>
  <dcterms:modified xsi:type="dcterms:W3CDTF">2026-05-27T06:01:20Z</dcterms:modified>
</cp:coreProperties>
</file>